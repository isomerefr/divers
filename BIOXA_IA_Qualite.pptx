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5" r:id="rId36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6" r:id="rId37"/>
    <p:sldId id="273" r:id="rId19"/>
    <p:sldId id="287" r:id="rId38"/>
    <p:sldId id="274" r:id="rId20"/>
    <p:sldId id="288" r:id="rId39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FNC / mois</c:v>
                </c:pt>
              </c:strCache>
            </c:strRef>
          </c:tx>
          <c:spPr>
            <a:solidFill>
              <a:srgbClr val="14304A"/>
            </a:solidFill>
            <a:ln w="38100" cap="flat">
              <a:solidFill>
                <a:srgbClr val="143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304A"/>
              </a:solidFill>
              <a:ln w="9525" cap="flat">
                <a:solidFill>
                  <a:srgbClr val="143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  <c:pt idx="9">
                    <c:v>O</c:v>
                  </c:pt>
                  <c:pt idx="10">
                    <c:v>N</c:v>
                  </c:pt>
                  <c:pt idx="11">
                    <c:v>D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</c:v>
                </c:pt>
                <c:pt idx="1">
                  <c:v>41</c:v>
                </c:pt>
                <c:pt idx="2">
                  <c:v>36</c:v>
                </c:pt>
                <c:pt idx="3">
                  <c:v>44</c:v>
                </c:pt>
                <c:pt idx="4">
                  <c:v>33</c:v>
                </c:pt>
                <c:pt idx="5">
                  <c:v>29</c:v>
                </c:pt>
                <c:pt idx="6">
                  <c:v>31</c:v>
                </c:pt>
                <c:pt idx="7">
                  <c:v>24</c:v>
                </c:pt>
                <c:pt idx="8">
                  <c:v>22</c:v>
                </c:pt>
                <c:pt idx="9">
                  <c:v>19</c:v>
                </c:pt>
                <c:pt idx="10">
                  <c:v>21</c:v>
                </c:pt>
                <c:pt idx="11">
                  <c:v>16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889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0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889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Avis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304A"/>
              </a:solidFill>
              <a:effectLst/>
            </c:spPr>
          </c:dPt>
          <c:dPt>
            <c:idx val="1"/>
            <c:bubble3D val="0"/>
            <c:spPr>
              <a:solidFill>
                <a:srgbClr val="D7A24A"/>
              </a:solidFill>
              <a:effectLst/>
            </c:spPr>
          </c:dPt>
          <c:dPt>
            <c:idx val="2"/>
            <c:bubble3D val="0"/>
            <c:spPr>
              <a:solidFill>
                <a:srgbClr val="C0623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7F2EA"/>
                      </a:solidFill>
                      <a:latin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7F2EA"/>
                      </a:solidFill>
                      <a:latin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7F2EA"/>
                      </a:solidFill>
                      <a:latin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Positifs</c:v>
                </c:pt>
                <c:pt idx="1">
                  <c:v>Neutres</c:v>
                </c:pt>
                <c:pt idx="2">
                  <c:v>Négatifs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68</c:v>
                </c:pt>
                <c:pt idx="1">
                  <c:v>18</c:v>
                </c:pt>
                <c:pt idx="2">
                  <c:v>14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7323C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totale visée : 2h30 à 3h. Slide d'ouverture (1 min). Posez le cadre : aujourd'hui on démystifie, on rassure, et surtout on repart avec des usages concrets. Annoncez d'emblée le fil rouge : l'IA est un OUTIL, pas un remplaçant.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 min. Insistez sur le bandeau bleu : c'est LE message anti-peur. Beaucoup craignent d'être remplacés ou de mal faire. Cadrez : on vise les tâches à faible valeur ajoutée. Demandez un tour de table rapide des appréhensions.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 min. Annoncez le minutage et la pause (dans le temps 3). Précisez que les temps 3 et 4 sont le cœur : du concret et le cadre qui sécurise. Rythme : théorie courte, pratique longue.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Transition. On entre dans la théorie, courte et imagée. Objectif : que tout le monde parte avec les mêmes mots.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 min. Évitez le jargon. Filez l'analogie du collègue très lettré mais qui invente parfois avec aplomb. Point clé pour la suite : « prédit du plausible » → d'où la vérification humaine. Insistez : sans contexte fourni, il ne sait rien de BIOXA.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 min. C'est LA slide pour le public réticent. Nommez chaque peur et désamorcez-la. « Hallucination » : donnez un exemple parlant (une fausse référence bibliographique). Conclusion : la vigilance humaine n'est pas optionnelle, elle est la règle.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 min. Positionnez Anthropic comme acteur orienté sécurité, argument fort pour un labo régulé. Montrez vite l'interface en live si possible (dépôt d'un fichier). La notion de « projet » sera reprise plus loin.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 min. Faites écrire un prompt à voix haute avec la salle : on part de « résume ce document » puis on l'enrichit (rôle + contexte + format) et on montre la différence. Les 4 blocs = recette mémorisable.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 min. Message anti-frustration : la première réponse n'est qu'un brouillon. Montrez 2-3 reformulations en direct. L'humain reste aux commandes à l'étape 4, fait le lien avec la responsabilité qualité.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 min. Reliez aux Projets que VOUS avez déjà constitués (DA, formatage, FNC…). C'est ici que vous montrez votre longueur d'avance : « j'ai déjà des projets prêts pour le groupe ». Pose le statut de référent.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Transition. On quitte la théorie pour la posture. Métaphore centrale à venir : la pelle mécanique.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 min. C'est la slide qui « parle » aux sceptiques. Martelez : la pelle n'a pas tué le métier, elle l'a augmenté. Celui qui maîtrise l'outil prend de l'avance ; celui qui le refuse creuse encore à la main. Sous-entendu motivant.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 min. Tournant de la présentation : on passe d'« utiliser une IA » à « fabriquer ses outils ». Citez vos chantiers réels (EEQ, FNC, avis patients) : preuve tangible que c'est déjà en marche, par vous.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6 min. SLIDE À ADAPTER : remplacez le texte générique par le vrai cas Catalys (contexte précis, capture d'écran de l'outil, chiffre de temps gagné). C'est votre preuve par l'exemple, gardez-la concrète et chiffrée. Si possible, démo live de Catalys.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Cœur de l'atelier (~70 min). Annoncez la pause (~10 min) au milieu. Le but : que chacun reparte avec au moins un usage applicable lundi matin.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12 min (interactif). Faites un brainstorm au tableau. Notez TOUT. Ce sont les irritants réels, vous y reviendrez pour montrer comment l'IA les traite. Implication = adhésion. Reliez chaque irritant aux 4 cas d'usage qui suivent.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10 min. Anti-hallucination : Claude lit VOS données, il n'invente pas les chiffres. Rappelez que la synthèse reste à valider. Idéalement, faites-le en live avec un vrai export anonymisé. Le graphique ici est illustratif.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10 min. Cas vécu : vous l'avez déjà fait sur les 13 sites (Excel, PPT, PDF + plan d'action). Montrez un livrable réel. C'est un argument massue pour la direction : satisfaction patient pilotée par la donnée. Chiffres ici illustratifs.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8 min. Notion clé du référent : la bibliothèque de prompts. Expliquez que vous capitalisez les bons prompts pour le groupe. C'est ce qui transforme un usage individuel en standard d'équipe, et vous en êtes le gardien.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8 min. Montrez une infographie réelle à la DA BIOXA. Rappelez la règle de registre (pas de smiley). Insistez : l'IA accélère, mais le ton et la validation restent humains et maison.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14 min (le gros morceau). Démo réelle, en direct, sur un cas de la salle. Acceptez l'imperfection : montrer l'itération est plus convaincant qu'un résultat parfait préparé. Terminez en sauvegardant le prompt → preuve de la bibliothèque.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vers le cadre. Public réticent rassuré ici : on montre que l'usage est encadré, pas sauvage.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6 min. Parlez le langage de l'accréditation : validation, traçabilité, maîtrise documentaire, maîtrise des risques. Message : l'IA est un outil comme un autre, donc soumis aux mêmes règles. Rien d'exotique pour le COFRAC.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7 min. Sujet sensible = crédibilité du référent. Soyez net : pas de donnée identifiante, anonymisation systématique, et pour aller plus loin il faut un cadre pro avec DPA (pas un compte perso). Honnêteté sur l'état actuel = confiance.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6 min. Distribuez-les en format papier/affiche. La règle 6 (« demander au référent IA ») institutionnalise votre rôle. C'est votre charte : proposez de la formaliser dans Kalilab après la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6 min. Slide de réassurance finale pour les sceptiques. Le métier, la responsabilité, l'humain : intouchables. Concluez sur la phrase du bas, elle résume tout le propos de la journée.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 min. Récap en 4 idées. Demandez à la salle de reformuler chaque point, vérifie l'ancrage. Enchaînez sur « et maintenant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6 min. Le closing stratégique. Vous incarnez le point de contact unique, le référent. Proposez un canal concret (mail/Teams/créneau). Annoncez la mise à disposition de la bibliothèque de prompts. C'est ici que vous prenez officiellement le rôle.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Clôture + Q&amp;R (le temps restant). Gardez l'énergie : invitez les retours, notez les besoins. Terminez par l'invitation à venir vous voir, vous êtes désormais le référent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7-1.png"/><Relationship Id="rId3" Type="http://schemas.openxmlformats.org/officeDocument/2006/relationships/image" Target="../media/image-17-2.png"/><Relationship Id="rId4" Type="http://schemas.openxmlformats.org/officeDocument/2006/relationships/image" Target="../media/image-1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8-1.png"/><Relationship Id="rId3" Type="http://schemas.openxmlformats.org/officeDocument/2006/relationships/image" Target="../media/image-18-2.png"/><Relationship Id="rId4" Type="http://schemas.openxmlformats.org/officeDocument/2006/relationships/image" Target="../media/image-1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24465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24465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1554480" cy="1920240"/>
          </a:xfrm>
          <a:prstGeom prst="roundRect">
            <a:avLst>
              <a:gd name="adj" fmla="val 7059"/>
            </a:avLst>
          </a:prstGeom>
          <a:solidFill>
            <a:srgbClr val="F7F2EA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pic>
        <p:nvPicPr>
          <p:cNvPr id="5" name="Image 0" descr="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859536"/>
            <a:ext cx="987552" cy="1481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063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7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ATELIER · FORMATION INTERNE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34290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L'IA au service de la qualité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640080" y="4800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Démystifier</a:t>
            </a:r>
            <a:pPr indent="0" marL="0">
              <a:buNone/>
            </a:pPr>
            <a:r>
              <a:rPr lang="en-US" sz="2200" b="1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Maîtriser</a:t>
            </a:r>
            <a:pPr indent="0" marL="0">
              <a:buNone/>
            </a:pPr>
            <a:r>
              <a:rPr lang="en-US" sz="2200" b="1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Appliquer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5349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6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Comprendre l'intelligence artificielle, l'utiliser sans risque, et en faire un outil concret au laboratoire.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Animé par le Service Qualité · BIOXA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POURQUOI CETTE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 que vous repartirez avec aujourd'hui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48785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777240" cy="77724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34315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063240"/>
            <a:ext cx="1975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Comprendre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6112" y="3456432"/>
            <a:ext cx="19757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Savoir ce qu'est (et n'est pas) une IA, sans jargon.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47974" y="1874520"/>
            <a:ext cx="248785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22294" y="2148840"/>
            <a:ext cx="777240" cy="77724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04" y="23431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4006" y="3063240"/>
            <a:ext cx="1975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Savoir l'utiliser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04006" y="3456432"/>
            <a:ext cx="19757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Écrire une demande efficace et dialoguer avec l'outil.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55868" y="1874520"/>
            <a:ext cx="248785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30188" y="2148840"/>
            <a:ext cx="777240" cy="77724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498" y="234315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1900" y="3063240"/>
            <a:ext cx="1975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Créer des outils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11900" y="3456432"/>
            <a:ext cx="19757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Automatiser les tâches répétitives sans valeur ajoutée.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63761" y="1874520"/>
            <a:ext cx="248785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38081" y="2148840"/>
            <a:ext cx="777240" cy="77724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391" y="234315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9793" y="3063240"/>
            <a:ext cx="1975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Rester maître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319793" y="3456432"/>
            <a:ext cx="19757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Garder le contrôle : qualité, confidentialité, validation.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4526280"/>
            <a:ext cx="10911535" cy="1325880"/>
          </a:xfrm>
          <a:prstGeom prst="roundRect">
            <a:avLst>
              <a:gd name="adj" fmla="val 6207"/>
            </a:avLst>
          </a:prstGeom>
          <a:solidFill>
            <a:srgbClr val="14304A"/>
          </a:solidFill>
          <a:ln/>
        </p:spPr>
      </p:sp>
      <p:sp>
        <p:nvSpPr>
          <p:cNvPr id="25" name="Shape 19"/>
          <p:cNvSpPr/>
          <p:nvPr/>
        </p:nvSpPr>
        <p:spPr>
          <a:xfrm>
            <a:off x="1005840" y="4846320"/>
            <a:ext cx="713232" cy="713232"/>
          </a:xfrm>
          <a:prstGeom prst="ellipse">
            <a:avLst/>
          </a:prstGeom>
          <a:solidFill>
            <a:srgbClr val="D7A24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4148" y="5024628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965960" y="47365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cap de la journée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965960" y="5138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7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L'IA ne remplace personne ici. Elle enlève la corvée pour vous rendre du temps de cerveau, celui que la qualité réclame vraiment.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DÉROULÉ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Notre parcours en 4 temps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48256"/>
            <a:ext cx="566928" cy="566928"/>
          </a:xfrm>
          <a:prstGeom prst="ellipse">
            <a:avLst/>
          </a:prstGeom>
          <a:solidFill>
            <a:srgbClr val="14304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48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37360" y="202082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Comprendre l'IA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38658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LLM, Claude, prompt, itération, projets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997135" y="18745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~30 min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53512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3127248"/>
            <a:ext cx="566928" cy="566928"/>
          </a:xfrm>
          <a:prstGeom prst="ellipse">
            <a:avLst/>
          </a:prstGeom>
          <a:solidFill>
            <a:srgbClr val="C0623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127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37360" y="30998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bon état d'esprit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346557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L'IA comme outil qui démultiplie le travail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997135" y="2953512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~20 min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032504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4206240"/>
            <a:ext cx="566928" cy="566928"/>
          </a:xfrm>
          <a:prstGeom prst="ellipse">
            <a:avLst/>
          </a:prstGeom>
          <a:solidFill>
            <a:srgbClr val="D7A24A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37360" y="4178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Vos cas d'usage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37360" y="454456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Atelier + démonstrations concrètes (pause incluse)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997135" y="4032504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7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~70 min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5111496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6112" y="5285232"/>
            <a:ext cx="566928" cy="566928"/>
          </a:xfrm>
          <a:prstGeom prst="ellipse">
            <a:avLst/>
          </a:prstGeom>
          <a:solidFill>
            <a:srgbClr val="14304A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5285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73736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IA &amp; qualité : le cadre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37360" y="5623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15189, RGPD/AI Act, règles d'or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997135" y="5111496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~25 min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4465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645920"/>
            <a:ext cx="4114800" cy="4114800"/>
          </a:xfrm>
          <a:prstGeom prst="ellipse">
            <a:avLst/>
          </a:prstGeom>
          <a:solidFill>
            <a:srgbClr val="24465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31720"/>
            <a:ext cx="1371600" cy="1371600"/>
          </a:xfrm>
          <a:prstGeom prst="ellipse">
            <a:avLst/>
          </a:prstGeom>
          <a:solidFill>
            <a:srgbClr val="D7A2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6746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PARTIE 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251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Comprendre l'IA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52120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vocabulaire essentiel, expliqué simplement.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· COMPRENDRE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Qu'est-ce qu'un LLM 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pPr indent="0" marL="0">
              <a:buNone/>
            </a:pPr>
            <a:r>
              <a:rPr lang="en-US" sz="16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</a:t>
            </a:r>
            <a:pPr indent="0" marL="0">
              <a:buNone/>
            </a:pPr>
            <a:r>
              <a:rPr lang="en-US" sz="1600" b="1" i="1" dirty="0">
                <a:solidFill>
                  <a:srgbClr val="C062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Language Model</a:t>
            </a:r>
            <a:pPr indent="0" marL="0">
              <a:buNone/>
            </a:pPr>
            <a:r>
              <a:rPr lang="en-US" sz="16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un « grand modèle de langage ».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48640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06040"/>
            <a:ext cx="777240" cy="77724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80035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697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L'analogie simple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33832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Imaginez un collègue qui aurait lu une immense bibliothèque. Il ne « connaît » pas la vérité : il a appris à prédire le mot le plus probable, phrase après phrase. C'est cela un LLM : une machine à prolonger du texte, entraînée sur d'énormes volumes d'écrits.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2286000"/>
            <a:ext cx="5150815" cy="3566160"/>
          </a:xfrm>
          <a:prstGeom prst="roundRect">
            <a:avLst>
              <a:gd name="adj" fmla="val 2308"/>
            </a:avLst>
          </a:prstGeom>
          <a:solidFill>
            <a:srgbClr val="14304A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2084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 que ça implique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720840" y="3108960"/>
            <a:ext cx="4526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7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excelle à reformuler, résumer, structurer, traduire.</a:t>
            </a:r>
            <a:endParaRPr lang="en-US" sz="130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7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« comprend » le contexte que VOUS lui donnez.</a:t>
            </a:r>
            <a:endParaRPr lang="en-US" sz="130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7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prédit du plausible : à vérifier, toujours.</a:t>
            </a:r>
            <a:endParaRPr lang="en-US" sz="1300" dirty="0"/>
          </a:p>
          <a:p>
            <a:pPr marL="203200" indent="-2032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7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n'accède à vos données que si vous les fournissez.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· COMPRENDRE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 qu'un LLM n'est PAS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 les malentendus, c'est lever les peurs.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957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41448"/>
            <a:ext cx="640080" cy="640080"/>
          </a:xfrm>
          <a:prstGeom prst="ellipse">
            <a:avLst/>
          </a:prstGeom>
          <a:solidFill>
            <a:srgbClr val="C0623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60146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404872"/>
            <a:ext cx="3969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Pas une source de vérité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37360" y="2834640"/>
            <a:ext cx="39698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peut « halluciner » : inventer une référence ou un chiffre avec assurance. On vérifie.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5868" y="2148840"/>
            <a:ext cx="52957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0188" y="2441448"/>
            <a:ext cx="640080" cy="640080"/>
          </a:xfrm>
          <a:prstGeom prst="ellipse">
            <a:avLst/>
          </a:prstGeom>
          <a:solidFill>
            <a:srgbClr val="C0623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260146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53148" y="2404872"/>
            <a:ext cx="3969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Pas un esprit conscient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353148" y="2834640"/>
            <a:ext cx="39698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Aucune intention, aucune opinion. Il calcule des probabilités de mots.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114800"/>
            <a:ext cx="52957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4407408"/>
            <a:ext cx="640080" cy="640080"/>
          </a:xfrm>
          <a:prstGeom prst="ellipse">
            <a:avLst/>
          </a:prstGeom>
          <a:solidFill>
            <a:srgbClr val="C0623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56742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4370832"/>
            <a:ext cx="3969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Pas une boîte qui « espionne »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37360" y="4800600"/>
            <a:ext cx="39698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ne voit que ce que vous écrivez dans la conversation. Rien de plus.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55868" y="4114800"/>
            <a:ext cx="52957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30188" y="4407408"/>
            <a:ext cx="640080" cy="640080"/>
          </a:xfrm>
          <a:prstGeom prst="ellipse">
            <a:avLst/>
          </a:prstGeom>
          <a:solidFill>
            <a:srgbClr val="C0623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208" y="4567428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53148" y="4370832"/>
            <a:ext cx="3969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Pas un remplaçant du métier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353148" y="4800600"/>
            <a:ext cx="39698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n'engage pas votre responsabilité : c'est vous qui validez et signez.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· COMPRENDRE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Qu'est-ce que Claude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14304A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rgbClr val="D7A2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Claude, en bref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1546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7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L'assistant IA conçu par Anthropic, une entreprise dont la mission affichée est la sécurité de l'IA. Claude lit, écrit, analyse des documents, des tableaux, des images, et dialogue en français.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5074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7A2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l'outil que nous utilisons dans cette démarche.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150815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0" y="2084832"/>
            <a:ext cx="640080" cy="64008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0" y="224485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1984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Pensé pour la prudence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498080" y="23500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Entraîné à refuser le risqué et à signaler ses limites.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0" y="3200400"/>
            <a:ext cx="5150815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75120" y="3502152"/>
            <a:ext cx="640080" cy="64008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366217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98080" y="3401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Lit vos documents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498080" y="37673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Word, Excel, PDF, images : il analyse ce que vous déposez.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0" y="4617720"/>
            <a:ext cx="5150815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75120" y="4919472"/>
            <a:ext cx="640080" cy="64008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40" y="5079492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0" y="4818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Travaille par projet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498080" y="51846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espace par sujet, avec un contexte qui reste en mémoire.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· COMPRENDRE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prompt : l'art de bien demander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prompt, c'est votre consigne. La qualité de la réponse dépend de la qualité de la demande.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2214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5392" y="2395728"/>
            <a:ext cx="731520" cy="73152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272" y="25786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46120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Rôle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" y="3611880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Tu es responsable qualité en biologie médicale. »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36544" y="2148840"/>
            <a:ext cx="252214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31856" y="2395728"/>
            <a:ext cx="731520" cy="731520"/>
          </a:xfrm>
          <a:prstGeom prst="ellipse">
            <a:avLst/>
          </a:prstGeom>
          <a:solidFill>
            <a:srgbClr val="C0623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736" y="257860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36544" y="3246120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Contexte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637712" y="3611880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Voici notre procédure et la norme ISO 15189. »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33008" y="2148840"/>
            <a:ext cx="252214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28319" y="2395728"/>
            <a:ext cx="731520" cy="73152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200" y="257860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33008" y="3246120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Tâche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34176" y="3611880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Liste les écarts et propose une correction. »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29471" y="2148840"/>
            <a:ext cx="252214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24783" y="2395728"/>
            <a:ext cx="731520" cy="731520"/>
          </a:xfrm>
          <a:prstGeom prst="ellipse">
            <a:avLst/>
          </a:prstGeom>
          <a:solidFill>
            <a:srgbClr val="C0623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7663" y="257860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29471" y="3246120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Format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230639" y="3611880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Réponds en tableau, en français, prêt à coller. »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40080" y="4709160"/>
            <a:ext cx="10911535" cy="1051560"/>
          </a:xfrm>
          <a:prstGeom prst="roundRect">
            <a:avLst>
              <a:gd name="adj" fmla="val 7826"/>
            </a:avLst>
          </a:prstGeom>
          <a:solidFill>
            <a:srgbClr val="14304A"/>
          </a:solidFill>
          <a:ln/>
        </p:spPr>
      </p:sp>
      <p:sp>
        <p:nvSpPr>
          <p:cNvPr id="26" name="Text 20"/>
          <p:cNvSpPr/>
          <p:nvPr/>
        </p:nvSpPr>
        <p:spPr>
          <a:xfrm>
            <a:off x="1097280" y="4709160"/>
            <a:ext cx="99971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D7A2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 d'or : 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7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votre demande est précise et contextualisée, plus la réponse est utile. Une demande vague donne une réponse vague.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· COMPRENDRE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L'itération : dialoguer, pas commander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obtient rarement le bon résultat du premier coup, et c'est normal. On affine par échanges successifs.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41927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3957" y="2377440"/>
            <a:ext cx="731520" cy="73152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6837" y="2560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419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 Demander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584448"/>
            <a:ext cx="20535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première consigne, même imparfaite.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14218" y="2148840"/>
            <a:ext cx="3017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7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470834" y="2148840"/>
            <a:ext cx="241927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14711" y="2377440"/>
            <a:ext cx="731520" cy="73152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591" y="25603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0834" y="3200400"/>
            <a:ext cx="2419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 Lire &amp; juger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653714" y="3584448"/>
            <a:ext cx="20535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Qu'est-ce qui va ? Qu'est-ce qui manque ?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944972" y="2148840"/>
            <a:ext cx="3017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7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3"/>
          <p:cNvSpPr/>
          <p:nvPr/>
        </p:nvSpPr>
        <p:spPr>
          <a:xfrm>
            <a:off x="6301588" y="2148840"/>
            <a:ext cx="241927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45465" y="2377440"/>
            <a:ext cx="731520" cy="73152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345" y="25603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1588" y="3200400"/>
            <a:ext cx="2419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 Reformuler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484468" y="3584448"/>
            <a:ext cx="20535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Plus court », « ajoute la traçabilité »…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775725" y="2148840"/>
            <a:ext cx="3017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7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›</a:t>
            </a:r>
            <a:endParaRPr lang="en-US" sz="3000" dirty="0"/>
          </a:p>
        </p:txBody>
      </p:sp>
      <p:sp>
        <p:nvSpPr>
          <p:cNvPr id="23" name="Shape 18"/>
          <p:cNvSpPr/>
          <p:nvPr/>
        </p:nvSpPr>
        <p:spPr>
          <a:xfrm>
            <a:off x="9132341" y="2148840"/>
            <a:ext cx="241927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976218" y="2377440"/>
            <a:ext cx="731520" cy="73152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9098" y="25603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32341" y="3200400"/>
            <a:ext cx="2419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 Valider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9315221" y="3584448"/>
            <a:ext cx="20535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résultat vous appartient : vous tranchez.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40080" y="4572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62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boucle se répète autant que nécessaire : c'est une conversation, pas un distributeur.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· COMPRENDRE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Les Projets Claude : un atelier par sujet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06908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777240" cy="77724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29743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212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principe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Projet regroupe vos documents de référence et vos consignes. Claude « se souvient » du contexte dans cet espace : plus besoin de tout réexpliquer à chaque fois.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5120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062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Idéal pour des tâches qui reviennent.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1783080"/>
            <a:ext cx="5425135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2084832"/>
            <a:ext cx="640080" cy="64008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224485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9842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Vos documents de référence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23760" y="23500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Procédures, normes, modèles : déposés une fois.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3200400"/>
            <a:ext cx="5425135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0" y="3502152"/>
            <a:ext cx="640080" cy="640080"/>
          </a:xfrm>
          <a:prstGeom prst="ellipse">
            <a:avLst/>
          </a:prstGeom>
          <a:solidFill>
            <a:srgbClr val="C0623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366217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23760" y="3401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Vos consignes durables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223760" y="37673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ton, le format, les règles BIOXA, mémorisés.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26480" y="4617720"/>
            <a:ext cx="5425135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0" y="4919472"/>
            <a:ext cx="640080" cy="64008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5079492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23760" y="48188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travail reproductible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223760" y="51846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Même qualité, à chaque relance, par chacun.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4465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645920"/>
            <a:ext cx="4114800" cy="4114800"/>
          </a:xfrm>
          <a:prstGeom prst="ellipse">
            <a:avLst/>
          </a:prstGeom>
          <a:solidFill>
            <a:srgbClr val="24465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31720"/>
            <a:ext cx="1371600" cy="1371600"/>
          </a:xfrm>
          <a:prstGeom prst="ellipse">
            <a:avLst/>
          </a:prstGeom>
          <a:solidFill>
            <a:srgbClr val="D7A2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6746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PARTIE 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251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bon état d'esprit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52120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L'IA n'est pas magique : c'est un levier. À nous de tenir le manche.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· ÉTAT D'ESPRIT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L'IA, la pelle mécanique des temps modernes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4023360"/>
          </a:xfrm>
          <a:prstGeom prst="roundRect">
            <a:avLst>
              <a:gd name="adj" fmla="val 2045"/>
            </a:avLst>
          </a:prstGeom>
          <a:solidFill>
            <a:srgbClr val="14304A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868680" cy="868680"/>
          </a:xfrm>
          <a:prstGeom prst="ellipse">
            <a:avLst/>
          </a:prstGeom>
          <a:solidFill>
            <a:srgbClr val="D7A2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236601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métaphore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1089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pelle mécanique n'a pas supprimé le terrassier : elle lui a évité de creuser à la main et lui a permis de bâtir bien plus grand.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49834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D7A2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L'IA fait pareil avec le travail intellectuel répétitif.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1828800"/>
            <a:ext cx="5516575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2112264"/>
            <a:ext cx="640080" cy="640080"/>
          </a:xfrm>
          <a:prstGeom prst="ellipse">
            <a:avLst/>
          </a:prstGeom>
          <a:solidFill>
            <a:srgbClr val="C0623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80" y="2272284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Elle ne décide pas à votre place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132320" y="2377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terrassier choisit où creuser. Vous gardez le jugement métier.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3218688"/>
            <a:ext cx="5516575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3502152"/>
            <a:ext cx="640080" cy="640080"/>
          </a:xfrm>
          <a:prstGeom prst="ellipse">
            <a:avLst/>
          </a:prstGeom>
          <a:solidFill>
            <a:srgbClr val="D7A2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366217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32320" y="3401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Elle démultiplie votre force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132320" y="37673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qui prenait une journée peut prendre une heure.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035040" y="4608576"/>
            <a:ext cx="5516575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309360" y="4892040"/>
            <a:ext cx="640080" cy="64008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50520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47914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Elle exige un opérateur compétent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132320" y="51572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 pilotée, elle creuse au mauvais endroit. La compétence reste clé.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· ÉTAT D'ESPRIT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Créer des outils sur mesure, sans coder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vrai changement : on ne s'adapte plus au logiciel : on fabrique l'outil qui colle à NOTRE besoin.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39333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50592"/>
            <a:ext cx="731520" cy="73152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3347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542032"/>
            <a:ext cx="2113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Spécifique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310128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Pensé pour un problème précis du labo, pas un usage générique.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99178" y="2194560"/>
            <a:ext cx="339333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73498" y="2450592"/>
            <a:ext cx="731520" cy="73152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378" y="263347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42178" y="2542032"/>
            <a:ext cx="2113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Agile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73498" y="3310128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Créé en heures, ajusté en minutes, jeté s'il ne sert plus.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58277" y="2194560"/>
            <a:ext cx="339333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32597" y="2450592"/>
            <a:ext cx="731520" cy="73152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477" y="263347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01277" y="2542032"/>
            <a:ext cx="2113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Partageable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32597" y="3310128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modèle que toute l'équipe réutilise à l'identique.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434340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14304A"/>
          </a:solidFill>
          <a:ln/>
        </p:spPr>
      </p:sp>
      <p:sp>
        <p:nvSpPr>
          <p:cNvPr id="21" name="Shape 16"/>
          <p:cNvSpPr/>
          <p:nvPr/>
        </p:nvSpPr>
        <p:spPr>
          <a:xfrm>
            <a:off x="1005840" y="4663440"/>
            <a:ext cx="731520" cy="731520"/>
          </a:xfrm>
          <a:prstGeom prst="ellipse">
            <a:avLst/>
          </a:prstGeom>
          <a:solidFill>
            <a:srgbClr val="D7A24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8463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65960" y="4572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Concrètement chez BIOXA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965960" y="495604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7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des EEQ, analyse des FNC, modèles de procédures, exploitation des avis patients : autant d'outils qu'on peut tailler à notre main plutôt que subir un tableur fragile.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· ÉTAT D'ESPRIT · CAS CONCRET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Exemple : Catalys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D'un besoin terrain à un outil livré : la démarche en quatre temps.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508428" cy="2606040"/>
          </a:xfrm>
          <a:prstGeom prst="roundRect">
            <a:avLst>
              <a:gd name="adj" fmla="val 32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28534" y="2450592"/>
            <a:ext cx="731520" cy="731520"/>
          </a:xfrm>
          <a:prstGeom prst="ellipse">
            <a:avLst/>
          </a:prstGeom>
          <a:solidFill>
            <a:srgbClr val="14304A"/>
          </a:solidFill>
          <a:ln/>
        </p:spPr>
      </p:sp>
      <p:sp>
        <p:nvSpPr>
          <p:cNvPr id="7" name="Text 5"/>
          <p:cNvSpPr/>
          <p:nvPr/>
        </p:nvSpPr>
        <p:spPr>
          <a:xfrm>
            <a:off x="1528534" y="24505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310128"/>
            <a:ext cx="25084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besoin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21426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tâche chronophage, manuelle et à risque d'erreur identifiée au quotidien.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41116" y="2194560"/>
            <a:ext cx="2508428" cy="2606040"/>
          </a:xfrm>
          <a:prstGeom prst="roundRect">
            <a:avLst>
              <a:gd name="adj" fmla="val 32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9570" y="2450592"/>
            <a:ext cx="731520" cy="731520"/>
          </a:xfrm>
          <a:prstGeom prst="ellipse">
            <a:avLst/>
          </a:prstGeom>
          <a:solidFill>
            <a:srgbClr val="C0623F"/>
          </a:solidFill>
          <a:ln/>
        </p:spPr>
      </p:sp>
      <p:sp>
        <p:nvSpPr>
          <p:cNvPr id="12" name="Text 10"/>
          <p:cNvSpPr/>
          <p:nvPr/>
        </p:nvSpPr>
        <p:spPr>
          <a:xfrm>
            <a:off x="4329570" y="24505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41116" y="3310128"/>
            <a:ext cx="25084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demande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23996" y="3703320"/>
            <a:ext cx="21426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Décrite à Claude : contexte, contraintes, format attendu, règles qualité.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42152" y="2194560"/>
            <a:ext cx="2508428" cy="2606040"/>
          </a:xfrm>
          <a:prstGeom prst="roundRect">
            <a:avLst>
              <a:gd name="adj" fmla="val 32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0605" y="2450592"/>
            <a:ext cx="731520" cy="731520"/>
          </a:xfrm>
          <a:prstGeom prst="ellipse">
            <a:avLst/>
          </a:prstGeom>
          <a:solidFill>
            <a:srgbClr val="14304A"/>
          </a:solidFill>
          <a:ln/>
        </p:spPr>
      </p:sp>
      <p:sp>
        <p:nvSpPr>
          <p:cNvPr id="17" name="Text 15"/>
          <p:cNvSpPr/>
          <p:nvPr/>
        </p:nvSpPr>
        <p:spPr>
          <a:xfrm>
            <a:off x="7130605" y="24505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42152" y="3310128"/>
            <a:ext cx="25084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L'outil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25032" y="3703320"/>
            <a:ext cx="21426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livrable dédié, construit et affiné par itérations successives.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43187" y="2194560"/>
            <a:ext cx="2508428" cy="2606040"/>
          </a:xfrm>
          <a:prstGeom prst="roundRect">
            <a:avLst>
              <a:gd name="adj" fmla="val 32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31641" y="2450592"/>
            <a:ext cx="731520" cy="731520"/>
          </a:xfrm>
          <a:prstGeom prst="ellipse">
            <a:avLst/>
          </a:prstGeom>
          <a:solidFill>
            <a:srgbClr val="C0623F"/>
          </a:solidFill>
          <a:ln/>
        </p:spPr>
      </p:sp>
      <p:sp>
        <p:nvSpPr>
          <p:cNvPr id="22" name="Text 20"/>
          <p:cNvSpPr/>
          <p:nvPr/>
        </p:nvSpPr>
        <p:spPr>
          <a:xfrm>
            <a:off x="9931641" y="24505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043187" y="3310128"/>
            <a:ext cx="25084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résultat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26067" y="3703320"/>
            <a:ext cx="21426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 temps gagné, une traçabilité accrue, un format reproductible.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62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personnaliser en séance avec les chiffres et captures réels de Catalys.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4465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645920"/>
            <a:ext cx="4114800" cy="4114800"/>
          </a:xfrm>
          <a:prstGeom prst="ellipse">
            <a:avLst/>
          </a:prstGeom>
          <a:solidFill>
            <a:srgbClr val="24465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31720"/>
            <a:ext cx="1371600" cy="1371600"/>
          </a:xfrm>
          <a:prstGeom prst="ellipse">
            <a:avLst/>
          </a:prstGeom>
          <a:solidFill>
            <a:srgbClr val="D7A2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6746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PARTIE 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251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Vos cas d'usage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52120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au concret. On part de VOS irritants, et on les traite ensemble. (Pause prévue dans cette partie.)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029200" cy="5029200"/>
          </a:xfrm>
          <a:prstGeom prst="ellipse">
            <a:avLst/>
          </a:prstGeom>
          <a:solidFill>
            <a:srgbClr val="24465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777240"/>
            <a:ext cx="1097280" cy="1097280"/>
          </a:xfrm>
          <a:prstGeom prst="ellipse">
            <a:avLst/>
          </a:prstGeom>
          <a:solidFill>
            <a:srgbClr val="D7A24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515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57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ATELIER PARTICIPATIF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46888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Qu'est-ce qui, aujourd'hui, vous prend le plus de temps… sans aucune valeur ajoutée ?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A2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Ressaisies ?  </a:t>
            </a:r>
            <a:pPr indent="0" marL="0">
              <a:buNone/>
            </a:pPr>
            <a:r>
              <a:rPr lang="en-US" sz="1600" b="1" dirty="0">
                <a:solidFill>
                  <a:srgbClr val="D7A2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Mises en forme ?  </a:t>
            </a:r>
            <a:pPr indent="0" marL="0">
              <a:buNone/>
            </a:pPr>
            <a:r>
              <a:rPr lang="en-US" sz="1600" b="1" dirty="0">
                <a:solidFill>
                  <a:srgbClr val="D7A2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Comptes rendus ?  </a:t>
            </a:r>
            <a:pPr indent="0" marL="0">
              <a:buNone/>
            </a:pPr>
            <a:r>
              <a:rPr lang="en-US" sz="1600" b="1" dirty="0">
                <a:solidFill>
                  <a:srgbClr val="D7A2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Synthèses d'avis ?  </a:t>
            </a:r>
            <a:pPr indent="0" marL="0">
              <a:buNone/>
            </a:pPr>
            <a:r>
              <a:rPr lang="en-US" sz="1600" b="1" dirty="0">
                <a:solidFill>
                  <a:srgbClr val="D7A2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Relances 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C6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note vos réponses au tableau : elles deviennent nos cas de travail pour la suite.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· CAS D'USAGE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Analyser une tendance via Claude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: l'évolution des non-conformités (FNC) sur l'année, exportées de Kalilab.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649224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868680" y="2377440"/>
          <a:ext cx="60350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5486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Données illustratives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406640" y="2148840"/>
            <a:ext cx="4144975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35240" y="2395728"/>
            <a:ext cx="566928" cy="566928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972" y="2537460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66760" y="229514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 dépose l'export brut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366760" y="26517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CSV de Kalilab, tel quel.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406640" y="3383280"/>
            <a:ext cx="4144975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635240" y="3630168"/>
            <a:ext cx="566928" cy="566928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972" y="3771900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352958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 demande la lecture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366760" y="3886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Tendance, pics, causes récurrentes.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406640" y="4617720"/>
            <a:ext cx="4144975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635240" y="4864608"/>
            <a:ext cx="566928" cy="566928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972" y="5006340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66760" y="47640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 obtient une synthèse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366760" y="5120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Prête pour la revue de direction.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· CAS D'USAGE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Analyser les avis Google via Claude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centaines d'avis patients sur 13 sites : lus, classés et synthétisés en minutes.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2064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914400" y="242316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5486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Répartition illustrative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35040" y="2148840"/>
            <a:ext cx="5516575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63640" y="2395728"/>
            <a:ext cx="566928" cy="566928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372" y="2537460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5160" y="2313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 qui ressort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995160" y="26609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Thèmes récurrents : attente, accueil, prélèvement, RDV.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35040" y="3383280"/>
            <a:ext cx="5516575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63640" y="3630168"/>
            <a:ext cx="566928" cy="566928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372" y="3771900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95160" y="3547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 site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995160" y="38953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Comparaison entre laboratoires, points forts et faibles.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35040" y="4617720"/>
            <a:ext cx="5516575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63640" y="4864608"/>
            <a:ext cx="566928" cy="566928"/>
          </a:xfrm>
          <a:prstGeom prst="ellipse">
            <a:avLst/>
          </a:prstGeom>
          <a:solidFill>
            <a:srgbClr val="C0623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372" y="5006340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95160" y="47823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Vers l'action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995160" y="51297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plan d'action ciblé, site par site.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· CAS D'USAGE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Créer des templates réutilisables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écrit la recette une fois, on la rejoue à l'infini : même résultat, par tout le monde.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9574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560320"/>
            <a:ext cx="685800" cy="68580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138" y="273177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359152"/>
            <a:ext cx="3878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Mise en forme de procédures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828800" y="2816352"/>
            <a:ext cx="38784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format BIOXA appliqué automatiquement, du brouillon au .docx conforme.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5868" y="2103120"/>
            <a:ext cx="529574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48476" y="2560320"/>
            <a:ext cx="685800" cy="685800"/>
          </a:xfrm>
          <a:prstGeom prst="ellipse">
            <a:avLst/>
          </a:prstGeom>
          <a:solidFill>
            <a:srgbClr val="C0623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926" y="273177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44588" y="2359152"/>
            <a:ext cx="3878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Analyse de FNC récurrente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444588" y="2816352"/>
            <a:ext cx="38784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même prompt rejoué à chaque export, avec les garde-fous intégrés.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886200"/>
            <a:ext cx="529574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32688" y="4343400"/>
            <a:ext cx="685800" cy="68580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38" y="451485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142232"/>
            <a:ext cx="3878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Synthèse d'avis patients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828800" y="4599432"/>
            <a:ext cx="38784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modèle prêt à recevoir l'export Partoo, mois après mois.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55868" y="3886200"/>
            <a:ext cx="529574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48476" y="4343400"/>
            <a:ext cx="685800" cy="685800"/>
          </a:xfrm>
          <a:prstGeom prst="ellipse">
            <a:avLst/>
          </a:prstGeom>
          <a:solidFill>
            <a:srgbClr val="C0623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926" y="4514850"/>
            <a:ext cx="342900" cy="342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44588" y="4142232"/>
            <a:ext cx="3878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Bibliothèque partagée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444588" y="4599432"/>
            <a:ext cx="38784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modèles rangés et versionnés, accessibles à toute l'équipe.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· CAS D'USAGE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Communiquer en interne via Claude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 note de service à l'infographie : un message clair, au bon ton, sans y passer la soirée.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487854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9103" y="2468880"/>
            <a:ext cx="749808" cy="749808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555" y="2656332"/>
            <a:ext cx="374904" cy="374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337560"/>
            <a:ext cx="2487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Notes &amp; annonces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1220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Reformuler un message dense en quelques lignes lisibles.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47974" y="2194560"/>
            <a:ext cx="2487854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16997" y="2468880"/>
            <a:ext cx="749808" cy="749808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449" y="2656332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47974" y="3337560"/>
            <a:ext cx="2487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Comptes rendus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30854" y="3767328"/>
            <a:ext cx="21220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Transformer des notes de réunion en relevé de décisions.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55868" y="2194560"/>
            <a:ext cx="2487854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24891" y="2468880"/>
            <a:ext cx="749808" cy="749808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343" y="2656332"/>
            <a:ext cx="374904" cy="374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5868" y="3337560"/>
            <a:ext cx="2487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Supports visuels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38748" y="3767328"/>
            <a:ext cx="21220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Infographies à la charte BIOXA, prêtes à diffuser.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63761" y="2194560"/>
            <a:ext cx="2487854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32784" y="2468880"/>
            <a:ext cx="749808" cy="749808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0236" y="2656332"/>
            <a:ext cx="374904" cy="3749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63761" y="3337560"/>
            <a:ext cx="2487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Adapter le ton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46641" y="3767328"/>
            <a:ext cx="21220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même fond, ajusté selon le destinataire.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40080" y="4800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62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Rappel charte : pas de smiley ni d'icône informelle : un registre adapté à nos biologistes.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4754880" cy="4754880"/>
          </a:xfrm>
          <a:prstGeom prst="ellipse">
            <a:avLst/>
          </a:prstGeom>
          <a:solidFill>
            <a:srgbClr val="2446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7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· MISE EN PRATIQUE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 met les mains dedans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C6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Démonstration live à partir d'un irritant proposé par la salle.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487854" cy="2514600"/>
          </a:xfrm>
          <a:prstGeom prst="roundRect">
            <a:avLst>
              <a:gd name="adj" fmla="val 3308"/>
            </a:avLst>
          </a:prstGeom>
          <a:solidFill>
            <a:srgbClr val="1C3D58"/>
          </a:solidFill>
          <a:ln/>
        </p:spPr>
      </p:sp>
      <p:sp>
        <p:nvSpPr>
          <p:cNvPr id="7" name="Shape 5"/>
          <p:cNvSpPr/>
          <p:nvPr/>
        </p:nvSpPr>
        <p:spPr>
          <a:xfrm>
            <a:off x="1509103" y="2788920"/>
            <a:ext cx="749808" cy="749808"/>
          </a:xfrm>
          <a:prstGeom prst="ellipse">
            <a:avLst/>
          </a:prstGeom>
          <a:solidFill>
            <a:srgbClr val="D7A2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555" y="2976372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657600"/>
            <a:ext cx="2487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 On choisit un cas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4069080"/>
            <a:ext cx="21586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irritant noté au tableau, vécu par quelqu'un dans la salle.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47974" y="2514600"/>
            <a:ext cx="2487854" cy="2514600"/>
          </a:xfrm>
          <a:prstGeom prst="roundRect">
            <a:avLst>
              <a:gd name="adj" fmla="val 3308"/>
            </a:avLst>
          </a:prstGeom>
          <a:solidFill>
            <a:srgbClr val="1C3D58"/>
          </a:solidFill>
          <a:ln/>
        </p:spPr>
      </p:sp>
      <p:sp>
        <p:nvSpPr>
          <p:cNvPr id="12" name="Shape 9"/>
          <p:cNvSpPr/>
          <p:nvPr/>
        </p:nvSpPr>
        <p:spPr>
          <a:xfrm>
            <a:off x="4316997" y="2788920"/>
            <a:ext cx="749808" cy="749808"/>
          </a:xfrm>
          <a:prstGeom prst="ellipse">
            <a:avLst/>
          </a:prstGeom>
          <a:solidFill>
            <a:srgbClr val="D7A2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449" y="2976372"/>
            <a:ext cx="374904" cy="374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47974" y="3657600"/>
            <a:ext cx="2487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 On rédige ensemble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612566" y="4069080"/>
            <a:ext cx="21586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Rôle, contexte, tâche, format : à voix haute.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55868" y="2514600"/>
            <a:ext cx="2487854" cy="2514600"/>
          </a:xfrm>
          <a:prstGeom prst="roundRect">
            <a:avLst>
              <a:gd name="adj" fmla="val 3308"/>
            </a:avLst>
          </a:prstGeom>
          <a:solidFill>
            <a:srgbClr val="1C3D58"/>
          </a:solidFill>
          <a:ln/>
        </p:spPr>
      </p:sp>
      <p:sp>
        <p:nvSpPr>
          <p:cNvPr id="17" name="Shape 13"/>
          <p:cNvSpPr/>
          <p:nvPr/>
        </p:nvSpPr>
        <p:spPr>
          <a:xfrm>
            <a:off x="7124891" y="2788920"/>
            <a:ext cx="749808" cy="749808"/>
          </a:xfrm>
          <a:prstGeom prst="ellipse">
            <a:avLst/>
          </a:prstGeom>
          <a:solidFill>
            <a:srgbClr val="D7A2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343" y="2976372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55868" y="3657600"/>
            <a:ext cx="2487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 On itère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20460" y="4069080"/>
            <a:ext cx="21586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lit, on critique, on affine la réponse en direct.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063761" y="2514600"/>
            <a:ext cx="2487854" cy="2514600"/>
          </a:xfrm>
          <a:prstGeom prst="roundRect">
            <a:avLst>
              <a:gd name="adj" fmla="val 3308"/>
            </a:avLst>
          </a:prstGeom>
          <a:solidFill>
            <a:srgbClr val="1C3D58"/>
          </a:solidFill>
          <a:ln/>
        </p:spPr>
      </p:sp>
      <p:sp>
        <p:nvSpPr>
          <p:cNvPr id="22" name="Shape 17"/>
          <p:cNvSpPr/>
          <p:nvPr/>
        </p:nvSpPr>
        <p:spPr>
          <a:xfrm>
            <a:off x="9932784" y="2788920"/>
            <a:ext cx="749808" cy="749808"/>
          </a:xfrm>
          <a:prstGeom prst="ellipse">
            <a:avLst/>
          </a:prstGeom>
          <a:solidFill>
            <a:srgbClr val="D7A24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0236" y="2976372"/>
            <a:ext cx="374904" cy="3749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63761" y="3657600"/>
            <a:ext cx="2487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 On valide &amp; on garde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228353" y="4069080"/>
            <a:ext cx="21586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enregistre le prompt qui marche dans la bibliothèque.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40080" y="5257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2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: repartir avec UN prompt qui vous fait gagner du temps dès demain.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4465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645920"/>
            <a:ext cx="4114800" cy="4114800"/>
          </a:xfrm>
          <a:prstGeom prst="ellipse">
            <a:avLst/>
          </a:prstGeom>
          <a:solidFill>
            <a:srgbClr val="24465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331720"/>
            <a:ext cx="1371600" cy="1371600"/>
          </a:xfrm>
          <a:prstGeom prst="ellipse">
            <a:avLst/>
          </a:prstGeom>
          <a:solidFill>
            <a:srgbClr val="D7A2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6746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PARTIE 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251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IA &amp; qualité : le cadre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52120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outil puissant exige des règles. Voici ce qui sécurise notre usage.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· LE CADRE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L'IA dans le système qualité (ISO 15189)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L'IA ne sort pas du système : elle s'y intègre, avec les mêmes exigences que tout outil.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9574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560320"/>
            <a:ext cx="685800" cy="68580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138" y="273177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359152"/>
            <a:ext cx="3878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Validation humaine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828800" y="2816352"/>
            <a:ext cx="38784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Toute production IA est relue et validée par un responsable compétent.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5868" y="2103120"/>
            <a:ext cx="529574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48476" y="2560320"/>
            <a:ext cx="685800" cy="68580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926" y="273177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44588" y="2359152"/>
            <a:ext cx="3878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Traçabilité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444588" y="2816352"/>
            <a:ext cx="38784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garde la trace de l'outil utilisé et du contrôle effectué.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886200"/>
            <a:ext cx="529574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32688" y="4343400"/>
            <a:ext cx="685800" cy="68580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38" y="451485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142232"/>
            <a:ext cx="3878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Maîtrise documentaire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828800" y="4599432"/>
            <a:ext cx="38784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livrables suivent le circuit habituel (Kalilab, codification).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55868" y="3886200"/>
            <a:ext cx="529574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48476" y="4343400"/>
            <a:ext cx="685800" cy="68580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926" y="4514850"/>
            <a:ext cx="342900" cy="342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44588" y="4142232"/>
            <a:ext cx="3878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Maîtrise des risques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444588" y="4599432"/>
            <a:ext cx="38784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cadré par une charte ; pas de donnée sensible non maîtrisée.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· LE CADRE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Données patients, RGPD &amp; AI 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95748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331720"/>
            <a:ext cx="713232" cy="713232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2510028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47088" y="2066544"/>
            <a:ext cx="3832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Aucune donnée patient identifiante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47088" y="2505456"/>
            <a:ext cx="38327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n'envoie jamais nom, NIR ou résultat nominatif dans l'outil.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55868" y="1828800"/>
            <a:ext cx="5295748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48476" y="2331720"/>
            <a:ext cx="713232" cy="713232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784" y="2510028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62876" y="2066544"/>
            <a:ext cx="3832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 anonymise en amont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62876" y="2505456"/>
            <a:ext cx="38327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exports sont nettoyés des identifiants avant toute analyse.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703320"/>
            <a:ext cx="5295748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4206240"/>
            <a:ext cx="713232" cy="713232"/>
          </a:xfrm>
          <a:prstGeom prst="ellipse">
            <a:avLst/>
          </a:prstGeom>
          <a:solidFill>
            <a:srgbClr val="C0623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" y="4384548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47088" y="3941064"/>
            <a:ext cx="3832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bon cadre contractuel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847088" y="4379976"/>
            <a:ext cx="38327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traiter des données sensibles : une offre pro avec accord de traitement (DPA), pas un compte personnel.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55868" y="3703320"/>
            <a:ext cx="5295748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48476" y="4206240"/>
            <a:ext cx="713232" cy="713232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784" y="4384548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62876" y="3941064"/>
            <a:ext cx="3832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Vers la conformité AI Act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62876" y="4379976"/>
            <a:ext cx="38327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documenté, finalité claire, supervision humaine systématique.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· LE CADRE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Les règles d'or BIOXA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afficher à côté de l'écran. Simples, non négociables.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95748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22576"/>
            <a:ext cx="548640" cy="548640"/>
          </a:xfrm>
          <a:prstGeom prst="ellipse">
            <a:avLst/>
          </a:prstGeom>
          <a:solidFill>
            <a:srgbClr val="14304A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322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40613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valide toujours : l'IA propose, l'humain décide et signe.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55868" y="2103120"/>
            <a:ext cx="5295748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1900" y="2322576"/>
            <a:ext cx="548640" cy="548640"/>
          </a:xfrm>
          <a:prstGeom prst="ellipse">
            <a:avLst/>
          </a:prstGeom>
          <a:solidFill>
            <a:srgbClr val="14304A"/>
          </a:solidFill>
          <a:ln/>
        </p:spPr>
      </p:sp>
      <p:sp>
        <p:nvSpPr>
          <p:cNvPr id="11" name="Text 9"/>
          <p:cNvSpPr/>
          <p:nvPr/>
        </p:nvSpPr>
        <p:spPr>
          <a:xfrm>
            <a:off x="6511900" y="2322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61708" y="2103120"/>
            <a:ext cx="40613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vérifie les faits, chiffres et références avant diffusion.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273552"/>
            <a:ext cx="5295748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493008"/>
            <a:ext cx="548640" cy="548640"/>
          </a:xfrm>
          <a:prstGeom prst="ellipse">
            <a:avLst/>
          </a:prstGeom>
          <a:solidFill>
            <a:srgbClr val="14304A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493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45920" y="3273552"/>
            <a:ext cx="40613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n'envoie aucune donnée patient identifiante.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55868" y="3273552"/>
            <a:ext cx="5295748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11900" y="3493008"/>
            <a:ext cx="548640" cy="548640"/>
          </a:xfrm>
          <a:prstGeom prst="ellipse">
            <a:avLst/>
          </a:prstGeom>
          <a:solidFill>
            <a:srgbClr val="14304A"/>
          </a:solidFill>
          <a:ln/>
        </p:spPr>
      </p:sp>
      <p:sp>
        <p:nvSpPr>
          <p:cNvPr id="19" name="Text 17"/>
          <p:cNvSpPr/>
          <p:nvPr/>
        </p:nvSpPr>
        <p:spPr>
          <a:xfrm>
            <a:off x="6511900" y="3493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61708" y="3273552"/>
            <a:ext cx="40613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fournis le contexte : l'IA ne devine pas nos règles.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443984"/>
            <a:ext cx="5295748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6112" y="4663440"/>
            <a:ext cx="548640" cy="548640"/>
          </a:xfrm>
          <a:prstGeom prst="ellipse">
            <a:avLst/>
          </a:prstGeom>
          <a:solidFill>
            <a:srgbClr val="14304A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45920" y="4443984"/>
            <a:ext cx="40613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garde la trace de l'outil et du contrôle effectué.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55868" y="4443984"/>
            <a:ext cx="5295748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11900" y="4663440"/>
            <a:ext cx="548640" cy="548640"/>
          </a:xfrm>
          <a:prstGeom prst="ellipse">
            <a:avLst/>
          </a:prstGeom>
          <a:solidFill>
            <a:srgbClr val="C0623F"/>
          </a:solidFill>
          <a:ln/>
        </p:spPr>
      </p:sp>
      <p:sp>
        <p:nvSpPr>
          <p:cNvPr id="27" name="Text 25"/>
          <p:cNvSpPr/>
          <p:nvPr/>
        </p:nvSpPr>
        <p:spPr>
          <a:xfrm>
            <a:off x="651190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61708" y="4443984"/>
            <a:ext cx="40613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cas de doute, je demande au référent IA.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· LE CADRE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 que l'IA ne fera jamais à votre 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487854" cy="260604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5387" y="2377440"/>
            <a:ext cx="777240" cy="77724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9697" y="257175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91840"/>
            <a:ext cx="2487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Engager la responsabilité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977640"/>
            <a:ext cx="21586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signature, la décision et la responsabilité restent humaines.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47974" y="2057400"/>
            <a:ext cx="2487854" cy="260604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03281" y="2377440"/>
            <a:ext cx="777240" cy="77724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591" y="25717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7974" y="3291840"/>
            <a:ext cx="2487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Remplacer l'expertise métier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2566" y="3977640"/>
            <a:ext cx="21586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Elle assiste le biologiste, elle ne pose pas le diagnostic.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55868" y="2057400"/>
            <a:ext cx="2487854" cy="260604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11175" y="2377440"/>
            <a:ext cx="777240" cy="77724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485" y="257175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5868" y="3291840"/>
            <a:ext cx="2487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Porter la relation patient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20460" y="3977640"/>
            <a:ext cx="21586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L'écoute et la confiance ne se délèguent pas à une machine.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63761" y="2057400"/>
            <a:ext cx="2487854" cy="260604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19068" y="2377440"/>
            <a:ext cx="777240" cy="777240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378" y="257175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63761" y="3291840"/>
            <a:ext cx="2487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Décider de l'éthique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28353" y="3977640"/>
            <a:ext cx="21586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arbitrages de valeurs restent l'affaire des personnes.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49377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062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L'IA fait gagner du temps sur la corvée, pour qu'il reste du temps pour l'essentiel : le soin et le jugement.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SYNTHÈSE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 qu'on retient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9574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514600"/>
            <a:ext cx="713232" cy="713232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2692908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47088" y="2304288"/>
            <a:ext cx="3832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LLM prédit du plausible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47088" y="2752344"/>
            <a:ext cx="3832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Puissant pour reformuler et analyser, toujours à vérifier.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55868" y="2057400"/>
            <a:ext cx="529574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48476" y="2514600"/>
            <a:ext cx="713232" cy="713232"/>
          </a:xfrm>
          <a:prstGeom prst="ellipse">
            <a:avLst/>
          </a:prstGeom>
          <a:solidFill>
            <a:srgbClr val="C0623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784" y="2692908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62876" y="2304288"/>
            <a:ext cx="3832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L'IA est une pelle mécanique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62876" y="2752344"/>
            <a:ext cx="3832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levier qui démultiplie ; l'opérateur compétent reste indispensable.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29574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4343400"/>
            <a:ext cx="713232" cy="713232"/>
          </a:xfrm>
          <a:prstGeom prst="ellipse">
            <a:avLst/>
          </a:prstGeom>
          <a:solidFill>
            <a:srgbClr val="1430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" y="4521708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47088" y="4133088"/>
            <a:ext cx="3832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 fabrique nos outils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47088" y="4581144"/>
            <a:ext cx="3832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Templates et projets réutilisables, taillés pour BIOXA.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55868" y="3886200"/>
            <a:ext cx="529574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48476" y="4343400"/>
            <a:ext cx="713232" cy="713232"/>
          </a:xfrm>
          <a:prstGeom prst="ellipse">
            <a:avLst/>
          </a:prstGeom>
          <a:solidFill>
            <a:srgbClr val="C0623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784" y="4521708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62876" y="4133088"/>
            <a:ext cx="3832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usage encadré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62876" y="4581144"/>
            <a:ext cx="3832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Validation, traçabilité, confidentialité : non négociables.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023360"/>
            <a:ext cx="5029200" cy="5029200"/>
          </a:xfrm>
          <a:prstGeom prst="ellipse">
            <a:avLst/>
          </a:prstGeom>
          <a:solidFill>
            <a:srgbClr val="2446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7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ET MAINTENANT 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 lancer, ensemble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6766560" cy="896112"/>
          </a:xfrm>
          <a:prstGeom prst="roundRect">
            <a:avLst>
              <a:gd name="adj" fmla="val 8163"/>
            </a:avLst>
          </a:prstGeom>
          <a:solidFill>
            <a:srgbClr val="1C3D58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31720"/>
            <a:ext cx="530352" cy="530352"/>
          </a:xfrm>
          <a:prstGeom prst="ellipse">
            <a:avLst/>
          </a:prstGeom>
          <a:solidFill>
            <a:srgbClr val="D7A2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464308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677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Testez dès cette semaine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00200" y="2606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Choisissez UN irritant et confiez-le à Claude.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200400"/>
            <a:ext cx="6766560" cy="896112"/>
          </a:xfrm>
          <a:prstGeom prst="roundRect">
            <a:avLst>
              <a:gd name="adj" fmla="val 8163"/>
            </a:avLst>
          </a:prstGeom>
          <a:solidFill>
            <a:srgbClr val="1C3D58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3383280"/>
            <a:ext cx="530352" cy="530352"/>
          </a:xfrm>
          <a:prstGeom prst="ellipse">
            <a:avLst/>
          </a:prstGeom>
          <a:solidFill>
            <a:srgbClr val="D7A2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" y="3515868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3192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Piochez dans la bibliothèque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600200" y="3657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prompts BIOXA prêts à l'emploi vous attendent.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6766560" cy="896112"/>
          </a:xfrm>
          <a:prstGeom prst="roundRect">
            <a:avLst>
              <a:gd name="adj" fmla="val 8163"/>
            </a:avLst>
          </a:prstGeom>
          <a:solidFill>
            <a:srgbClr val="1C3D58"/>
          </a:solidFill>
          <a:ln/>
        </p:spPr>
      </p:sp>
      <p:sp>
        <p:nvSpPr>
          <p:cNvPr id="16" name="Shape 12"/>
          <p:cNvSpPr/>
          <p:nvPr/>
        </p:nvSpPr>
        <p:spPr>
          <a:xfrm>
            <a:off x="868680" y="4434840"/>
            <a:ext cx="530352" cy="530352"/>
          </a:xfrm>
          <a:prstGeom prst="ellipse">
            <a:avLst/>
          </a:prstGeom>
          <a:solidFill>
            <a:srgbClr val="D7A2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4567428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3708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Faites remonter vos besoins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600200" y="4709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cas devient un outil partagé pour le groupe.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863840" y="2148840"/>
            <a:ext cx="3687775" cy="3154680"/>
          </a:xfrm>
          <a:prstGeom prst="roundRect">
            <a:avLst>
              <a:gd name="adj" fmla="val 2899"/>
            </a:avLst>
          </a:prstGeom>
          <a:solidFill>
            <a:srgbClr val="F7F2EA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0" y="2514600"/>
            <a:ext cx="868680" cy="868680"/>
          </a:xfrm>
          <a:prstGeom prst="ellipse">
            <a:avLst/>
          </a:prstGeom>
          <a:solidFill>
            <a:srgbClr val="C0623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6770" y="2731770"/>
            <a:ext cx="434340" cy="4343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960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62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Votre point de contact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229600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Référent IA · BIOXA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8229600" y="4434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3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vos questions, vos prompts et vos projets d'outils : une porte d'entrée unique.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24465F"/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640080"/>
            <a:ext cx="1554480" cy="1920240"/>
          </a:xfrm>
          <a:prstGeom prst="roundRect">
            <a:avLst>
              <a:gd name="adj" fmla="val 7059"/>
            </a:avLst>
          </a:prstGeom>
          <a:solidFill>
            <a:srgbClr val="F7F2EA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pic>
        <p:nvPicPr>
          <p:cNvPr id="4" name="Image 0" descr="logo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0599" y="859536"/>
            <a:ext cx="987552" cy="1481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651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7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Merci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64008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Place à vos questions.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44348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B9C6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L'IA enlève la corvée. À nous d'en faire quelque chose d'utile pour le labo, et pour les patients.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BIOXA · L'IA au service de la qualité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640080" y="566928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1200" b="1" spc="300" kern="0" dirty="0">
                <a:solidFill>
                  <a:srgbClr val="C0623F"/>
                </a:solidFill>
                <a:latin typeface="Manrope" pitchFamily="34" charset="0"/>
                <a:cs typeface="Manrope" pitchFamily="34" charset="0"/>
              </a:rPr>
              <a:t>1 · COMPRENDRE · AVANT / APRÈS</a:t>
            </a:r>
          </a:p>
        </p:txBody>
      </p:sp>
      <p:sp>
        <p:nvSpPr>
          <p:cNvPr id="3" name="t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ts val="3150"/>
              </a:lnSpc>
              <a:buNone/>
            </a:pPr>
            <a:r>
              <a:rPr lang="fr-FR" sz="3000" b="1" kern="0" dirty="0">
                <a:solidFill>
                  <a:srgbClr val="14304A"/>
                </a:solidFill>
                <a:latin typeface="Manrope" pitchFamily="34" charset="0"/>
                <a:cs typeface="Manrope" pitchFamily="34" charset="0"/>
              </a:rPr>
              <a:t>Prompt natif ou prompt travaillé ?</a:t>
            </a:r>
          </a:p>
        </p:txBody>
      </p:sp>
      <p:sp>
        <p:nvSpPr>
          <p:cNvPr id="4" name="t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1500" i="1" kern="0" dirty="0">
                <a:solidFill>
                  <a:srgbClr val="7C8893"/>
                </a:solidFill>
                <a:latin typeface="Inter" pitchFamily="34" charset="0"/>
                <a:cs typeface="Inter" pitchFamily="34" charset="0"/>
              </a:rPr>
              <a:t>La même demande, deux niveaux de soin : deux résultats.</a:t>
            </a:r>
          </a:p>
        </p:txBody>
      </p:sp>
      <p:sp>
        <p:nvSpPr>
          <p:cNvPr id="5" name="r"/>
          <p:cNvSpPr/>
          <p:nvPr/>
        </p:nvSpPr>
        <p:spPr>
          <a:xfrm>
            <a:off x="640080" y="2120000"/>
            <a:ext cx="5295767" cy="452000"/>
          </a:xfrm>
          <a:prstGeom prst="roundRect">
            <a:avLst>
              <a:gd name="adj" fmla="val 20000"/>
            </a:avLst>
          </a:prstGeom>
          <a:solidFill>
            <a:srgbClr val="D5DBDF"/>
          </a:solidFill>
          <a:ln/>
        </p:spPr>
      </p:sp>
      <p:sp>
        <p:nvSpPr>
          <p:cNvPr id="6" name="t"/>
          <p:cNvSpPr/>
          <p:nvPr/>
        </p:nvSpPr>
        <p:spPr>
          <a:xfrm>
            <a:off x="640080" y="2120000"/>
            <a:ext cx="5295767" cy="4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fr-FR" sz="1150" b="1" spc="240" kern="0" dirty="0">
                <a:solidFill>
                  <a:srgbClr val="14304A"/>
                </a:solidFill>
                <a:latin typeface="Manrope" pitchFamily="34" charset="0"/>
                <a:cs typeface="Manrope" pitchFamily="34" charset="0"/>
              </a:rPr>
              <a:t>AVANT · PROMPT NATIF</a:t>
            </a:r>
          </a:p>
        </p:txBody>
      </p:sp>
      <p:sp>
        <p:nvSpPr>
          <p:cNvPr id="7" name="r"/>
          <p:cNvSpPr/>
          <p:nvPr/>
        </p:nvSpPr>
        <p:spPr>
          <a:xfrm>
            <a:off x="640080" y="2640000"/>
            <a:ext cx="5295767" cy="1730000"/>
          </a:xfrm>
          <a:prstGeom prst="roundRect">
            <a:avLst>
              <a:gd name="adj" fmla="val 6000"/>
            </a:avLst>
          </a:prstGeom>
          <a:solidFill>
            <a:srgbClr val="14304A"/>
          </a:solidFill>
          <a:ln/>
        </p:spPr>
      </p:sp>
      <p:sp>
        <p:nvSpPr>
          <p:cNvPr id="8" name="t"/>
          <p:cNvSpPr/>
          <p:nvPr/>
        </p:nvSpPr>
        <p:spPr>
          <a:xfrm>
            <a:off x="928080" y="2850000"/>
            <a:ext cx="4719767" cy="13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« Aide-moi avec mes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non-conformités. »</a:t>
            </a:r>
          </a:p>
        </p:txBody>
      </p:sp>
      <p:sp>
        <p:nvSpPr>
          <p:cNvPr id="9" name="a"/>
          <p:cNvSpPr/>
          <p:nvPr/>
        </p:nvSpPr>
        <p:spPr>
          <a:xfrm rot="10800000">
            <a:off x="3192963" y="4400000"/>
            <a:ext cx="190000" cy="150000"/>
          </a:xfrm>
          <a:prstGeom prst="triangle">
            <a:avLst/>
          </a:prstGeom>
          <a:solidFill>
            <a:srgbClr val="9DA9B0"/>
          </a:solidFill>
          <a:ln/>
        </p:spPr>
      </p:sp>
      <p:sp>
        <p:nvSpPr>
          <p:cNvPr id="10" name="r"/>
          <p:cNvSpPr/>
          <p:nvPr/>
        </p:nvSpPr>
        <p:spPr>
          <a:xfrm>
            <a:off x="640080" y="4520000"/>
            <a:ext cx="5295767" cy="16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1" name="e"/>
          <p:cNvSpPr/>
          <p:nvPr/>
        </p:nvSpPr>
        <p:spPr>
          <a:xfrm>
            <a:off x="928080" y="4770000"/>
            <a:ext cx="150000" cy="150000"/>
          </a:xfrm>
          <a:prstGeom prst="ellipse">
            <a:avLst/>
          </a:prstGeom>
          <a:solidFill>
            <a:srgbClr val="9DA9B0"/>
          </a:solidFill>
          <a:ln/>
        </p:spPr>
      </p:sp>
      <p:sp>
        <p:nvSpPr>
          <p:cNvPr id="12" name="t"/>
          <p:cNvSpPr/>
          <p:nvPr/>
        </p:nvSpPr>
        <p:spPr>
          <a:xfrm>
            <a:off x="1178080" y="4720000"/>
            <a:ext cx="4469767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1000" b="1" spc="200" kern="0" dirty="0">
                <a:solidFill>
                  <a:srgbClr val="14304A"/>
                </a:solidFill>
                <a:latin typeface="Manrope" pitchFamily="34" charset="0"/>
                <a:cs typeface="Manrope" pitchFamily="34" charset="0"/>
              </a:rPr>
              <a:t>RÉSULTAT BRUT</a:t>
            </a:r>
          </a:p>
        </p:txBody>
      </p:sp>
      <p:sp>
        <p:nvSpPr>
          <p:cNvPr id="13" name="t"/>
          <p:cNvSpPr/>
          <p:nvPr/>
        </p:nvSpPr>
        <p:spPr>
          <a:xfrm>
            <a:off x="928080" y="5140000"/>
            <a:ext cx="4719767" cy="8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ts val="1500"/>
              </a:lnSpc>
              <a:buNone/>
            </a:pPr>
            <a:r>
              <a:rPr lang="fr-FR" sz="1100" kern="0" dirty="0">
                <a:solidFill>
                  <a:srgbClr val="27323C"/>
                </a:solidFill>
                <a:latin typeface="Inter" pitchFamily="34" charset="0"/>
                <a:cs typeface="Inter" pitchFamily="34" charset="0"/>
              </a:rPr>
              <a:t>Réponse vague et générique. L'IA devine le besoin ; vous passez plus de temps à corriger qu'à produire.</a:t>
            </a:r>
          </a:p>
        </p:txBody>
      </p:sp>
      <p:sp>
        <p:nvSpPr>
          <p:cNvPr id="14" name="r"/>
          <p:cNvSpPr/>
          <p:nvPr/>
        </p:nvSpPr>
        <p:spPr>
          <a:xfrm>
            <a:off x="6255847" y="2120000"/>
            <a:ext cx="5295767" cy="452000"/>
          </a:xfrm>
          <a:prstGeom prst="roundRect">
            <a:avLst>
              <a:gd name="adj" fmla="val 20000"/>
            </a:avLst>
          </a:prstGeom>
          <a:solidFill>
            <a:srgbClr val="14304A"/>
          </a:solidFill>
          <a:ln/>
        </p:spPr>
      </p:sp>
      <p:sp>
        <p:nvSpPr>
          <p:cNvPr id="15" name="t"/>
          <p:cNvSpPr/>
          <p:nvPr/>
        </p:nvSpPr>
        <p:spPr>
          <a:xfrm>
            <a:off x="6255847" y="2120000"/>
            <a:ext cx="5295767" cy="4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fr-FR" sz="1150" b="1" spc="240" kern="0" dirty="0">
                <a:solidFill>
                  <a:srgbClr val="F7F2EA"/>
                </a:solidFill>
                <a:latin typeface="Manrope" pitchFamily="34" charset="0"/>
                <a:cs typeface="Manrope" pitchFamily="34" charset="0"/>
              </a:rPr>
              <a:t>APRÈS · PROMPT TRAVAILLÉ</a:t>
            </a:r>
          </a:p>
        </p:txBody>
      </p:sp>
      <p:sp>
        <p:nvSpPr>
          <p:cNvPr id="16" name="r"/>
          <p:cNvSpPr/>
          <p:nvPr/>
        </p:nvSpPr>
        <p:spPr>
          <a:xfrm>
            <a:off x="6255847" y="2640000"/>
            <a:ext cx="5295767" cy="1730000"/>
          </a:xfrm>
          <a:prstGeom prst="roundRect">
            <a:avLst>
              <a:gd name="adj" fmla="val 6000"/>
            </a:avLst>
          </a:prstGeom>
          <a:solidFill>
            <a:srgbClr val="14304A"/>
          </a:solidFill>
          <a:ln/>
        </p:spPr>
      </p:sp>
      <p:sp>
        <p:nvSpPr>
          <p:cNvPr id="17" name="t"/>
          <p:cNvSpPr/>
          <p:nvPr/>
        </p:nvSpPr>
        <p:spPr>
          <a:xfrm>
            <a:off x="6543847" y="2850000"/>
            <a:ext cx="4719767" cy="13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« Tu es responsable qualité (ISO 15189).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Voici notre procédure et l'export du mois.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Liste les écarts, classe-les par criticité,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propose une correction. Réponds en tableau. »</a:t>
            </a:r>
          </a:p>
          <a:p>
            <a:pPr indent="0" marL="0" algn="l">
              <a:lnSpc>
                <a:spcPts val="1250"/>
              </a:lnSpc>
              <a:spcBef>
                <a:spcPts val="600"/>
              </a:spcBef>
              <a:buNone/>
            </a:pPr>
            <a:r>
              <a:rPr lang="fr-FR" sz="950" i="1" kern="0" dirty="0">
                <a:solidFill>
                  <a:srgbClr val="D7A24A"/>
                </a:solidFill>
                <a:latin typeface="Inter" pitchFamily="34" charset="0"/>
                <a:cs typeface="Inter" pitchFamily="34" charset="0"/>
              </a:rPr>
              <a:t>Itération : « Ajoute une colonne échéance et responsable. »</a:t>
            </a:r>
          </a:p>
        </p:txBody>
      </p:sp>
      <p:sp>
        <p:nvSpPr>
          <p:cNvPr id="18" name="a"/>
          <p:cNvSpPr/>
          <p:nvPr/>
        </p:nvSpPr>
        <p:spPr>
          <a:xfrm rot="10800000">
            <a:off x="8808730" y="4400000"/>
            <a:ext cx="190000" cy="150000"/>
          </a:xfrm>
          <a:prstGeom prst="triangle">
            <a:avLst/>
          </a:prstGeom>
          <a:solidFill>
            <a:srgbClr val="C0623F"/>
          </a:solidFill>
          <a:ln/>
        </p:spPr>
      </p:sp>
      <p:sp>
        <p:nvSpPr>
          <p:cNvPr id="19" name="r"/>
          <p:cNvSpPr/>
          <p:nvPr/>
        </p:nvSpPr>
        <p:spPr>
          <a:xfrm>
            <a:off x="6255847" y="4520000"/>
            <a:ext cx="5295767" cy="16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0" name="e"/>
          <p:cNvSpPr/>
          <p:nvPr/>
        </p:nvSpPr>
        <p:spPr>
          <a:xfrm>
            <a:off x="6543847" y="4770000"/>
            <a:ext cx="150000" cy="150000"/>
          </a:xfrm>
          <a:prstGeom prst="ellipse">
            <a:avLst/>
          </a:prstGeom>
          <a:solidFill>
            <a:srgbClr val="C0623F"/>
          </a:solidFill>
          <a:ln/>
        </p:spPr>
      </p:sp>
      <p:sp>
        <p:nvSpPr>
          <p:cNvPr id="21" name="t"/>
          <p:cNvSpPr/>
          <p:nvPr/>
        </p:nvSpPr>
        <p:spPr>
          <a:xfrm>
            <a:off x="6793847" y="4720000"/>
            <a:ext cx="4469767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1000" b="1" spc="200" kern="0" dirty="0">
                <a:solidFill>
                  <a:srgbClr val="14304A"/>
                </a:solidFill>
                <a:latin typeface="Manrope" pitchFamily="34" charset="0"/>
                <a:cs typeface="Manrope" pitchFamily="34" charset="0"/>
              </a:rPr>
              <a:t>APRÈS ITÉRATIONS</a:t>
            </a:r>
          </a:p>
        </p:txBody>
      </p:sp>
      <p:sp>
        <p:nvSpPr>
          <p:cNvPr id="22" name="t"/>
          <p:cNvSpPr/>
          <p:nvPr/>
        </p:nvSpPr>
        <p:spPr>
          <a:xfrm>
            <a:off x="6543847" y="5140000"/>
            <a:ext cx="4719767" cy="8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ts val="1500"/>
              </a:lnSpc>
              <a:buNone/>
            </a:pPr>
            <a:r>
              <a:rPr lang="fr-FR" sz="1100" kern="0" dirty="0">
                <a:solidFill>
                  <a:srgbClr val="27323C"/>
                </a:solidFill>
                <a:latin typeface="Inter" pitchFamily="34" charset="0"/>
                <a:cs typeface="Inter" pitchFamily="34" charset="0"/>
              </a:rPr>
              <a:t>Réponse cadrée et exploitable : structurée, contextualisée, priorisée, prête à valider et à tracer.</a:t>
            </a:r>
          </a:p>
        </p:txBody>
      </p:sp>
      <p:sp>
        <p:nvSpPr>
          <p:cNvPr id="23" name="t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900" kern="0" dirty="0">
                <a:solidFill>
                  <a:srgbClr val="7C8893"/>
                </a:solidFill>
                <a:latin typeface="Inter" pitchFamily="34" charset="0"/>
                <a:cs typeface="Inter" pitchFamily="34" charset="0"/>
              </a:rPr>
              <a:t>BIOXA · L'IA au service de la qualité</a:t>
            </a:r>
          </a:p>
        </p:txBody>
      </p:sp>
      <p:sp>
        <p:nvSpPr>
          <p:cNvPr id="24" name="t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fr-FR" sz="900" kern="0" dirty="0">
                <a:solidFill>
                  <a:srgbClr val="7C8893"/>
                </a:solidFill>
                <a:latin typeface="Inter" pitchFamily="34" charset="0"/>
                <a:cs typeface="Inter" pitchFamily="34" charset="0"/>
              </a:rPr>
              <a:t>09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640080" y="566928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1200" b="1" spc="300" kern="0" dirty="0">
                <a:solidFill>
                  <a:srgbClr val="C0623F"/>
                </a:solidFill>
                <a:latin typeface="Manrope" pitchFamily="34" charset="0"/>
                <a:cs typeface="Manrope" pitchFamily="34" charset="0"/>
              </a:rPr>
              <a:t>3 · CAS D'USAGE 01 · EN PRATIQUE</a:t>
            </a:r>
          </a:p>
        </p:txBody>
      </p:sp>
      <p:sp>
        <p:nvSpPr>
          <p:cNvPr id="3" name="t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ts val="3150"/>
              </a:lnSpc>
              <a:buNone/>
            </a:pPr>
            <a:r>
              <a:rPr lang="fr-FR" sz="3000" b="1" kern="0" dirty="0">
                <a:solidFill>
                  <a:srgbClr val="14304A"/>
                </a:solidFill>
                <a:latin typeface="Manrope" pitchFamily="34" charset="0"/>
                <a:cs typeface="Manrope" pitchFamily="34" charset="0"/>
              </a:rPr>
              <a:t>FNC : du prompt natif au prompt travaillé</a:t>
            </a:r>
          </a:p>
        </p:txBody>
      </p:sp>
      <p:sp>
        <p:nvSpPr>
          <p:cNvPr id="4" name="t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1500" i="1" kern="0" dirty="0">
                <a:solidFill>
                  <a:srgbClr val="7C8893"/>
                </a:solidFill>
                <a:latin typeface="Inter" pitchFamily="34" charset="0"/>
                <a:cs typeface="Inter" pitchFamily="34" charset="0"/>
              </a:rPr>
              <a:t>Même export Kalilab, deux façons de demander : deux résultats.</a:t>
            </a:r>
          </a:p>
        </p:txBody>
      </p:sp>
      <p:sp>
        <p:nvSpPr>
          <p:cNvPr id="5" name="r"/>
          <p:cNvSpPr/>
          <p:nvPr/>
        </p:nvSpPr>
        <p:spPr>
          <a:xfrm>
            <a:off x="640080" y="2120000"/>
            <a:ext cx="5295767" cy="452000"/>
          </a:xfrm>
          <a:prstGeom prst="roundRect">
            <a:avLst>
              <a:gd name="adj" fmla="val 20000"/>
            </a:avLst>
          </a:prstGeom>
          <a:solidFill>
            <a:srgbClr val="D5DBDF"/>
          </a:solidFill>
          <a:ln/>
        </p:spPr>
      </p:sp>
      <p:sp>
        <p:nvSpPr>
          <p:cNvPr id="6" name="t"/>
          <p:cNvSpPr/>
          <p:nvPr/>
        </p:nvSpPr>
        <p:spPr>
          <a:xfrm>
            <a:off x="640080" y="2120000"/>
            <a:ext cx="5295767" cy="4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fr-FR" sz="1150" b="1" spc="240" kern="0" dirty="0">
                <a:solidFill>
                  <a:srgbClr val="14304A"/>
                </a:solidFill>
                <a:latin typeface="Manrope" pitchFamily="34" charset="0"/>
                <a:cs typeface="Manrope" pitchFamily="34" charset="0"/>
              </a:rPr>
              <a:t>AVANT · PROMPT NATIF</a:t>
            </a:r>
          </a:p>
        </p:txBody>
      </p:sp>
      <p:sp>
        <p:nvSpPr>
          <p:cNvPr id="7" name="r"/>
          <p:cNvSpPr/>
          <p:nvPr/>
        </p:nvSpPr>
        <p:spPr>
          <a:xfrm>
            <a:off x="640080" y="2640000"/>
            <a:ext cx="5295767" cy="1730000"/>
          </a:xfrm>
          <a:prstGeom prst="roundRect">
            <a:avLst>
              <a:gd name="adj" fmla="val 6000"/>
            </a:avLst>
          </a:prstGeom>
          <a:solidFill>
            <a:srgbClr val="14304A"/>
          </a:solidFill>
          <a:ln/>
        </p:spPr>
      </p:sp>
      <p:sp>
        <p:nvSpPr>
          <p:cNvPr id="8" name="t"/>
          <p:cNvSpPr/>
          <p:nvPr/>
        </p:nvSpPr>
        <p:spPr>
          <a:xfrm>
            <a:off x="928080" y="2850000"/>
            <a:ext cx="4719767" cy="13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« Analyse ce fichier de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non-conformités et fais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un résumé. »</a:t>
            </a:r>
          </a:p>
        </p:txBody>
      </p:sp>
      <p:sp>
        <p:nvSpPr>
          <p:cNvPr id="9" name="a"/>
          <p:cNvSpPr/>
          <p:nvPr/>
        </p:nvSpPr>
        <p:spPr>
          <a:xfrm rot="10800000">
            <a:off x="3192963" y="4400000"/>
            <a:ext cx="190000" cy="150000"/>
          </a:xfrm>
          <a:prstGeom prst="triangle">
            <a:avLst/>
          </a:prstGeom>
          <a:solidFill>
            <a:srgbClr val="9DA9B0"/>
          </a:solidFill>
          <a:ln/>
        </p:spPr>
      </p:sp>
      <p:sp>
        <p:nvSpPr>
          <p:cNvPr id="10" name="r"/>
          <p:cNvSpPr/>
          <p:nvPr/>
        </p:nvSpPr>
        <p:spPr>
          <a:xfrm>
            <a:off x="640080" y="4520000"/>
            <a:ext cx="5295767" cy="16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1" name="e"/>
          <p:cNvSpPr/>
          <p:nvPr/>
        </p:nvSpPr>
        <p:spPr>
          <a:xfrm>
            <a:off x="928080" y="4770000"/>
            <a:ext cx="150000" cy="150000"/>
          </a:xfrm>
          <a:prstGeom prst="ellipse">
            <a:avLst/>
          </a:prstGeom>
          <a:solidFill>
            <a:srgbClr val="9DA9B0"/>
          </a:solidFill>
          <a:ln/>
        </p:spPr>
      </p:sp>
      <p:sp>
        <p:nvSpPr>
          <p:cNvPr id="12" name="t"/>
          <p:cNvSpPr/>
          <p:nvPr/>
        </p:nvSpPr>
        <p:spPr>
          <a:xfrm>
            <a:off x="1178080" y="4720000"/>
            <a:ext cx="4469767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1000" b="1" spc="200" kern="0" dirty="0">
                <a:solidFill>
                  <a:srgbClr val="14304A"/>
                </a:solidFill>
                <a:latin typeface="Manrope" pitchFamily="34" charset="0"/>
                <a:cs typeface="Manrope" pitchFamily="34" charset="0"/>
              </a:rPr>
              <a:t>RÉSULTAT BRUT</a:t>
            </a:r>
          </a:p>
        </p:txBody>
      </p:sp>
      <p:sp>
        <p:nvSpPr>
          <p:cNvPr id="13" name="t"/>
          <p:cNvSpPr/>
          <p:nvPr/>
        </p:nvSpPr>
        <p:spPr>
          <a:xfrm>
            <a:off x="928080" y="5140000"/>
            <a:ext cx="4719767" cy="8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ts val="1500"/>
              </a:lnSpc>
              <a:buNone/>
            </a:pPr>
            <a:r>
              <a:rPr lang="fr-FR" sz="1100" kern="0" dirty="0">
                <a:solidFill>
                  <a:srgbClr val="27323C"/>
                </a:solidFill>
                <a:latin typeface="Inter" pitchFamily="34" charset="0"/>
                <a:cs typeface="Inter" pitchFamily="34" charset="0"/>
              </a:rPr>
              <a:t>« 142 FNC cette année, en hausse. » Un constat vague : ni causes, ni priorités. Inexploitable en revue de direction.</a:t>
            </a:r>
          </a:p>
        </p:txBody>
      </p:sp>
      <p:sp>
        <p:nvSpPr>
          <p:cNvPr id="14" name="r"/>
          <p:cNvSpPr/>
          <p:nvPr/>
        </p:nvSpPr>
        <p:spPr>
          <a:xfrm>
            <a:off x="6255847" y="2120000"/>
            <a:ext cx="5295767" cy="452000"/>
          </a:xfrm>
          <a:prstGeom prst="roundRect">
            <a:avLst>
              <a:gd name="adj" fmla="val 20000"/>
            </a:avLst>
          </a:prstGeom>
          <a:solidFill>
            <a:srgbClr val="14304A"/>
          </a:solidFill>
          <a:ln/>
        </p:spPr>
      </p:sp>
      <p:sp>
        <p:nvSpPr>
          <p:cNvPr id="15" name="t"/>
          <p:cNvSpPr/>
          <p:nvPr/>
        </p:nvSpPr>
        <p:spPr>
          <a:xfrm>
            <a:off x="6255847" y="2120000"/>
            <a:ext cx="5295767" cy="4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fr-FR" sz="1150" b="1" spc="240" kern="0" dirty="0">
                <a:solidFill>
                  <a:srgbClr val="F7F2EA"/>
                </a:solidFill>
                <a:latin typeface="Manrope" pitchFamily="34" charset="0"/>
                <a:cs typeface="Manrope" pitchFamily="34" charset="0"/>
              </a:rPr>
              <a:t>APRÈS · PROMPT TRAVAILLÉ</a:t>
            </a:r>
          </a:p>
        </p:txBody>
      </p:sp>
      <p:sp>
        <p:nvSpPr>
          <p:cNvPr id="16" name="r"/>
          <p:cNvSpPr/>
          <p:nvPr/>
        </p:nvSpPr>
        <p:spPr>
          <a:xfrm>
            <a:off x="6255847" y="2640000"/>
            <a:ext cx="5295767" cy="1730000"/>
          </a:xfrm>
          <a:prstGeom prst="roundRect">
            <a:avLst>
              <a:gd name="adj" fmla="val 6000"/>
            </a:avLst>
          </a:prstGeom>
          <a:solidFill>
            <a:srgbClr val="14304A"/>
          </a:solidFill>
          <a:ln/>
        </p:spPr>
      </p:sp>
      <p:sp>
        <p:nvSpPr>
          <p:cNvPr id="17" name="t"/>
          <p:cNvSpPr/>
          <p:nvPr/>
        </p:nvSpPr>
        <p:spPr>
          <a:xfrm>
            <a:off x="6543847" y="2850000"/>
            <a:ext cx="4719767" cy="13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« Tu es responsable qualité (ISO 15189).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Voici l'export Kalilab 2025 (CSV joint).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Analyse l'évolution mensuelle, identifie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le top 3 des causes et les pics. »</a:t>
            </a:r>
          </a:p>
          <a:p>
            <a:pPr indent="0" marL="0" algn="l">
              <a:lnSpc>
                <a:spcPts val="1250"/>
              </a:lnSpc>
              <a:spcBef>
                <a:spcPts val="600"/>
              </a:spcBef>
              <a:buNone/>
            </a:pPr>
            <a:r>
              <a:rPr lang="fr-FR" sz="950" i="1" kern="0" dirty="0">
                <a:solidFill>
                  <a:srgbClr val="D7A24A"/>
                </a:solidFill>
                <a:latin typeface="Inter" pitchFamily="34" charset="0"/>
                <a:cs typeface="Inter" pitchFamily="34" charset="0"/>
              </a:rPr>
              <a:t>Itération : « Ajoute la tendance vs N-1 et une action corrective par cause. »</a:t>
            </a:r>
          </a:p>
        </p:txBody>
      </p:sp>
      <p:sp>
        <p:nvSpPr>
          <p:cNvPr id="18" name="a"/>
          <p:cNvSpPr/>
          <p:nvPr/>
        </p:nvSpPr>
        <p:spPr>
          <a:xfrm rot="10800000">
            <a:off x="8808730" y="4400000"/>
            <a:ext cx="190000" cy="150000"/>
          </a:xfrm>
          <a:prstGeom prst="triangle">
            <a:avLst/>
          </a:prstGeom>
          <a:solidFill>
            <a:srgbClr val="C0623F"/>
          </a:solidFill>
          <a:ln/>
        </p:spPr>
      </p:sp>
      <p:sp>
        <p:nvSpPr>
          <p:cNvPr id="19" name="r"/>
          <p:cNvSpPr/>
          <p:nvPr/>
        </p:nvSpPr>
        <p:spPr>
          <a:xfrm>
            <a:off x="6255847" y="4520000"/>
            <a:ext cx="5295767" cy="16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0" name="e"/>
          <p:cNvSpPr/>
          <p:nvPr/>
        </p:nvSpPr>
        <p:spPr>
          <a:xfrm>
            <a:off x="6543847" y="4770000"/>
            <a:ext cx="150000" cy="150000"/>
          </a:xfrm>
          <a:prstGeom prst="ellipse">
            <a:avLst/>
          </a:prstGeom>
          <a:solidFill>
            <a:srgbClr val="C0623F"/>
          </a:solidFill>
          <a:ln/>
        </p:spPr>
      </p:sp>
      <p:sp>
        <p:nvSpPr>
          <p:cNvPr id="21" name="t"/>
          <p:cNvSpPr/>
          <p:nvPr/>
        </p:nvSpPr>
        <p:spPr>
          <a:xfrm>
            <a:off x="6793847" y="4720000"/>
            <a:ext cx="4469767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1000" b="1" spc="200" kern="0" dirty="0">
                <a:solidFill>
                  <a:srgbClr val="14304A"/>
                </a:solidFill>
                <a:latin typeface="Manrope" pitchFamily="34" charset="0"/>
                <a:cs typeface="Manrope" pitchFamily="34" charset="0"/>
              </a:rPr>
              <a:t>APRÈS ITÉRATIONS</a:t>
            </a:r>
          </a:p>
        </p:txBody>
      </p:sp>
      <p:sp>
        <p:nvSpPr>
          <p:cNvPr id="22" name="t"/>
          <p:cNvSpPr/>
          <p:nvPr/>
        </p:nvSpPr>
        <p:spPr>
          <a:xfrm>
            <a:off x="6543847" y="5140000"/>
            <a:ext cx="4719767" cy="8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ts val="1500"/>
              </a:lnSpc>
              <a:buNone/>
            </a:pPr>
            <a:r>
              <a:rPr lang="fr-FR" sz="1100" kern="0" dirty="0">
                <a:solidFill>
                  <a:srgbClr val="27323C"/>
                </a:solidFill>
                <a:latin typeface="Inter" pitchFamily="34" charset="0"/>
                <a:cs typeface="Inter" pitchFamily="34" charset="0"/>
              </a:rPr>
              <a:t>Tableau mensuel, top 3 des causes (prélèvement, étiquetage, délais), pics de mars et septembre, actions associées. Prêt pour la revue.</a:t>
            </a:r>
          </a:p>
        </p:txBody>
      </p:sp>
      <p:sp>
        <p:nvSpPr>
          <p:cNvPr id="23" name="t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900" kern="0" dirty="0">
                <a:solidFill>
                  <a:srgbClr val="7C8893"/>
                </a:solidFill>
                <a:latin typeface="Inter" pitchFamily="34" charset="0"/>
                <a:cs typeface="Inter" pitchFamily="34" charset="0"/>
              </a:rPr>
              <a:t>BIOXA · L'IA au service de la qualité</a:t>
            </a:r>
          </a:p>
        </p:txBody>
      </p:sp>
      <p:sp>
        <p:nvSpPr>
          <p:cNvPr id="24" name="t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fr-FR" sz="900" kern="0" dirty="0">
                <a:solidFill>
                  <a:srgbClr val="7C8893"/>
                </a:solidFill>
                <a:latin typeface="Inter" pitchFamily="34" charset="0"/>
                <a:cs typeface="Inter" pitchFamily="34" charset="0"/>
              </a:rPr>
              <a:t>19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640080" y="566928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1200" b="1" spc="300" kern="0" dirty="0">
                <a:solidFill>
                  <a:srgbClr val="C0623F"/>
                </a:solidFill>
                <a:latin typeface="Manrope" pitchFamily="34" charset="0"/>
                <a:cs typeface="Manrope" pitchFamily="34" charset="0"/>
              </a:rPr>
              <a:t>3 · CAS D'USAGE 02 · EN PRATIQUE</a:t>
            </a:r>
          </a:p>
        </p:txBody>
      </p:sp>
      <p:sp>
        <p:nvSpPr>
          <p:cNvPr id="3" name="t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ts val="3150"/>
              </a:lnSpc>
              <a:buNone/>
            </a:pPr>
            <a:r>
              <a:rPr lang="fr-FR" sz="3000" b="1" kern="0" dirty="0">
                <a:solidFill>
                  <a:srgbClr val="14304A"/>
                </a:solidFill>
                <a:latin typeface="Manrope" pitchFamily="34" charset="0"/>
                <a:cs typeface="Manrope" pitchFamily="34" charset="0"/>
              </a:rPr>
              <a:t>Avis Google : du vague à l'actionnable</a:t>
            </a:r>
          </a:p>
        </p:txBody>
      </p:sp>
      <p:sp>
        <p:nvSpPr>
          <p:cNvPr id="4" name="t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1500" i="1" kern="0" dirty="0">
                <a:solidFill>
                  <a:srgbClr val="7C8893"/>
                </a:solidFill>
                <a:latin typeface="Inter" pitchFamily="34" charset="0"/>
                <a:cs typeface="Inter" pitchFamily="34" charset="0"/>
              </a:rPr>
              <a:t>Des centaines d'avis sur 13 sites, deux niveaux de consigne.</a:t>
            </a:r>
          </a:p>
        </p:txBody>
      </p:sp>
      <p:sp>
        <p:nvSpPr>
          <p:cNvPr id="5" name="r"/>
          <p:cNvSpPr/>
          <p:nvPr/>
        </p:nvSpPr>
        <p:spPr>
          <a:xfrm>
            <a:off x="640080" y="2120000"/>
            <a:ext cx="5295767" cy="452000"/>
          </a:xfrm>
          <a:prstGeom prst="roundRect">
            <a:avLst>
              <a:gd name="adj" fmla="val 20000"/>
            </a:avLst>
          </a:prstGeom>
          <a:solidFill>
            <a:srgbClr val="D5DBDF"/>
          </a:solidFill>
          <a:ln/>
        </p:spPr>
      </p:sp>
      <p:sp>
        <p:nvSpPr>
          <p:cNvPr id="6" name="t"/>
          <p:cNvSpPr/>
          <p:nvPr/>
        </p:nvSpPr>
        <p:spPr>
          <a:xfrm>
            <a:off x="640080" y="2120000"/>
            <a:ext cx="5295767" cy="4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fr-FR" sz="1150" b="1" spc="240" kern="0" dirty="0">
                <a:solidFill>
                  <a:srgbClr val="14304A"/>
                </a:solidFill>
                <a:latin typeface="Manrope" pitchFamily="34" charset="0"/>
                <a:cs typeface="Manrope" pitchFamily="34" charset="0"/>
              </a:rPr>
              <a:t>AVANT · PROMPT NATIF</a:t>
            </a:r>
          </a:p>
        </p:txBody>
      </p:sp>
      <p:sp>
        <p:nvSpPr>
          <p:cNvPr id="7" name="r"/>
          <p:cNvSpPr/>
          <p:nvPr/>
        </p:nvSpPr>
        <p:spPr>
          <a:xfrm>
            <a:off x="640080" y="2640000"/>
            <a:ext cx="5295767" cy="1730000"/>
          </a:xfrm>
          <a:prstGeom prst="roundRect">
            <a:avLst>
              <a:gd name="adj" fmla="val 6000"/>
            </a:avLst>
          </a:prstGeom>
          <a:solidFill>
            <a:srgbClr val="14304A"/>
          </a:solidFill>
          <a:ln/>
        </p:spPr>
      </p:sp>
      <p:sp>
        <p:nvSpPr>
          <p:cNvPr id="8" name="t"/>
          <p:cNvSpPr/>
          <p:nvPr/>
        </p:nvSpPr>
        <p:spPr>
          <a:xfrm>
            <a:off x="928080" y="2850000"/>
            <a:ext cx="4719767" cy="13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« Résume les avis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Google de nos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laboratoires. »</a:t>
            </a:r>
          </a:p>
        </p:txBody>
      </p:sp>
      <p:sp>
        <p:nvSpPr>
          <p:cNvPr id="9" name="a"/>
          <p:cNvSpPr/>
          <p:nvPr/>
        </p:nvSpPr>
        <p:spPr>
          <a:xfrm rot="10800000">
            <a:off x="3192963" y="4400000"/>
            <a:ext cx="190000" cy="150000"/>
          </a:xfrm>
          <a:prstGeom prst="triangle">
            <a:avLst/>
          </a:prstGeom>
          <a:solidFill>
            <a:srgbClr val="9DA9B0"/>
          </a:solidFill>
          <a:ln/>
        </p:spPr>
      </p:sp>
      <p:sp>
        <p:nvSpPr>
          <p:cNvPr id="10" name="r"/>
          <p:cNvSpPr/>
          <p:nvPr/>
        </p:nvSpPr>
        <p:spPr>
          <a:xfrm>
            <a:off x="640080" y="4520000"/>
            <a:ext cx="5295767" cy="16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1" name="e"/>
          <p:cNvSpPr/>
          <p:nvPr/>
        </p:nvSpPr>
        <p:spPr>
          <a:xfrm>
            <a:off x="928080" y="4770000"/>
            <a:ext cx="150000" cy="150000"/>
          </a:xfrm>
          <a:prstGeom prst="ellipse">
            <a:avLst/>
          </a:prstGeom>
          <a:solidFill>
            <a:srgbClr val="9DA9B0"/>
          </a:solidFill>
          <a:ln/>
        </p:spPr>
      </p:sp>
      <p:sp>
        <p:nvSpPr>
          <p:cNvPr id="12" name="t"/>
          <p:cNvSpPr/>
          <p:nvPr/>
        </p:nvSpPr>
        <p:spPr>
          <a:xfrm>
            <a:off x="1178080" y="4720000"/>
            <a:ext cx="4469767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1000" b="1" spc="200" kern="0" dirty="0">
                <a:solidFill>
                  <a:srgbClr val="14304A"/>
                </a:solidFill>
                <a:latin typeface="Manrope" pitchFamily="34" charset="0"/>
                <a:cs typeface="Manrope" pitchFamily="34" charset="0"/>
              </a:rPr>
              <a:t>RÉSULTAT BRUT</a:t>
            </a:r>
          </a:p>
        </p:txBody>
      </p:sp>
      <p:sp>
        <p:nvSpPr>
          <p:cNvPr id="13" name="t"/>
          <p:cNvSpPr/>
          <p:nvPr/>
        </p:nvSpPr>
        <p:spPr>
          <a:xfrm>
            <a:off x="928080" y="5140000"/>
            <a:ext cx="4719767" cy="8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ts val="1500"/>
              </a:lnSpc>
              <a:buNone/>
            </a:pPr>
            <a:r>
              <a:rPr lang="fr-FR" sz="1100" kern="0" dirty="0">
                <a:solidFill>
                  <a:srgbClr val="27323C"/>
                </a:solidFill>
                <a:latin typeface="Inter" pitchFamily="34" charset="0"/>
                <a:cs typeface="Inter" pitchFamily="34" charset="0"/>
              </a:rPr>
              <a:t>« Les patients sont globalement satisfaits. » Exact, mais inutile : aucun thème, aucun site, aucune action possible.</a:t>
            </a:r>
          </a:p>
        </p:txBody>
      </p:sp>
      <p:sp>
        <p:nvSpPr>
          <p:cNvPr id="14" name="r"/>
          <p:cNvSpPr/>
          <p:nvPr/>
        </p:nvSpPr>
        <p:spPr>
          <a:xfrm>
            <a:off x="6255847" y="2120000"/>
            <a:ext cx="5295767" cy="452000"/>
          </a:xfrm>
          <a:prstGeom prst="roundRect">
            <a:avLst>
              <a:gd name="adj" fmla="val 20000"/>
            </a:avLst>
          </a:prstGeom>
          <a:solidFill>
            <a:srgbClr val="14304A"/>
          </a:solidFill>
          <a:ln/>
        </p:spPr>
      </p:sp>
      <p:sp>
        <p:nvSpPr>
          <p:cNvPr id="15" name="t"/>
          <p:cNvSpPr/>
          <p:nvPr/>
        </p:nvSpPr>
        <p:spPr>
          <a:xfrm>
            <a:off x="6255847" y="2120000"/>
            <a:ext cx="5295767" cy="4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fr-FR" sz="1150" b="1" spc="240" kern="0" dirty="0">
                <a:solidFill>
                  <a:srgbClr val="F7F2EA"/>
                </a:solidFill>
                <a:latin typeface="Manrope" pitchFamily="34" charset="0"/>
                <a:cs typeface="Manrope" pitchFamily="34" charset="0"/>
              </a:rPr>
              <a:t>APRÈS · PROMPT TRAVAILLÉ</a:t>
            </a:r>
          </a:p>
        </p:txBody>
      </p:sp>
      <p:sp>
        <p:nvSpPr>
          <p:cNvPr id="16" name="r"/>
          <p:cNvSpPr/>
          <p:nvPr/>
        </p:nvSpPr>
        <p:spPr>
          <a:xfrm>
            <a:off x="6255847" y="2640000"/>
            <a:ext cx="5295767" cy="1730000"/>
          </a:xfrm>
          <a:prstGeom prst="roundRect">
            <a:avLst>
              <a:gd name="adj" fmla="val 6000"/>
            </a:avLst>
          </a:prstGeom>
          <a:solidFill>
            <a:srgbClr val="14304A"/>
          </a:solidFill>
          <a:ln/>
        </p:spPr>
      </p:sp>
      <p:sp>
        <p:nvSpPr>
          <p:cNvPr id="17" name="t"/>
          <p:cNvSpPr/>
          <p:nvPr/>
        </p:nvSpPr>
        <p:spPr>
          <a:xfrm>
            <a:off x="6543847" y="2850000"/>
            <a:ext cx="4719767" cy="13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« Tu es chargé qualité. Voici l'export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Partoo (13 sites). Classe les avis par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thème et par site, donne le % de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satisfaction et les 3 sites à prioriser. »</a:t>
            </a:r>
          </a:p>
          <a:p>
            <a:pPr indent="0" marL="0" algn="l">
              <a:lnSpc>
                <a:spcPts val="1250"/>
              </a:lnSpc>
              <a:spcBef>
                <a:spcPts val="600"/>
              </a:spcBef>
              <a:buNone/>
            </a:pPr>
            <a:r>
              <a:rPr lang="fr-FR" sz="950" i="1" kern="0" dirty="0">
                <a:solidFill>
                  <a:srgbClr val="D7A24A"/>
                </a:solidFill>
                <a:latin typeface="Inter" pitchFamily="34" charset="0"/>
                <a:cs typeface="Inter" pitchFamily="34" charset="0"/>
              </a:rPr>
              <a:t>Itération : « Pour chaque site prioritaire : 2 actions concrètes et un verbatim. »</a:t>
            </a:r>
          </a:p>
        </p:txBody>
      </p:sp>
      <p:sp>
        <p:nvSpPr>
          <p:cNvPr id="18" name="a"/>
          <p:cNvSpPr/>
          <p:nvPr/>
        </p:nvSpPr>
        <p:spPr>
          <a:xfrm rot="10800000">
            <a:off x="8808730" y="4400000"/>
            <a:ext cx="190000" cy="150000"/>
          </a:xfrm>
          <a:prstGeom prst="triangle">
            <a:avLst/>
          </a:prstGeom>
          <a:solidFill>
            <a:srgbClr val="C0623F"/>
          </a:solidFill>
          <a:ln/>
        </p:spPr>
      </p:sp>
      <p:sp>
        <p:nvSpPr>
          <p:cNvPr id="19" name="r"/>
          <p:cNvSpPr/>
          <p:nvPr/>
        </p:nvSpPr>
        <p:spPr>
          <a:xfrm>
            <a:off x="6255847" y="4520000"/>
            <a:ext cx="5295767" cy="16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0" name="e"/>
          <p:cNvSpPr/>
          <p:nvPr/>
        </p:nvSpPr>
        <p:spPr>
          <a:xfrm>
            <a:off x="6543847" y="4770000"/>
            <a:ext cx="150000" cy="150000"/>
          </a:xfrm>
          <a:prstGeom prst="ellipse">
            <a:avLst/>
          </a:prstGeom>
          <a:solidFill>
            <a:srgbClr val="C0623F"/>
          </a:solidFill>
          <a:ln/>
        </p:spPr>
      </p:sp>
      <p:sp>
        <p:nvSpPr>
          <p:cNvPr id="21" name="t"/>
          <p:cNvSpPr/>
          <p:nvPr/>
        </p:nvSpPr>
        <p:spPr>
          <a:xfrm>
            <a:off x="6793847" y="4720000"/>
            <a:ext cx="4469767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1000" b="1" spc="200" kern="0" dirty="0">
                <a:solidFill>
                  <a:srgbClr val="14304A"/>
                </a:solidFill>
                <a:latin typeface="Manrope" pitchFamily="34" charset="0"/>
                <a:cs typeface="Manrope" pitchFamily="34" charset="0"/>
              </a:rPr>
              <a:t>APRÈS ITÉRATIONS</a:t>
            </a:r>
          </a:p>
        </p:txBody>
      </p:sp>
      <p:sp>
        <p:nvSpPr>
          <p:cNvPr id="22" name="t"/>
          <p:cNvSpPr/>
          <p:nvPr/>
        </p:nvSpPr>
        <p:spPr>
          <a:xfrm>
            <a:off x="6543847" y="5140000"/>
            <a:ext cx="4719767" cy="8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ts val="1500"/>
              </a:lnSpc>
              <a:buNone/>
            </a:pPr>
            <a:r>
              <a:rPr lang="fr-FR" sz="1100" kern="0" dirty="0">
                <a:solidFill>
                  <a:srgbClr val="27323C"/>
                </a:solidFill>
                <a:latin typeface="Inter" pitchFamily="34" charset="0"/>
                <a:cs typeface="Inter" pitchFamily="34" charset="0"/>
              </a:rPr>
              <a:t>Thèmes chiffrés (accueil, attente, prélèvement, RDV), classement des 13 sites, 3 prioritaires avec actions et verbatims. Actionnable.</a:t>
            </a:r>
          </a:p>
        </p:txBody>
      </p:sp>
      <p:sp>
        <p:nvSpPr>
          <p:cNvPr id="23" name="t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900" kern="0" dirty="0">
                <a:solidFill>
                  <a:srgbClr val="7C8893"/>
                </a:solidFill>
                <a:latin typeface="Inter" pitchFamily="34" charset="0"/>
                <a:cs typeface="Inter" pitchFamily="34" charset="0"/>
              </a:rPr>
              <a:t>BIOXA · L'IA au service de la qualité</a:t>
            </a:r>
          </a:p>
        </p:txBody>
      </p:sp>
      <p:sp>
        <p:nvSpPr>
          <p:cNvPr id="24" name="t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fr-FR" sz="900" kern="0" dirty="0">
                <a:solidFill>
                  <a:srgbClr val="7C8893"/>
                </a:solidFill>
                <a:latin typeface="Inter" pitchFamily="34" charset="0"/>
                <a:cs typeface="Inter" pitchFamily="34" charset="0"/>
              </a:rPr>
              <a:t>21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640080" y="566928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1200" b="1" spc="300" kern="0" dirty="0">
                <a:solidFill>
                  <a:srgbClr val="C0623F"/>
                </a:solidFill>
                <a:latin typeface="Manrope" pitchFamily="34" charset="0"/>
                <a:cs typeface="Manrope" pitchFamily="34" charset="0"/>
              </a:rPr>
              <a:t>3 · CAS D'USAGE 03 · EN PRATIQUE</a:t>
            </a:r>
          </a:p>
        </p:txBody>
      </p:sp>
      <p:sp>
        <p:nvSpPr>
          <p:cNvPr id="3" name="t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ts val="3150"/>
              </a:lnSpc>
              <a:buNone/>
            </a:pPr>
            <a:r>
              <a:rPr lang="fr-FR" sz="3000" b="1" kern="0" dirty="0">
                <a:solidFill>
                  <a:srgbClr val="14304A"/>
                </a:solidFill>
                <a:latin typeface="Manrope" pitchFamily="34" charset="0"/>
                <a:cs typeface="Manrope" pitchFamily="34" charset="0"/>
              </a:rPr>
              <a:t>Procédure : du brouillon au .docx conforme</a:t>
            </a:r>
          </a:p>
        </p:txBody>
      </p:sp>
      <p:sp>
        <p:nvSpPr>
          <p:cNvPr id="4" name="t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1500" i="1" kern="0" dirty="0">
                <a:solidFill>
                  <a:srgbClr val="7C8893"/>
                </a:solidFill>
                <a:latin typeface="Inter" pitchFamily="34" charset="0"/>
                <a:cs typeface="Inter" pitchFamily="34" charset="0"/>
              </a:rPr>
              <a:t>Mettre en forme au format BIOXA, sans repartir de zéro.</a:t>
            </a:r>
          </a:p>
        </p:txBody>
      </p:sp>
      <p:sp>
        <p:nvSpPr>
          <p:cNvPr id="5" name="r"/>
          <p:cNvSpPr/>
          <p:nvPr/>
        </p:nvSpPr>
        <p:spPr>
          <a:xfrm>
            <a:off x="640080" y="2120000"/>
            <a:ext cx="5295767" cy="452000"/>
          </a:xfrm>
          <a:prstGeom prst="roundRect">
            <a:avLst>
              <a:gd name="adj" fmla="val 20000"/>
            </a:avLst>
          </a:prstGeom>
          <a:solidFill>
            <a:srgbClr val="D5DBDF"/>
          </a:solidFill>
          <a:ln/>
        </p:spPr>
      </p:sp>
      <p:sp>
        <p:nvSpPr>
          <p:cNvPr id="6" name="t"/>
          <p:cNvSpPr/>
          <p:nvPr/>
        </p:nvSpPr>
        <p:spPr>
          <a:xfrm>
            <a:off x="640080" y="2120000"/>
            <a:ext cx="5295767" cy="4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fr-FR" sz="1150" b="1" spc="240" kern="0" dirty="0">
                <a:solidFill>
                  <a:srgbClr val="14304A"/>
                </a:solidFill>
                <a:latin typeface="Manrope" pitchFamily="34" charset="0"/>
                <a:cs typeface="Manrope" pitchFamily="34" charset="0"/>
              </a:rPr>
              <a:t>AVANT · PROMPT NATIF</a:t>
            </a:r>
          </a:p>
        </p:txBody>
      </p:sp>
      <p:sp>
        <p:nvSpPr>
          <p:cNvPr id="7" name="r"/>
          <p:cNvSpPr/>
          <p:nvPr/>
        </p:nvSpPr>
        <p:spPr>
          <a:xfrm>
            <a:off x="640080" y="2640000"/>
            <a:ext cx="5295767" cy="1730000"/>
          </a:xfrm>
          <a:prstGeom prst="roundRect">
            <a:avLst>
              <a:gd name="adj" fmla="val 6000"/>
            </a:avLst>
          </a:prstGeom>
          <a:solidFill>
            <a:srgbClr val="14304A"/>
          </a:solidFill>
          <a:ln/>
        </p:spPr>
      </p:sp>
      <p:sp>
        <p:nvSpPr>
          <p:cNvPr id="8" name="t"/>
          <p:cNvSpPr/>
          <p:nvPr/>
        </p:nvSpPr>
        <p:spPr>
          <a:xfrm>
            <a:off x="928080" y="2850000"/>
            <a:ext cx="4719767" cy="13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« Mets en forme cette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procédure, s'il te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plaît. »</a:t>
            </a:r>
          </a:p>
        </p:txBody>
      </p:sp>
      <p:sp>
        <p:nvSpPr>
          <p:cNvPr id="9" name="a"/>
          <p:cNvSpPr/>
          <p:nvPr/>
        </p:nvSpPr>
        <p:spPr>
          <a:xfrm rot="10800000">
            <a:off x="3192963" y="4400000"/>
            <a:ext cx="190000" cy="150000"/>
          </a:xfrm>
          <a:prstGeom prst="triangle">
            <a:avLst/>
          </a:prstGeom>
          <a:solidFill>
            <a:srgbClr val="9DA9B0"/>
          </a:solidFill>
          <a:ln/>
        </p:spPr>
      </p:sp>
      <p:sp>
        <p:nvSpPr>
          <p:cNvPr id="10" name="r"/>
          <p:cNvSpPr/>
          <p:nvPr/>
        </p:nvSpPr>
        <p:spPr>
          <a:xfrm>
            <a:off x="640080" y="4520000"/>
            <a:ext cx="5295767" cy="16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11" name="e"/>
          <p:cNvSpPr/>
          <p:nvPr/>
        </p:nvSpPr>
        <p:spPr>
          <a:xfrm>
            <a:off x="928080" y="4770000"/>
            <a:ext cx="150000" cy="150000"/>
          </a:xfrm>
          <a:prstGeom prst="ellipse">
            <a:avLst/>
          </a:prstGeom>
          <a:solidFill>
            <a:srgbClr val="9DA9B0"/>
          </a:solidFill>
          <a:ln/>
        </p:spPr>
      </p:sp>
      <p:sp>
        <p:nvSpPr>
          <p:cNvPr id="12" name="t"/>
          <p:cNvSpPr/>
          <p:nvPr/>
        </p:nvSpPr>
        <p:spPr>
          <a:xfrm>
            <a:off x="1178080" y="4720000"/>
            <a:ext cx="4469767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1000" b="1" spc="200" kern="0" dirty="0">
                <a:solidFill>
                  <a:srgbClr val="14304A"/>
                </a:solidFill>
                <a:latin typeface="Manrope" pitchFamily="34" charset="0"/>
                <a:cs typeface="Manrope" pitchFamily="34" charset="0"/>
              </a:rPr>
              <a:t>RÉSULTAT BRUT</a:t>
            </a:r>
          </a:p>
        </p:txBody>
      </p:sp>
      <p:sp>
        <p:nvSpPr>
          <p:cNvPr id="13" name="t"/>
          <p:cNvSpPr/>
          <p:nvPr/>
        </p:nvSpPr>
        <p:spPr>
          <a:xfrm>
            <a:off x="928080" y="5140000"/>
            <a:ext cx="4719767" cy="8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ts val="1500"/>
              </a:lnSpc>
              <a:buNone/>
            </a:pPr>
            <a:r>
              <a:rPr lang="fr-FR" sz="1100" kern="0" dirty="0">
                <a:solidFill>
                  <a:srgbClr val="27323C"/>
                </a:solidFill>
                <a:latin typeface="Inter" pitchFamily="34" charset="0"/>
                <a:cs typeface="Inter" pitchFamily="34" charset="0"/>
              </a:rPr>
              <a:t>Mise en page au hasard : titres incohérents, pas de cartouche, codification absente. À reprendre à la main.</a:t>
            </a:r>
          </a:p>
        </p:txBody>
      </p:sp>
      <p:sp>
        <p:nvSpPr>
          <p:cNvPr id="14" name="r"/>
          <p:cNvSpPr/>
          <p:nvPr/>
        </p:nvSpPr>
        <p:spPr>
          <a:xfrm>
            <a:off x="6255847" y="2120000"/>
            <a:ext cx="5295767" cy="452000"/>
          </a:xfrm>
          <a:prstGeom prst="roundRect">
            <a:avLst>
              <a:gd name="adj" fmla="val 20000"/>
            </a:avLst>
          </a:prstGeom>
          <a:solidFill>
            <a:srgbClr val="14304A"/>
          </a:solidFill>
          <a:ln/>
        </p:spPr>
      </p:sp>
      <p:sp>
        <p:nvSpPr>
          <p:cNvPr id="15" name="t"/>
          <p:cNvSpPr/>
          <p:nvPr/>
        </p:nvSpPr>
        <p:spPr>
          <a:xfrm>
            <a:off x="6255847" y="2120000"/>
            <a:ext cx="5295767" cy="4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fr-FR" sz="1150" b="1" spc="240" kern="0" dirty="0">
                <a:solidFill>
                  <a:srgbClr val="F7F2EA"/>
                </a:solidFill>
                <a:latin typeface="Manrope" pitchFamily="34" charset="0"/>
                <a:cs typeface="Manrope" pitchFamily="34" charset="0"/>
              </a:rPr>
              <a:t>APRÈS · PROMPT TRAVAILLÉ</a:t>
            </a:r>
          </a:p>
        </p:txBody>
      </p:sp>
      <p:sp>
        <p:nvSpPr>
          <p:cNvPr id="16" name="r"/>
          <p:cNvSpPr/>
          <p:nvPr/>
        </p:nvSpPr>
        <p:spPr>
          <a:xfrm>
            <a:off x="6255847" y="2640000"/>
            <a:ext cx="5295767" cy="1730000"/>
          </a:xfrm>
          <a:prstGeom prst="roundRect">
            <a:avLst>
              <a:gd name="adj" fmla="val 6000"/>
            </a:avLst>
          </a:prstGeom>
          <a:solidFill>
            <a:srgbClr val="14304A"/>
          </a:solidFill>
          <a:ln/>
        </p:spPr>
      </p:sp>
      <p:sp>
        <p:nvSpPr>
          <p:cNvPr id="17" name="t"/>
          <p:cNvSpPr/>
          <p:nvPr/>
        </p:nvSpPr>
        <p:spPr>
          <a:xfrm>
            <a:off x="6543847" y="2850000"/>
            <a:ext cx="4719767" cy="13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« Tu es gestionnaire documentaire BIOXA.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Voici le modèle qualité et le brouillon.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Reformate au format BIOXA : cartouche,</a:t>
            </a:r>
          </a:p>
          <a:p>
            <a:pPr indent="0" marL="0" algn="l">
              <a:lnSpc>
                <a:spcPts val="1320"/>
              </a:lnSpc>
              <a:buNone/>
            </a:pPr>
            <a:r>
              <a:rPr lang="fr-FR" sz="1000" kern="0" dirty="0">
                <a:solidFill>
                  <a:srgbClr val="F7F2EA"/>
                </a:solidFill>
                <a:latin typeface="Inter" pitchFamily="34" charset="0"/>
                <a:cs typeface="Inter" pitchFamily="34" charset="0"/>
              </a:rPr>
              <a:t>objet, responsabilités, plan type. »</a:t>
            </a:r>
          </a:p>
          <a:p>
            <a:pPr indent="0" marL="0" algn="l">
              <a:lnSpc>
                <a:spcPts val="1250"/>
              </a:lnSpc>
              <a:spcBef>
                <a:spcPts val="600"/>
              </a:spcBef>
              <a:buNone/>
            </a:pPr>
            <a:r>
              <a:rPr lang="fr-FR" sz="950" i="1" kern="0" dirty="0">
                <a:solidFill>
                  <a:srgbClr val="D7A24A"/>
                </a:solidFill>
                <a:latin typeface="Inter" pitchFamily="34" charset="0"/>
                <a:cs typeface="Inter" pitchFamily="34" charset="0"/>
              </a:rPr>
              <a:t>Itération : « Ajoute le tableau des modifications et harmonise avec nos PR existantes. »</a:t>
            </a:r>
          </a:p>
        </p:txBody>
      </p:sp>
      <p:sp>
        <p:nvSpPr>
          <p:cNvPr id="18" name="a"/>
          <p:cNvSpPr/>
          <p:nvPr/>
        </p:nvSpPr>
        <p:spPr>
          <a:xfrm rot="10800000">
            <a:off x="8808730" y="4400000"/>
            <a:ext cx="190000" cy="150000"/>
          </a:xfrm>
          <a:prstGeom prst="triangle">
            <a:avLst/>
          </a:prstGeom>
          <a:solidFill>
            <a:srgbClr val="C0623F"/>
          </a:solidFill>
          <a:ln/>
        </p:spPr>
      </p:sp>
      <p:sp>
        <p:nvSpPr>
          <p:cNvPr id="19" name="r"/>
          <p:cNvSpPr/>
          <p:nvPr/>
        </p:nvSpPr>
        <p:spPr>
          <a:xfrm>
            <a:off x="6255847" y="4520000"/>
            <a:ext cx="5295767" cy="16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DA9B0">
                <a:alpha val="22000"/>
              </a:srgbClr>
            </a:outerShdw>
          </a:effectLst>
        </p:spPr>
      </p:sp>
      <p:sp>
        <p:nvSpPr>
          <p:cNvPr id="20" name="e"/>
          <p:cNvSpPr/>
          <p:nvPr/>
        </p:nvSpPr>
        <p:spPr>
          <a:xfrm>
            <a:off x="6543847" y="4770000"/>
            <a:ext cx="150000" cy="150000"/>
          </a:xfrm>
          <a:prstGeom prst="ellipse">
            <a:avLst/>
          </a:prstGeom>
          <a:solidFill>
            <a:srgbClr val="C0623F"/>
          </a:solidFill>
          <a:ln/>
        </p:spPr>
      </p:sp>
      <p:sp>
        <p:nvSpPr>
          <p:cNvPr id="21" name="t"/>
          <p:cNvSpPr/>
          <p:nvPr/>
        </p:nvSpPr>
        <p:spPr>
          <a:xfrm>
            <a:off x="6793847" y="4720000"/>
            <a:ext cx="4469767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1000" b="1" spc="200" kern="0" dirty="0">
                <a:solidFill>
                  <a:srgbClr val="14304A"/>
                </a:solidFill>
                <a:latin typeface="Manrope" pitchFamily="34" charset="0"/>
                <a:cs typeface="Manrope" pitchFamily="34" charset="0"/>
              </a:rPr>
              <a:t>APRÈS ITÉRATIONS</a:t>
            </a:r>
          </a:p>
        </p:txBody>
      </p:sp>
      <p:sp>
        <p:nvSpPr>
          <p:cNvPr id="22" name="t"/>
          <p:cNvSpPr/>
          <p:nvPr/>
        </p:nvSpPr>
        <p:spPr>
          <a:xfrm>
            <a:off x="6543847" y="5140000"/>
            <a:ext cx="4719767" cy="8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ts val="1500"/>
              </a:lnSpc>
              <a:buNone/>
            </a:pPr>
            <a:r>
              <a:rPr lang="fr-FR" sz="1100" kern="0" dirty="0">
                <a:solidFill>
                  <a:srgbClr val="27323C"/>
                </a:solidFill>
                <a:latin typeface="Inter" pitchFamily="34" charset="0"/>
                <a:cs typeface="Inter" pitchFamily="34" charset="0"/>
              </a:rPr>
              <a:t>Document conforme : cartouche complet, plan type respecté, codification correcte. Prêt à verser dans Kalilab.</a:t>
            </a:r>
          </a:p>
        </p:txBody>
      </p:sp>
      <p:sp>
        <p:nvSpPr>
          <p:cNvPr id="23" name="t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fr-FR" sz="900" kern="0" dirty="0">
                <a:solidFill>
                  <a:srgbClr val="7C8893"/>
                </a:solidFill>
                <a:latin typeface="Inter" pitchFamily="34" charset="0"/>
                <a:cs typeface="Inter" pitchFamily="34" charset="0"/>
              </a:rPr>
              <a:t>BIOXA · L'IA au service de la qualité</a:t>
            </a:r>
          </a:p>
        </p:txBody>
      </p:sp>
      <p:sp>
        <p:nvSpPr>
          <p:cNvPr id="24" name="t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lang="fr-FR" sz="900" kern="0" dirty="0">
                <a:solidFill>
                  <a:srgbClr val="7C8893"/>
                </a:solidFill>
                <a:latin typeface="Inter" pitchFamily="34" charset="0"/>
                <a:cs typeface="Inter" pitchFamily="34" charset="0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L'IA au service de la qualité — BIOXA</dc:title>
  <dc:subject>PptxGenJS Presentation</dc:subject>
  <dc:creator>Service Qualité BIOXA</dc:creator>
  <cp:lastModifiedBy>Service Qualité BIOXA</cp:lastModifiedBy>
  <cp:revision>1</cp:revision>
  <dcterms:created xsi:type="dcterms:W3CDTF">2026-06-15T18:32:17Z</dcterms:created>
  <dcterms:modified xsi:type="dcterms:W3CDTF">2026-06-15T18:32:17Z</dcterms:modified>
</cp:coreProperties>
</file>