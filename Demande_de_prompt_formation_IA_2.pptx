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77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On est là pour prendre conscience de l'IA, pas pour apprendre à l'utiliser : une formation outil viendra plus tard. 20 min d'exposé, 10 min d'échange.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Énoncé volontairement frontal. L'IA n'est pas une menace lointaine ni un gadget : elle est déjà dans le quotidien de chacun. On déplace le débat de SI vers COMMENT et POUR QUOI.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forces convergent. La charge admin monte, les exigences qualité aussi (ISO 15189, COFRAC), et les outils sont enfin assez mûrs. L'enjeu : décharger le répétitif pour rendre du temps au métier et au patient.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est un outil à double tranchant. Bien employée elle allège ; mal employée (données patient dans un outil grand public) ou ignorée, elle expose. C'est exactement pourquoi on se réunit aujourd'hui.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essentiel pour la suite : une IA générative prédit le mot le plus plausible, elle ne consulte pas une base vérifiée. Schéma à 3 maillons : votre demande, le modèle, un texte probable.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se joue dans la demande. Un prompt vague donne une réponse vague. Un bon prompt précise le rôle, le contexte, la tâche et le format attendu. La qualité de la réponse suit la qualité de la demande.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IA générative ne sait rien de votre quotidien : elle ne connaît pas le labo, les procédures, les contraintes. Ce que vous lui donnez comme contexte détermine entièrement la pertinence de la réponse. Un outil généraliste devient utile dès que vous le situez — d'où l'importance d'un usage encadré et réfléchi.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mises au point. Ce n'est pas une source fiable par défaut (hallucinations), pas un coffre-fort (vos saisies peuvent être réutilisées), pas un décideur. En ISO 15189, la responsabilité et la validation restent humaines.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pour ancrer la notion d'hallucination, à adapter. En 2023, un avocat new-yorkais a remis au tribunal un mémoire citant plusieurs jugements à l'appui de sa thèse. Tous avaient été inventés par une IA, qu'il n'avait pas vérifiée. Morale : l'outil produit du plausible, la vérification reste humaine.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 cadre réglementaire. Si on pose des règles, c'est parce qu'au labo on manipule des données de santé : la catégorie la plus sensible.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donnée de santé est une catégorie particulière au sens du RGPD (art. 9), couverte par le secret médical, et son hébergement doit être certifié HDS. Trois exigences non négociables.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pivot, le message à retenir absolument : aucune donnée patient dans une IA grand public. Trois raisons : pas d'hébergement HDS, pas de contrat de sous-traitance, données potentiellement réutilisées.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ce qu'on ne saisit jamais : l'identité d'un patient, des données cliniques nominatives, tout document permettant de ré-identifier, mais aussi l'identité d'un collaborateur et toute information que l'entreprise n'autorise pas à diffuser. Le périmètre interne est à définir avec la direction et la qualité.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versant positif : ce qui est autorisé vs interdit. La colonne interdit est élargie : toute donnée collaborateur identifiante et l'usage sans autorisation documentée y figurent désormais. Deux réflexes clés : minimisation et pseudonymisation.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Act raisonne par niveau de risque. Quatre étages : inacceptable (interdit), haut risque (encadrement strict, celui qu'on surveille), risque limité (transparence), risque minimal (libre). Plus le risque monte, plus le cadre se resserre.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nous : nos usages actuels (qualité, doc, communication) relèvent du risque faible à minimal. La vigilance s'impose dès qu'on touche à une décision clinique ou à la donnée patient. Le calendrier d'application reste à vérifier avant diffusion.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de cette sensibilisation : l'usage professionnel de l'IA n'est pas une initiative individuelle. Il passe par un cadre, une commission, une autorisation documentée. Ce n'est pas une restriction, c'est une protection — pour le patient, le labo et chacun d'entre vous.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des promesses : ce qui tourne déjà chez nous. Cinq cas concrets, à montrer en exemple ensuite : refonte de procédures, analyse des FNC, outils sur mesure pour l'EEQ, communication, analyse des avis patients.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exemple précis, avant et après. Glissez la capture d'écran dans l'emplacement à gauche, renseignez le contexte et le gain à droite.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de transparence : l'usage n'est pas encore ouvert. Le temps de bien mettre le cadre en place. Ce n'est pas un refus, c'est une mise en conformité responsable.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L'invitation concrète : pas d'usage solo, mais une réflexion collective par processus ou par service. L'usage viendra, encadré. En attendant on cible, on réfléchit, on structure.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 simple : une tâche répétitive, un document pénible, une idée, venez en parler. Renseigner les coordonnées avant diffusion.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de l'échange (10 min). Amorce volontairement concrète pour faire parler la salle : qu'est-ce qui vous prend le plus de temps aujourd'hui ? Remercier.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svg"/><Relationship Id="rId10" Type="http://schemas.openxmlformats.org/officeDocument/2006/relationships/image" Target="../media/image16.png"/><Relationship Id="rId11" Type="http://schemas.openxmlformats.org/officeDocument/2006/relationships/image" Target="../media/image17.svg"/><Relationship Id="rId1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20.png"/><Relationship Id="rId6" Type="http://schemas.openxmlformats.org/officeDocument/2006/relationships/image" Target="../media/image21.svg"/><Relationship Id="rId7" Type="http://schemas.openxmlformats.org/officeDocument/2006/relationships/image" Target="../media/image22.png"/><Relationship Id="rId8" Type="http://schemas.openxmlformats.org/officeDocument/2006/relationships/image" Target="../media/image23.sv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5.svg"/><Relationship Id="rId5" Type="http://schemas.openxmlformats.org/officeDocument/2006/relationships/image" Target="../media/image26.png"/><Relationship Id="rId6" Type="http://schemas.openxmlformats.org/officeDocument/2006/relationships/image" Target="../media/image27.sv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 Id="rId11" Type="http://schemas.openxmlformats.org/officeDocument/2006/relationships/image" Target="../media/image32.png"/><Relationship Id="rId12" Type="http://schemas.openxmlformats.org/officeDocument/2006/relationships/image" Target="../media/image33.svg"/><Relationship Id="rId1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35.svg"/><Relationship Id="rId5" Type="http://schemas.openxmlformats.org/officeDocument/2006/relationships/image" Target="../media/image36.png"/><Relationship Id="rId6" Type="http://schemas.openxmlformats.org/officeDocument/2006/relationships/image" Target="../media/image37.svg"/><Relationship Id="rId7" Type="http://schemas.openxmlformats.org/officeDocument/2006/relationships/image" Target="../media/image38.png"/><Relationship Id="rId8" Type="http://schemas.openxmlformats.org/officeDocument/2006/relationships/image" Target="../media/image39.svg"/><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41.svg"/><Relationship Id="rId5" Type="http://schemas.openxmlformats.org/officeDocument/2006/relationships/image" Target="../media/image42.png"/><Relationship Id="rId6" Type="http://schemas.openxmlformats.org/officeDocument/2006/relationships/image" Target="../media/image43.svg"/><Relationship Id="rId7" Type="http://schemas.openxmlformats.org/officeDocument/2006/relationships/image" Target="../media/image44.png"/><Relationship Id="rId8" Type="http://schemas.openxmlformats.org/officeDocument/2006/relationships/image" Target="../media/image45.svg"/><Relationship Id="rId9" Type="http://schemas.openxmlformats.org/officeDocument/2006/relationships/image" Target="../media/image46.png"/><Relationship Id="rId10" Type="http://schemas.openxmlformats.org/officeDocument/2006/relationships/image" Target="../media/image47.svg"/><Relationship Id="rId11"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2EA"/>
        </a:solidFill>
        <a:effectLst/>
      </p:bgPr>
    </p:bg>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F3AD6FBA-339D-7D2C-1F72-2676AFE20F28}"/>
              </a:ext>
            </a:extLst>
          </p:cNvPr>
          <p:cNvPicPr>
            <a:picLocks noChangeAspect="1"/>
          </p:cNvPicPr>
          <p:nvPr/>
        </p:nvPicPr>
        <p:blipFill>
          <a:blip r:embed="rId3"/>
          <a:stretch>
            <a:fillRect/>
          </a:stretch>
        </p:blipFill>
        <p:spPr>
          <a:xfrm>
            <a:off x="0" y="1"/>
            <a:ext cx="18288000" cy="10287000"/>
          </a:xfrm>
          <a:prstGeom prst="rect">
            <a:avLst/>
          </a:prstGeom>
        </p:spPr>
      </p:pic>
      <p:sp>
        <p:nvSpPr>
          <p:cNvPr id="3" name="Shape 0"/>
          <p:cNvSpPr/>
          <p:nvPr/>
        </p:nvSpPr>
        <p:spPr>
          <a:xfrm>
            <a:off x="1143000" y="3928170"/>
            <a:ext cx="438150" cy="19050"/>
          </a:xfrm>
          <a:prstGeom prst="rect">
            <a:avLst/>
          </a:prstGeom>
          <a:solidFill>
            <a:srgbClr val="C0623F"/>
          </a:solidFill>
          <a:ln/>
        </p:spPr>
      </p:sp>
      <p:sp>
        <p:nvSpPr>
          <p:cNvPr id="4" name="Text 1"/>
          <p:cNvSpPr/>
          <p:nvPr/>
        </p:nvSpPr>
        <p:spPr>
          <a:xfrm>
            <a:off x="1733550" y="3799582"/>
            <a:ext cx="2993618" cy="314325"/>
          </a:xfrm>
          <a:prstGeom prst="rect">
            <a:avLst/>
          </a:prstGeom>
          <a:noFill/>
          <a:ln/>
        </p:spPr>
        <p:txBody>
          <a:bodyPr wrap="square" lIns="25400" tIns="25400" rIns="25400" bIns="25400" rtlCol="0" anchor="t">
            <a:normAutofit lnSpcReduction="10000"/>
          </a:bodyPr>
          <a:lstStyle/>
          <a:p>
            <a:pPr marL="0" indent="0" algn="l">
              <a:buNone/>
            </a:pPr>
            <a:r>
              <a:rPr lang="en-US" sz="1875" b="1" kern="0" spc="375" dirty="0">
                <a:solidFill>
                  <a:srgbClr val="5B6B79"/>
                </a:solidFill>
                <a:latin typeface="Arial" pitchFamily="34" charset="0"/>
                <a:ea typeface="Arial" pitchFamily="34" charset="-122"/>
                <a:cs typeface="Arial" pitchFamily="34" charset="-120"/>
              </a:rPr>
              <a:t>SENSIBILISATION</a:t>
            </a:r>
            <a:endParaRPr lang="en-US" sz="1875" dirty="0"/>
          </a:p>
        </p:txBody>
      </p:sp>
      <p:sp>
        <p:nvSpPr>
          <p:cNvPr id="5" name="Text 2"/>
          <p:cNvSpPr/>
          <p:nvPr/>
        </p:nvSpPr>
        <p:spPr>
          <a:xfrm>
            <a:off x="1143000" y="4399657"/>
            <a:ext cx="15192375" cy="1344811"/>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10500" b="1" kern="0" spc="-225" dirty="0">
                <a:solidFill>
                  <a:srgbClr val="14304A"/>
                </a:solidFill>
                <a:latin typeface="Arial" pitchFamily="34" charset="0"/>
                <a:ea typeface="Arial" pitchFamily="34" charset="-122"/>
                <a:cs typeface="Arial" pitchFamily="34" charset="-120"/>
              </a:rPr>
              <a:t>L'IA au laboratoire</a:t>
            </a:r>
            <a:endParaRPr lang="en-US" sz="10500" dirty="0"/>
          </a:p>
        </p:txBody>
      </p:sp>
      <p:sp>
        <p:nvSpPr>
          <p:cNvPr id="6" name="Text 3"/>
          <p:cNvSpPr/>
          <p:nvPr/>
        </p:nvSpPr>
        <p:spPr>
          <a:xfrm>
            <a:off x="1143000" y="6030218"/>
            <a:ext cx="11576685"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E2933"/>
                </a:solidFill>
                <a:latin typeface="Arial" pitchFamily="34" charset="0"/>
                <a:ea typeface="Arial" pitchFamily="34" charset="-122"/>
                <a:cs typeface="Arial" pitchFamily="34" charset="-120"/>
              </a:rPr>
              <a:t>Ce que c'est, ce qu'on a le droit d'en faire, ce qu'on peut en tirer.</a:t>
            </a:r>
            <a:endParaRPr lang="en-US" sz="3000" dirty="0"/>
          </a:p>
        </p:txBody>
      </p:sp>
      <p:sp>
        <p:nvSpPr>
          <p:cNvPr id="7" name="Shape 4"/>
          <p:cNvSpPr/>
          <p:nvPr/>
        </p:nvSpPr>
        <p:spPr>
          <a:xfrm>
            <a:off x="1143000" y="8705850"/>
            <a:ext cx="16002000" cy="9525"/>
          </a:xfrm>
          <a:prstGeom prst="rect">
            <a:avLst/>
          </a:prstGeom>
          <a:solidFill>
            <a:srgbClr val="D5DBDF"/>
          </a:solidFill>
          <a:ln/>
        </p:spPr>
      </p:sp>
      <p:sp>
        <p:nvSpPr>
          <p:cNvPr id="8" name="Text 5"/>
          <p:cNvSpPr/>
          <p:nvPr/>
        </p:nvSpPr>
        <p:spPr>
          <a:xfrm>
            <a:off x="1143000" y="8963025"/>
            <a:ext cx="2609716"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4304A"/>
                </a:solidFill>
                <a:latin typeface="Arial" pitchFamily="34" charset="0"/>
                <a:ea typeface="Arial" pitchFamily="34" charset="-122"/>
                <a:cs typeface="Arial" pitchFamily="34" charset="-120"/>
              </a:rPr>
              <a:t>Romain BARBACHE</a:t>
            </a:r>
            <a:endParaRPr lang="en-US" sz="2025" dirty="0"/>
          </a:p>
        </p:txBody>
      </p:sp>
      <p:sp>
        <p:nvSpPr>
          <p:cNvPr id="9" name="Text 6"/>
          <p:cNvSpPr/>
          <p:nvPr/>
        </p:nvSpPr>
        <p:spPr>
          <a:xfrm>
            <a:off x="16282839" y="8972550"/>
            <a:ext cx="938361"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01 / 23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2921943"/>
            <a:ext cx="381000" cy="19050"/>
          </a:xfrm>
          <a:prstGeom prst="rect">
            <a:avLst/>
          </a:prstGeom>
          <a:solidFill>
            <a:srgbClr val="C0623F"/>
          </a:solidFill>
          <a:ln/>
        </p:spPr>
      </p:sp>
      <p:sp>
        <p:nvSpPr>
          <p:cNvPr id="3" name="Text 1"/>
          <p:cNvSpPr/>
          <p:nvPr/>
        </p:nvSpPr>
        <p:spPr>
          <a:xfrm>
            <a:off x="1676400" y="2798118"/>
            <a:ext cx="4093756"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0 · POURQUOI</a:t>
            </a:r>
            <a:endParaRPr lang="en-US" sz="1800" dirty="0"/>
          </a:p>
        </p:txBody>
      </p:sp>
      <p:sp>
        <p:nvSpPr>
          <p:cNvPr id="4" name="Text 2"/>
          <p:cNvSpPr/>
          <p:nvPr/>
        </p:nvSpPr>
        <p:spPr>
          <a:xfrm>
            <a:off x="1143000" y="3522018"/>
            <a:ext cx="14716125" cy="2408634"/>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9150" b="1" kern="0" spc="-187" dirty="0">
                <a:solidFill>
                  <a:srgbClr val="14304A"/>
                </a:solidFill>
                <a:latin typeface="Arial" pitchFamily="34" charset="0"/>
                <a:ea typeface="Arial" pitchFamily="34" charset="-122"/>
                <a:cs typeface="Arial" pitchFamily="34" charset="-120"/>
              </a:rPr>
              <a:t>L'IA est déjà </a:t>
            </a:r>
            <a:r>
              <a:rPr lang="en-US" sz="9150" b="1" kern="0" spc="-187" dirty="0">
                <a:solidFill>
                  <a:srgbClr val="C0623F"/>
                </a:solidFill>
                <a:latin typeface="Arial" pitchFamily="34" charset="0"/>
                <a:ea typeface="Arial" pitchFamily="34" charset="-122"/>
                <a:cs typeface="Arial" pitchFamily="34" charset="-120"/>
              </a:rPr>
              <a:t>dans vos poches.</a:t>
            </a:r>
            <a:endParaRPr lang="en-US" sz="9150" dirty="0"/>
          </a:p>
        </p:txBody>
      </p:sp>
      <p:sp>
        <p:nvSpPr>
          <p:cNvPr id="5" name="Text 3"/>
          <p:cNvSpPr/>
          <p:nvPr/>
        </p:nvSpPr>
        <p:spPr>
          <a:xfrm>
            <a:off x="1143000" y="6349752"/>
            <a:ext cx="12557760" cy="117723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3150" dirty="0">
                <a:solidFill>
                  <a:srgbClr val="1E2933"/>
                </a:solidFill>
                <a:latin typeface="Arial" pitchFamily="34" charset="0"/>
                <a:ea typeface="Arial" pitchFamily="34" charset="-122"/>
                <a:cs typeface="Arial" pitchFamily="34" charset="-120"/>
              </a:rPr>
              <a:t>La vraie question n'est pas </a:t>
            </a:r>
            <a:r>
              <a:rPr lang="en-US" sz="3150" b="1" dirty="0">
                <a:solidFill>
                  <a:srgbClr val="14304A"/>
                </a:solidFill>
                <a:latin typeface="Arial" pitchFamily="34" charset="0"/>
                <a:ea typeface="Arial" pitchFamily="34" charset="-122"/>
                <a:cs typeface="Arial" pitchFamily="34" charset="-120"/>
              </a:rPr>
              <a:t>SI</a:t>
            </a:r>
            <a:r>
              <a:rPr lang="en-US" sz="3150" dirty="0">
                <a:solidFill>
                  <a:srgbClr val="1E2933"/>
                </a:solidFill>
                <a:latin typeface="Arial" pitchFamily="34" charset="0"/>
                <a:ea typeface="Arial" pitchFamily="34" charset="-122"/>
                <a:cs typeface="Arial" pitchFamily="34" charset="-120"/>
              </a:rPr>
              <a:t>, mais </a:t>
            </a:r>
            <a:r>
              <a:rPr lang="en-US" sz="3150" b="1" dirty="0">
                <a:solidFill>
                  <a:srgbClr val="14304A"/>
                </a:solidFill>
                <a:latin typeface="Arial" pitchFamily="34" charset="0"/>
                <a:ea typeface="Arial" pitchFamily="34" charset="-122"/>
                <a:cs typeface="Arial" pitchFamily="34" charset="-120"/>
              </a:rPr>
              <a:t>COMMENT </a:t>
            </a:r>
            <a:r>
              <a:rPr lang="en-US" sz="3150" dirty="0">
                <a:solidFill>
                  <a:srgbClr val="1E2933"/>
                </a:solidFill>
                <a:latin typeface="Arial" pitchFamily="34" charset="0"/>
                <a:ea typeface="Arial" pitchFamily="34" charset="-122"/>
                <a:cs typeface="Arial" pitchFamily="34" charset="-120"/>
              </a:rPr>
              <a:t>et </a:t>
            </a:r>
            <a:r>
              <a:rPr lang="en-US" sz="3150" b="1" dirty="0">
                <a:solidFill>
                  <a:srgbClr val="14304A"/>
                </a:solidFill>
                <a:latin typeface="Arial" pitchFamily="34" charset="0"/>
                <a:ea typeface="Arial" pitchFamily="34" charset="-122"/>
                <a:cs typeface="Arial" pitchFamily="34" charset="-120"/>
              </a:rPr>
              <a:t>POUR QUOI FAIRE </a:t>
            </a:r>
            <a:r>
              <a:rPr lang="en-US" sz="3150" dirty="0">
                <a:solidFill>
                  <a:srgbClr val="1E2933"/>
                </a:solidFill>
                <a:latin typeface="Arial" pitchFamily="34" charset="0"/>
                <a:ea typeface="Arial" pitchFamily="34" charset="-122"/>
                <a:cs typeface="Arial" pitchFamily="34" charset="-120"/>
              </a:rPr>
              <a:t>.</a:t>
            </a:r>
            <a:endParaRPr lang="en-US" sz="3150" dirty="0"/>
          </a:p>
        </p:txBody>
      </p:sp>
      <p:sp>
        <p:nvSpPr>
          <p:cNvPr id="6" name="Shape 4"/>
          <p:cNvSpPr/>
          <p:nvPr/>
        </p:nvSpPr>
        <p:spPr>
          <a:xfrm>
            <a:off x="1143000" y="9020175"/>
            <a:ext cx="16002000" cy="9525"/>
          </a:xfrm>
          <a:prstGeom prst="rect">
            <a:avLst/>
          </a:prstGeom>
          <a:solidFill>
            <a:srgbClr val="D5DBDF"/>
          </a:solidFill>
          <a:ln/>
        </p:spPr>
      </p:sp>
      <p:pic>
        <p:nvPicPr>
          <p:cNvPr id="7"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8" name="Text 5"/>
          <p:cNvSpPr/>
          <p:nvPr/>
        </p:nvSpPr>
        <p:spPr>
          <a:xfrm>
            <a:off x="16236404" y="9396413"/>
            <a:ext cx="984796"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02 / 23</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4093756"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0 · POURQUOI</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Pourquoi maintenant ?</a:t>
            </a:r>
            <a:endParaRPr lang="en-US" sz="5700" dirty="0"/>
          </a:p>
        </p:txBody>
      </p:sp>
      <p:sp>
        <p:nvSpPr>
          <p:cNvPr id="5" name="Shape 3"/>
          <p:cNvSpPr/>
          <p:nvPr/>
        </p:nvSpPr>
        <p:spPr>
          <a:xfrm>
            <a:off x="1143000" y="2642616"/>
            <a:ext cx="8869680" cy="3337560"/>
          </a:xfrm>
          <a:prstGeom prst="roundRect">
            <a:avLst>
              <a:gd name="adj" fmla="val 3994"/>
            </a:avLst>
          </a:prstGeom>
          <a:solidFill>
            <a:srgbClr val="FFFFFF"/>
          </a:solidFill>
          <a:ln w="9525">
            <a:solidFill>
              <a:srgbClr val="D5DBDF"/>
            </a:solidFill>
            <a:prstDash val="solid"/>
          </a:ln>
        </p:spPr>
      </p:sp>
      <p:sp>
        <p:nvSpPr>
          <p:cNvPr id="23" name="Oval 22"/>
          <p:cNvSpPr/>
          <p:nvPr/>
        </p:nvSpPr>
        <p:spPr>
          <a:xfrm>
            <a:off x="1458468" y="2912364"/>
            <a:ext cx="1243584" cy="1243584"/>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1640" y="3145536"/>
            <a:ext cx="777240" cy="777240"/>
          </a:xfrm>
          <a:prstGeom prst="rect">
            <a:avLst/>
          </a:prstGeom>
        </p:spPr>
      </p:pic>
      <p:sp>
        <p:nvSpPr>
          <p:cNvPr id="7" name="Text 4"/>
          <p:cNvSpPr/>
          <p:nvPr/>
        </p:nvSpPr>
        <p:spPr>
          <a:xfrm>
            <a:off x="1691640" y="4379976"/>
            <a:ext cx="7772400" cy="685800"/>
          </a:xfrm>
          <a:prstGeom prst="rect">
            <a:avLst/>
          </a:prstGeom>
          <a:noFill/>
          <a:ln/>
        </p:spPr>
        <p:txBody>
          <a:bodyPr wrap="square" lIns="25400" tIns="25400" rIns="25400" bIns="25400" rtlCol="0" anchor="t">
            <a:normAutofit/>
          </a:bodyPr>
          <a:lstStyle/>
          <a:p>
            <a:pPr marL="0" indent="0" algn="l">
              <a:buNone/>
            </a:pPr>
            <a:r>
              <a:rPr lang="en-US" sz="3200" b="1" dirty="0">
                <a:solidFill>
                  <a:srgbClr val="14304A"/>
                </a:solidFill>
                <a:latin typeface="Arial" pitchFamily="34" charset="0"/>
                <a:ea typeface="Arial" pitchFamily="34" charset="-122"/>
                <a:cs typeface="Arial" pitchFamily="34" charset="-120"/>
              </a:rPr>
              <a:t>Charge administrative</a:t>
            </a:r>
            <a:endParaRPr lang="en-US" sz="2550" dirty="0"/>
          </a:p>
        </p:txBody>
      </p:sp>
      <p:sp>
        <p:nvSpPr>
          <p:cNvPr id="8" name="Text 5"/>
          <p:cNvSpPr/>
          <p:nvPr/>
        </p:nvSpPr>
        <p:spPr>
          <a:xfrm>
            <a:off x="1691640" y="5202936"/>
            <a:ext cx="7589519" cy="411479"/>
          </a:xfrm>
          <a:prstGeom prst="rect">
            <a:avLst/>
          </a:prstGeom>
          <a:noFill/>
          <a:ln/>
        </p:spPr>
        <p:txBody>
          <a:bodyPr wrap="square" lIns="25400" tIns="25400" rIns="25400" bIns="25400" rtlCol="0" anchor="t">
            <a:normAutofit/>
          </a:bodyPr>
          <a:lstStyle/>
          <a:p>
            <a:pPr marL="0" indent="0" algn="l">
              <a:lnSpc>
                <a:spcPct val="140000"/>
              </a:lnSpc>
              <a:buNone/>
            </a:pPr>
            <a:r>
              <a:rPr lang="en-US" sz="1900" dirty="0">
                <a:solidFill>
                  <a:srgbClr val="1E2933"/>
                </a:solidFill>
                <a:latin typeface="Arial" pitchFamily="34" charset="0"/>
                <a:ea typeface="Arial" pitchFamily="34" charset="-122"/>
                <a:cs typeface="Arial" pitchFamily="34" charset="-120"/>
              </a:rPr>
              <a:t>Une part croissante du temps absorbée par les tâches répétitives.</a:t>
            </a:r>
            <a:endParaRPr lang="en-US" sz="2100" dirty="0"/>
          </a:p>
        </p:txBody>
      </p:sp>
      <p:sp>
        <p:nvSpPr>
          <p:cNvPr id="9" name="Shape 6"/>
          <p:cNvSpPr/>
          <p:nvPr/>
        </p:nvSpPr>
        <p:spPr>
          <a:xfrm>
            <a:off x="10378440" y="2642616"/>
            <a:ext cx="6766560" cy="1572768"/>
          </a:xfrm>
          <a:prstGeom prst="roundRect">
            <a:avLst>
              <a:gd name="adj" fmla="val 3994"/>
            </a:avLst>
          </a:prstGeom>
          <a:solidFill>
            <a:srgbClr val="FFFFFF"/>
          </a:solidFill>
          <a:ln w="9525">
            <a:solidFill>
              <a:srgbClr val="D5DBDF"/>
            </a:solidFill>
            <a:prstDash val="solid"/>
          </a:ln>
        </p:spPr>
      </p:sp>
      <p:sp>
        <p:nvSpPr>
          <p:cNvPr id="24" name="Oval 23"/>
          <p:cNvSpPr/>
          <p:nvPr/>
        </p:nvSpPr>
        <p:spPr>
          <a:xfrm>
            <a:off x="10652759" y="3063240"/>
            <a:ext cx="731520" cy="731520"/>
          </a:xfrm>
          <a:prstGeom prst="ellipse">
            <a:avLst/>
          </a:prstGeom>
          <a:solidFill>
            <a:srgbClr val="14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9919" y="3200400"/>
            <a:ext cx="457200" cy="457200"/>
          </a:xfrm>
          <a:prstGeom prst="rect">
            <a:avLst/>
          </a:prstGeom>
        </p:spPr>
      </p:pic>
      <p:sp>
        <p:nvSpPr>
          <p:cNvPr id="11" name="Text 7"/>
          <p:cNvSpPr/>
          <p:nvPr/>
        </p:nvSpPr>
        <p:spPr>
          <a:xfrm>
            <a:off x="11612880" y="2862072"/>
            <a:ext cx="5257800" cy="457200"/>
          </a:xfrm>
          <a:prstGeom prst="rect">
            <a:avLst/>
          </a:prstGeom>
          <a:noFill/>
          <a:ln/>
        </p:spPr>
        <p:txBody>
          <a:bodyPr wrap="square" lIns="25400" tIns="25400" rIns="25400" bIns="25400" rtlCol="0" anchor="t">
            <a:normAutofit/>
          </a:bodyPr>
          <a:lstStyle/>
          <a:p>
            <a:pPr marL="0" indent="0" algn="l">
              <a:buNone/>
            </a:pPr>
            <a:r>
              <a:rPr lang="en-US" sz="1700" b="1" dirty="0">
                <a:solidFill>
                  <a:srgbClr val="14304A"/>
                </a:solidFill>
                <a:latin typeface="Arial" pitchFamily="34" charset="0"/>
                <a:ea typeface="Arial" pitchFamily="34" charset="-122"/>
                <a:cs typeface="Arial" pitchFamily="34" charset="-120"/>
              </a:rPr>
              <a:t>Exigences qualité</a:t>
            </a:r>
            <a:endParaRPr lang="en-US" sz="2550" dirty="0"/>
          </a:p>
        </p:txBody>
      </p:sp>
      <p:sp>
        <p:nvSpPr>
          <p:cNvPr id="12" name="Text 8"/>
          <p:cNvSpPr/>
          <p:nvPr/>
        </p:nvSpPr>
        <p:spPr>
          <a:xfrm>
            <a:off x="11612880" y="3300984"/>
            <a:ext cx="5257800" cy="749808"/>
          </a:xfrm>
          <a:prstGeom prst="rect">
            <a:avLst/>
          </a:prstGeom>
          <a:noFill/>
          <a:ln/>
        </p:spPr>
        <p:txBody>
          <a:bodyPr wrap="square" lIns="25400" tIns="25400" rIns="25400" bIns="25400" rtlCol="0" anchor="t">
            <a:normAutofit/>
          </a:bodyPr>
          <a:lstStyle/>
          <a:p>
            <a:pPr marL="0" indent="0" algn="l">
              <a:lnSpc>
                <a:spcPct val="140000"/>
              </a:lnSpc>
              <a:buNone/>
            </a:pPr>
            <a:r>
              <a:rPr lang="en-US" sz="1300" dirty="0">
                <a:solidFill>
                  <a:srgbClr val="1E2933"/>
                </a:solidFill>
                <a:latin typeface="Arial" pitchFamily="34" charset="0"/>
                <a:ea typeface="Arial" pitchFamily="34" charset="-122"/>
                <a:cs typeface="Arial" pitchFamily="34" charset="-120"/>
              </a:rPr>
              <a:t>Un cadre toujours plus précis : ISO 15189, COFRAC.</a:t>
            </a:r>
            <a:endParaRPr lang="en-US" sz="2100" dirty="0"/>
          </a:p>
        </p:txBody>
      </p:sp>
      <p:sp>
        <p:nvSpPr>
          <p:cNvPr id="13" name="Shape 9"/>
          <p:cNvSpPr/>
          <p:nvPr/>
        </p:nvSpPr>
        <p:spPr>
          <a:xfrm>
            <a:off x="10378440" y="4407408"/>
            <a:ext cx="6766560" cy="1572768"/>
          </a:xfrm>
          <a:prstGeom prst="roundRect">
            <a:avLst>
              <a:gd name="adj" fmla="val 3994"/>
            </a:avLst>
          </a:prstGeom>
          <a:solidFill>
            <a:srgbClr val="FFFFFF"/>
          </a:solidFill>
          <a:ln w="9525">
            <a:solidFill>
              <a:srgbClr val="D5DBDF"/>
            </a:solidFill>
            <a:prstDash val="solid"/>
          </a:ln>
        </p:spPr>
      </p:sp>
      <p:sp>
        <p:nvSpPr>
          <p:cNvPr id="25" name="Oval 24"/>
          <p:cNvSpPr/>
          <p:nvPr/>
        </p:nvSpPr>
        <p:spPr>
          <a:xfrm>
            <a:off x="10652759" y="4828032"/>
            <a:ext cx="731520" cy="73152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789919" y="4965192"/>
            <a:ext cx="457200" cy="457200"/>
          </a:xfrm>
          <a:prstGeom prst="rect">
            <a:avLst/>
          </a:prstGeom>
        </p:spPr>
      </p:pic>
      <p:sp>
        <p:nvSpPr>
          <p:cNvPr id="15" name="Text 10"/>
          <p:cNvSpPr/>
          <p:nvPr/>
        </p:nvSpPr>
        <p:spPr>
          <a:xfrm>
            <a:off x="11612880" y="4626864"/>
            <a:ext cx="5257800" cy="457200"/>
          </a:xfrm>
          <a:prstGeom prst="rect">
            <a:avLst/>
          </a:prstGeom>
          <a:noFill/>
          <a:ln/>
        </p:spPr>
        <p:txBody>
          <a:bodyPr wrap="square" lIns="25400" tIns="25400" rIns="25400" bIns="25400" rtlCol="0" anchor="t">
            <a:normAutofit/>
          </a:bodyPr>
          <a:lstStyle/>
          <a:p>
            <a:pPr marL="0" indent="0" algn="l">
              <a:buNone/>
            </a:pPr>
            <a:r>
              <a:rPr lang="en-US" sz="1700" b="1" dirty="0">
                <a:solidFill>
                  <a:srgbClr val="14304A"/>
                </a:solidFill>
                <a:latin typeface="Arial" pitchFamily="34" charset="0"/>
                <a:ea typeface="Arial" pitchFamily="34" charset="-122"/>
                <a:cs typeface="Arial" pitchFamily="34" charset="-120"/>
              </a:rPr>
              <a:t>Des outils enfin mûrs</a:t>
            </a:r>
            <a:endParaRPr lang="en-US" sz="2550" dirty="0"/>
          </a:p>
        </p:txBody>
      </p:sp>
      <p:sp>
        <p:nvSpPr>
          <p:cNvPr id="16" name="Text 11"/>
          <p:cNvSpPr/>
          <p:nvPr/>
        </p:nvSpPr>
        <p:spPr>
          <a:xfrm>
            <a:off x="11612880" y="5065776"/>
            <a:ext cx="5257800" cy="749807"/>
          </a:xfrm>
          <a:prstGeom prst="rect">
            <a:avLst/>
          </a:prstGeom>
          <a:noFill/>
          <a:ln/>
        </p:spPr>
        <p:txBody>
          <a:bodyPr wrap="square" lIns="25400" tIns="25400" rIns="25400" bIns="25400" rtlCol="0" anchor="t">
            <a:normAutofit/>
          </a:bodyPr>
          <a:lstStyle/>
          <a:p>
            <a:pPr marL="0" indent="0" algn="l">
              <a:lnSpc>
                <a:spcPct val="140000"/>
              </a:lnSpc>
              <a:buNone/>
            </a:pPr>
            <a:r>
              <a:rPr lang="en-US" sz="1300" dirty="0">
                <a:solidFill>
                  <a:srgbClr val="1E2933"/>
                </a:solidFill>
                <a:latin typeface="Arial" pitchFamily="34" charset="0"/>
                <a:ea typeface="Arial" pitchFamily="34" charset="-122"/>
                <a:cs typeface="Arial" pitchFamily="34" charset="-120"/>
              </a:rPr>
              <a:t>La technologie est désormais assez fiable pour vraiment aider.</a:t>
            </a:r>
            <a:endParaRPr lang="en-US" sz="2100" dirty="0"/>
          </a:p>
        </p:txBody>
      </p:sp>
      <p:sp>
        <p:nvSpPr>
          <p:cNvPr id="17" name="Shape 12"/>
          <p:cNvSpPr/>
          <p:nvPr/>
        </p:nvSpPr>
        <p:spPr>
          <a:xfrm>
            <a:off x="1143000" y="6473130"/>
            <a:ext cx="12201525" cy="992386"/>
          </a:xfrm>
          <a:prstGeom prst="roundRect">
            <a:avLst>
              <a:gd name="adj" fmla="val 9598"/>
            </a:avLst>
          </a:prstGeom>
          <a:solidFill>
            <a:srgbClr val="FBEDE7"/>
          </a:solidFill>
          <a:ln/>
        </p:spPr>
      </p:sp>
      <p:sp>
        <p:nvSpPr>
          <p:cNvPr id="18" name="Shape 13"/>
          <p:cNvSpPr/>
          <p:nvPr/>
        </p:nvSpPr>
        <p:spPr>
          <a:xfrm>
            <a:off x="1143000" y="6473130"/>
            <a:ext cx="47625" cy="992386"/>
          </a:xfrm>
          <a:prstGeom prst="rect">
            <a:avLst/>
          </a:prstGeom>
          <a:solidFill>
            <a:srgbClr val="C0623F"/>
          </a:solidFill>
          <a:ln/>
        </p:spPr>
      </p:sp>
      <p:sp>
        <p:nvSpPr>
          <p:cNvPr id="19" name="Text 14"/>
          <p:cNvSpPr/>
          <p:nvPr/>
        </p:nvSpPr>
        <p:spPr>
          <a:xfrm>
            <a:off x="1552575" y="6758880"/>
            <a:ext cx="10376163" cy="4589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C0623F"/>
                </a:solidFill>
                <a:latin typeface="Arial" pitchFamily="34" charset="0"/>
                <a:ea typeface="Arial" pitchFamily="34" charset="-122"/>
                <a:cs typeface="Arial" pitchFamily="34" charset="-120"/>
              </a:rPr>
              <a:t>Décharger le répétitif </a:t>
            </a:r>
            <a:r>
              <a:rPr lang="en-US" sz="2400" dirty="0">
                <a:solidFill>
                  <a:srgbClr val="1E2933"/>
                </a:solidFill>
                <a:latin typeface="Arial" pitchFamily="34" charset="0"/>
                <a:ea typeface="Arial" pitchFamily="34" charset="-122"/>
                <a:cs typeface="Arial" pitchFamily="34" charset="-120"/>
              </a:rPr>
              <a:t>pour rendre du temps au métier et au patient.</a:t>
            </a:r>
            <a:endParaRPr lang="en-US" sz="2400" dirty="0"/>
          </a:p>
        </p:txBody>
      </p:sp>
      <p:sp>
        <p:nvSpPr>
          <p:cNvPr id="20" name="Shape 15"/>
          <p:cNvSpPr/>
          <p:nvPr/>
        </p:nvSpPr>
        <p:spPr>
          <a:xfrm>
            <a:off x="1143000" y="9020175"/>
            <a:ext cx="16002000" cy="9525"/>
          </a:xfrm>
          <a:prstGeom prst="rect">
            <a:avLst/>
          </a:prstGeom>
          <a:solidFill>
            <a:srgbClr val="D5DBDF"/>
          </a:solidFill>
          <a:ln/>
        </p:spPr>
      </p:sp>
      <p:pic>
        <p:nvPicPr>
          <p:cNvPr id="21" name="Image 3" descr="preencoded.png"/>
          <p:cNvPicPr>
            <a:picLocks noChangeAspect="1"/>
          </p:cNvPicPr>
          <p:nvPr/>
        </p:nvPicPr>
        <p:blipFill>
          <a:blip r:embed="rId9"/>
          <a:stretch>
            <a:fillRect/>
          </a:stretch>
        </p:blipFill>
        <p:spPr>
          <a:xfrm>
            <a:off x="1143000" y="9239250"/>
            <a:ext cx="393204" cy="590550"/>
          </a:xfrm>
          <a:prstGeom prst="rect">
            <a:avLst/>
          </a:prstGeom>
        </p:spPr>
      </p:pic>
      <p:sp>
        <p:nvSpPr>
          <p:cNvPr id="22" name="Text 16"/>
          <p:cNvSpPr/>
          <p:nvPr/>
        </p:nvSpPr>
        <p:spPr>
          <a:xfrm>
            <a:off x="16234618" y="9396413"/>
            <a:ext cx="986582"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03 / 23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4A"/>
        </a:solidFill>
        <a:effectLst/>
      </p:bgPr>
    </p:bg>
    <p:spTree>
      <p:nvGrpSpPr>
        <p:cNvPr id="1" name=""/>
        <p:cNvGrpSpPr/>
        <p:nvPr/>
      </p:nvGrpSpPr>
      <p:grpSpPr>
        <a:xfrm>
          <a:off x="0" y="0"/>
          <a:ext cx="0" cy="0"/>
          <a:chOff x="0" y="0"/>
          <a:chExt cx="0" cy="0"/>
        </a:xfrm>
      </p:grpSpPr>
      <p:sp>
        <p:nvSpPr>
          <p:cNvPr id="2" name="Rectangle 1"/>
          <p:cNvSpPr/>
          <p:nvPr/>
        </p:nvSpPr>
        <p:spPr>
          <a:xfrm>
            <a:off x="1143000" y="1042415"/>
            <a:ext cx="457200" cy="36576"/>
          </a:xfrm>
          <a:prstGeom prst="rect">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737360" y="868680"/>
            <a:ext cx="9144000" cy="365760"/>
          </a:xfrm>
          <a:prstGeom prst="rect">
            <a:avLst/>
          </a:prstGeom>
          <a:noFill/>
        </p:spPr>
        <p:txBody>
          <a:bodyPr wrap="none">
            <a:spAutoFit/>
          </a:bodyPr>
          <a:lstStyle/>
          <a:p>
            <a:r>
              <a:rPr sz="1600" b="1">
                <a:solidFill>
                  <a:srgbClr val="C0623F"/>
                </a:solidFill>
                <a:latin typeface="Arial"/>
              </a:rPr>
              <a:t>SÉQUENCE 0 · POURQUOI</a:t>
            </a:r>
          </a:p>
        </p:txBody>
      </p:sp>
      <p:sp>
        <p:nvSpPr>
          <p:cNvPr id="4" name="Rectangle 3"/>
          <p:cNvSpPr/>
          <p:nvPr/>
        </p:nvSpPr>
        <p:spPr>
          <a:xfrm>
            <a:off x="1143000" y="3200400"/>
            <a:ext cx="118872" cy="3749039"/>
          </a:xfrm>
          <a:prstGeom prst="rect">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108960"/>
            <a:ext cx="15179040" cy="3931920"/>
          </a:xfrm>
          <a:prstGeom prst="rect">
            <a:avLst/>
          </a:prstGeom>
          <a:noFill/>
        </p:spPr>
        <p:txBody>
          <a:bodyPr wrap="square" anchor="ctr">
            <a:normAutofit/>
          </a:bodyPr>
          <a:lstStyle/>
          <a:p>
            <a:r>
              <a:rPr sz="8600" b="1">
                <a:solidFill>
                  <a:srgbClr val="FFFFFF"/>
                </a:solidFill>
                <a:latin typeface="Arial"/>
              </a:rPr>
              <a:t>Un outil à double tranchant.</a:t>
            </a:r>
          </a:p>
        </p:txBody>
      </p:sp>
      <p:sp>
        <p:nvSpPr>
          <p:cNvPr id="6" name="TextBox 5"/>
          <p:cNvSpPr txBox="1"/>
          <p:nvPr/>
        </p:nvSpPr>
        <p:spPr>
          <a:xfrm>
            <a:off x="16093440" y="9400032"/>
            <a:ext cx="1143000" cy="310896"/>
          </a:xfrm>
          <a:prstGeom prst="rect">
            <a:avLst/>
          </a:prstGeom>
          <a:noFill/>
        </p:spPr>
        <p:txBody>
          <a:bodyPr wrap="none">
            <a:spAutoFit/>
          </a:bodyPr>
          <a:lstStyle/>
          <a:p>
            <a:pPr algn="r"/>
            <a:r>
              <a:rPr sz="1100">
                <a:solidFill>
                  <a:srgbClr val="F7F2EA"/>
                </a:solidFill>
                <a:latin typeface="Arial"/>
              </a:rPr>
              <a:t>04 / 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4235038"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1 · C'EST QUOI</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L'IA générative, c'est quoi ?</a:t>
            </a:r>
            <a:endParaRPr lang="en-US" sz="5700" dirty="0"/>
          </a:p>
        </p:txBody>
      </p:sp>
      <p:sp>
        <p:nvSpPr>
          <p:cNvPr id="5" name="Text 3"/>
          <p:cNvSpPr/>
          <p:nvPr/>
        </p:nvSpPr>
        <p:spPr>
          <a:xfrm>
            <a:off x="1143000" y="2676823"/>
            <a:ext cx="14519910" cy="1127522"/>
          </a:xfrm>
          <a:prstGeom prst="rect">
            <a:avLst/>
          </a:prstGeom>
          <a:noFill/>
          <a:ln/>
        </p:spPr>
        <p:txBody>
          <a:bodyPr wrap="square" lIns="25400" tIns="25400" rIns="25400" bIns="25400" rtlCol="0" anchor="t">
            <a:normAutofit/>
          </a:bodyPr>
          <a:lstStyle/>
          <a:p>
            <a:pPr marL="0" indent="0" algn="l">
              <a:lnSpc>
                <a:spcPct val="135000"/>
              </a:lnSpc>
              <a:buNone/>
            </a:pPr>
            <a:r>
              <a:rPr lang="en-US" sz="3150" dirty="0">
                <a:solidFill>
                  <a:srgbClr val="1E2933"/>
                </a:solidFill>
                <a:latin typeface="Arial" pitchFamily="34" charset="0"/>
                <a:ea typeface="Arial" pitchFamily="34" charset="-122"/>
                <a:cs typeface="Arial" pitchFamily="34" charset="-120"/>
              </a:rPr>
              <a:t>Un outil qui </a:t>
            </a:r>
            <a:r>
              <a:rPr lang="en-US" sz="3150" b="1" dirty="0">
                <a:solidFill>
                  <a:srgbClr val="14304A"/>
                </a:solidFill>
                <a:latin typeface="Arial" pitchFamily="34" charset="0"/>
                <a:ea typeface="Arial" pitchFamily="34" charset="-122"/>
                <a:cs typeface="Arial" pitchFamily="34" charset="-120"/>
              </a:rPr>
              <a:t>prédit du texte plausible </a:t>
            </a:r>
            <a:r>
              <a:rPr lang="en-US" sz="3150" dirty="0">
                <a:solidFill>
                  <a:srgbClr val="1E2933"/>
                </a:solidFill>
                <a:latin typeface="Arial" pitchFamily="34" charset="0"/>
                <a:ea typeface="Arial" pitchFamily="34" charset="-122"/>
                <a:cs typeface="Arial" pitchFamily="34" charset="-120"/>
              </a:rPr>
              <a:t>, pas une base de connaissances vérifiée.</a:t>
            </a:r>
            <a:endParaRPr lang="en-US" sz="3150" dirty="0"/>
          </a:p>
        </p:txBody>
      </p:sp>
      <p:sp>
        <p:nvSpPr>
          <p:cNvPr id="6" name="Shape 4"/>
          <p:cNvSpPr/>
          <p:nvPr/>
        </p:nvSpPr>
        <p:spPr>
          <a:xfrm>
            <a:off x="1143000" y="4432995"/>
            <a:ext cx="4565600" cy="2709863"/>
          </a:xfrm>
          <a:prstGeom prst="roundRect">
            <a:avLst>
              <a:gd name="adj" fmla="val 4921"/>
            </a:avLst>
          </a:prstGeom>
          <a:solidFill>
            <a:srgbClr val="FFFFFF"/>
          </a:solidFill>
          <a:ln w="9525">
            <a:solidFill>
              <a:srgbClr val="D5DBDF"/>
            </a:solidFill>
            <a:prstDash val="solid"/>
          </a:ln>
        </p:spPr>
      </p:sp>
      <p:sp>
        <p:nvSpPr>
          <p:cNvPr id="25" name="Oval 24"/>
          <p:cNvSpPr/>
          <p:nvPr/>
        </p:nvSpPr>
        <p:spPr>
          <a:xfrm>
            <a:off x="2983766" y="4657785"/>
            <a:ext cx="883920" cy="88392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49501" y="4823520"/>
            <a:ext cx="552450" cy="552450"/>
          </a:xfrm>
          <a:prstGeom prst="rect">
            <a:avLst/>
          </a:prstGeom>
        </p:spPr>
      </p:pic>
      <p:sp>
        <p:nvSpPr>
          <p:cNvPr id="8" name="Text 5"/>
          <p:cNvSpPr/>
          <p:nvPr/>
        </p:nvSpPr>
        <p:spPr>
          <a:xfrm>
            <a:off x="2493712" y="5566470"/>
            <a:ext cx="1864176" cy="390525"/>
          </a:xfrm>
          <a:prstGeom prst="rect">
            <a:avLst/>
          </a:prstGeom>
          <a:noFill/>
          <a:ln/>
        </p:spPr>
        <p:txBody>
          <a:bodyPr wrap="square" lIns="25400" tIns="25400" rIns="25400" bIns="25400" rtlCol="0" anchor="t">
            <a:normAutofit lnSpcReduction="10000"/>
          </a:bodyPr>
          <a:lstStyle/>
          <a:p>
            <a:pPr marL="0" indent="0" algn="ctr">
              <a:buNone/>
            </a:pPr>
            <a:r>
              <a:rPr lang="en-US" sz="2400" b="1" dirty="0">
                <a:solidFill>
                  <a:srgbClr val="14304A"/>
                </a:solidFill>
                <a:latin typeface="Arial" pitchFamily="34" charset="0"/>
                <a:ea typeface="Arial" pitchFamily="34" charset="-122"/>
                <a:cs typeface="Arial" pitchFamily="34" charset="-120"/>
              </a:rPr>
              <a:t>La demande</a:t>
            </a:r>
            <a:endParaRPr lang="en-US" sz="2400" dirty="0"/>
          </a:p>
        </p:txBody>
      </p:sp>
      <p:sp>
        <p:nvSpPr>
          <p:cNvPr id="9" name="Text 6"/>
          <p:cNvSpPr/>
          <p:nvPr/>
        </p:nvSpPr>
        <p:spPr>
          <a:xfrm>
            <a:off x="1437514" y="6109395"/>
            <a:ext cx="3976573" cy="681038"/>
          </a:xfrm>
          <a:prstGeom prst="rect">
            <a:avLst/>
          </a:prstGeom>
          <a:noFill/>
          <a:ln/>
        </p:spPr>
        <p:txBody>
          <a:bodyPr wrap="square" lIns="25400" tIns="25400" rIns="25400" bIns="25400" rtlCol="0" anchor="t">
            <a:normAutofit/>
          </a:bodyPr>
          <a:lstStyle/>
          <a:p>
            <a:pPr marL="0" indent="0" algn="ctr">
              <a:lnSpc>
                <a:spcPct val="135000"/>
              </a:lnSpc>
              <a:buNone/>
            </a:pPr>
            <a:r>
              <a:rPr lang="en-US" sz="1875" dirty="0">
                <a:solidFill>
                  <a:srgbClr val="5B6B79"/>
                </a:solidFill>
                <a:latin typeface="Arial" pitchFamily="34" charset="0"/>
                <a:ea typeface="Arial" pitchFamily="34" charset="-122"/>
                <a:cs typeface="Arial" pitchFamily="34" charset="-120"/>
              </a:rPr>
              <a:t>Ce que vous écrivez (le « prompt »)</a:t>
            </a:r>
            <a:endParaRPr lang="en-US" sz="1875" dirty="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4350" y="5597426"/>
            <a:ext cx="590550" cy="381000"/>
          </a:xfrm>
          <a:prstGeom prst="rect">
            <a:avLst/>
          </a:prstGeom>
        </p:spPr>
      </p:pic>
      <p:sp>
        <p:nvSpPr>
          <p:cNvPr id="11" name="Shape 7"/>
          <p:cNvSpPr/>
          <p:nvPr/>
        </p:nvSpPr>
        <p:spPr>
          <a:xfrm>
            <a:off x="6870650" y="4603254"/>
            <a:ext cx="4546699" cy="2369344"/>
          </a:xfrm>
          <a:prstGeom prst="roundRect">
            <a:avLst>
              <a:gd name="adj" fmla="val 5628"/>
            </a:avLst>
          </a:prstGeom>
          <a:solidFill>
            <a:srgbClr val="14304A"/>
          </a:solidFill>
          <a:ln/>
        </p:spPr>
      </p:sp>
      <p:sp>
        <p:nvSpPr>
          <p:cNvPr id="26" name="Oval 25"/>
          <p:cNvSpPr/>
          <p:nvPr/>
        </p:nvSpPr>
        <p:spPr>
          <a:xfrm>
            <a:off x="8702040" y="4818519"/>
            <a:ext cx="883920" cy="88392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67775" y="4984254"/>
            <a:ext cx="552450" cy="552450"/>
          </a:xfrm>
          <a:prstGeom prst="rect">
            <a:avLst/>
          </a:prstGeom>
        </p:spPr>
      </p:pic>
      <p:sp>
        <p:nvSpPr>
          <p:cNvPr id="13" name="Text 8"/>
          <p:cNvSpPr/>
          <p:nvPr/>
        </p:nvSpPr>
        <p:spPr>
          <a:xfrm>
            <a:off x="8361134" y="5727204"/>
            <a:ext cx="1565731" cy="390525"/>
          </a:xfrm>
          <a:prstGeom prst="rect">
            <a:avLst/>
          </a:prstGeom>
          <a:noFill/>
          <a:ln/>
        </p:spPr>
        <p:txBody>
          <a:bodyPr wrap="square" lIns="25400" tIns="25400" rIns="25400" bIns="25400" rtlCol="0" anchor="t">
            <a:normAutofit lnSpcReduction="10000"/>
          </a:bodyPr>
          <a:lstStyle/>
          <a:p>
            <a:pPr marL="0" indent="0" algn="ctr">
              <a:buNone/>
            </a:pPr>
            <a:r>
              <a:rPr lang="en-US" sz="2400" b="1" dirty="0">
                <a:solidFill>
                  <a:srgbClr val="FFFFFF"/>
                </a:solidFill>
                <a:latin typeface="Arial" pitchFamily="34" charset="0"/>
                <a:ea typeface="Arial" pitchFamily="34" charset="-122"/>
                <a:cs typeface="Arial" pitchFamily="34" charset="-120"/>
              </a:rPr>
              <a:t>Le modèle</a:t>
            </a:r>
            <a:endParaRPr lang="en-US" sz="2400" dirty="0"/>
          </a:p>
        </p:txBody>
      </p:sp>
      <p:sp>
        <p:nvSpPr>
          <p:cNvPr id="14" name="Text 9"/>
          <p:cNvSpPr/>
          <p:nvPr/>
        </p:nvSpPr>
        <p:spPr>
          <a:xfrm>
            <a:off x="7184060" y="6270129"/>
            <a:ext cx="3919731" cy="359569"/>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1875" dirty="0">
                <a:solidFill>
                  <a:srgbClr val="C7D2DB"/>
                </a:solidFill>
                <a:latin typeface="Arial" pitchFamily="34" charset="0"/>
                <a:ea typeface="Arial" pitchFamily="34" charset="-122"/>
                <a:cs typeface="Arial" pitchFamily="34" charset="-120"/>
              </a:rPr>
              <a:t>Calcule la suite la plus probable</a:t>
            </a:r>
            <a:endParaRPr lang="en-US" sz="1875" dirty="0"/>
          </a:p>
        </p:txBody>
      </p:sp>
      <p:pic>
        <p:nvPicPr>
          <p:cNvPr id="15" name="Image 3" descr="preencoded.png"/>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11703100" y="5597426"/>
            <a:ext cx="590550" cy="381000"/>
          </a:xfrm>
          <a:prstGeom prst="rect">
            <a:avLst/>
          </a:prstGeom>
        </p:spPr>
      </p:pic>
      <p:sp>
        <p:nvSpPr>
          <p:cNvPr id="16" name="Shape 10"/>
          <p:cNvSpPr/>
          <p:nvPr/>
        </p:nvSpPr>
        <p:spPr>
          <a:xfrm>
            <a:off x="12579400" y="4593729"/>
            <a:ext cx="4565600" cy="2388394"/>
          </a:xfrm>
          <a:prstGeom prst="roundRect">
            <a:avLst>
              <a:gd name="adj" fmla="val 5583"/>
            </a:avLst>
          </a:prstGeom>
          <a:solidFill>
            <a:srgbClr val="FFFFFF"/>
          </a:solidFill>
          <a:ln w="9525">
            <a:solidFill>
              <a:srgbClr val="D5DBDF"/>
            </a:solidFill>
            <a:prstDash val="solid"/>
          </a:ln>
        </p:spPr>
      </p:sp>
      <p:sp>
        <p:nvSpPr>
          <p:cNvPr id="27" name="Oval 26"/>
          <p:cNvSpPr/>
          <p:nvPr/>
        </p:nvSpPr>
        <p:spPr>
          <a:xfrm>
            <a:off x="14420165" y="4818519"/>
            <a:ext cx="883920" cy="88392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585900" y="4984254"/>
            <a:ext cx="552450" cy="552450"/>
          </a:xfrm>
          <a:prstGeom prst="rect">
            <a:avLst/>
          </a:prstGeom>
        </p:spPr>
      </p:pic>
      <p:sp>
        <p:nvSpPr>
          <p:cNvPr id="18" name="Text 11"/>
          <p:cNvSpPr/>
          <p:nvPr/>
        </p:nvSpPr>
        <p:spPr>
          <a:xfrm>
            <a:off x="13538842" y="5727204"/>
            <a:ext cx="2646715" cy="390525"/>
          </a:xfrm>
          <a:prstGeom prst="rect">
            <a:avLst/>
          </a:prstGeom>
          <a:noFill/>
          <a:ln/>
        </p:spPr>
        <p:txBody>
          <a:bodyPr wrap="square" lIns="25400" tIns="25400" rIns="25400" bIns="25400" rtlCol="0" anchor="t">
            <a:normAutofit lnSpcReduction="10000"/>
          </a:bodyPr>
          <a:lstStyle/>
          <a:p>
            <a:pPr marL="0" indent="0" algn="ctr">
              <a:buNone/>
            </a:pPr>
            <a:r>
              <a:rPr lang="en-US" sz="2400" b="1" dirty="0">
                <a:solidFill>
                  <a:srgbClr val="14304A"/>
                </a:solidFill>
                <a:latin typeface="Arial" pitchFamily="34" charset="0"/>
                <a:ea typeface="Arial" pitchFamily="34" charset="-122"/>
                <a:cs typeface="Arial" pitchFamily="34" charset="-120"/>
              </a:rPr>
              <a:t>Un texte probable</a:t>
            </a:r>
            <a:endParaRPr lang="en-US" sz="2400" dirty="0"/>
          </a:p>
        </p:txBody>
      </p:sp>
      <p:sp>
        <p:nvSpPr>
          <p:cNvPr id="19" name="Text 12"/>
          <p:cNvSpPr/>
          <p:nvPr/>
        </p:nvSpPr>
        <p:spPr>
          <a:xfrm>
            <a:off x="13145616" y="6270129"/>
            <a:ext cx="3433018" cy="359569"/>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1875" dirty="0">
                <a:solidFill>
                  <a:srgbClr val="5B6B79"/>
                </a:solidFill>
                <a:latin typeface="Arial" pitchFamily="34" charset="0"/>
                <a:ea typeface="Arial" pitchFamily="34" charset="-122"/>
                <a:cs typeface="Arial" pitchFamily="34" charset="-120"/>
              </a:rPr>
              <a:t>Plausible, à vérifier toujours</a:t>
            </a:r>
            <a:endParaRPr lang="en-US" sz="1875" dirty="0"/>
          </a:p>
        </p:txBody>
      </p:sp>
      <p:sp>
        <p:nvSpPr>
          <p:cNvPr id="20" name="Shape 13"/>
          <p:cNvSpPr/>
          <p:nvPr/>
        </p:nvSpPr>
        <p:spPr>
          <a:xfrm>
            <a:off x="1143000" y="7804845"/>
            <a:ext cx="323850" cy="19050"/>
          </a:xfrm>
          <a:prstGeom prst="rect">
            <a:avLst/>
          </a:prstGeom>
          <a:solidFill>
            <a:srgbClr val="14304A"/>
          </a:solidFill>
          <a:ln/>
        </p:spPr>
      </p:sp>
      <p:sp>
        <p:nvSpPr>
          <p:cNvPr id="21" name="Text 14"/>
          <p:cNvSpPr/>
          <p:nvPr/>
        </p:nvSpPr>
        <p:spPr>
          <a:xfrm>
            <a:off x="1600200" y="7676257"/>
            <a:ext cx="6809274" cy="314325"/>
          </a:xfrm>
          <a:prstGeom prst="rect">
            <a:avLst/>
          </a:prstGeom>
          <a:noFill/>
          <a:ln/>
        </p:spPr>
        <p:txBody>
          <a:bodyPr wrap="square" lIns="0" tIns="0" rIns="0" bIns="0" rtlCol="0" anchor="t">
            <a:normAutofit/>
          </a:bodyPr>
          <a:lstStyle/>
          <a:p>
            <a:pPr marL="0" indent="0" algn="l">
              <a:buNone/>
            </a:pPr>
            <a:r>
              <a:rPr lang="en-US" sz="1800" dirty="0">
                <a:solidFill>
                  <a:srgbClr val="8A9097"/>
                </a:solidFill>
                <a:latin typeface="Arial" pitchFamily="34" charset="0"/>
                <a:ea typeface="Arial" pitchFamily="34" charset="-122"/>
                <a:cs typeface="Arial" pitchFamily="34" charset="-120"/>
              </a:rPr>
              <a:t>Le sens des flèches : déroulé de la demande vers la réponse.</a:t>
            </a:r>
            <a:endParaRPr lang="en-US" sz="1800" dirty="0"/>
          </a:p>
        </p:txBody>
      </p:sp>
      <p:sp>
        <p:nvSpPr>
          <p:cNvPr id="22" name="Shape 15"/>
          <p:cNvSpPr/>
          <p:nvPr/>
        </p:nvSpPr>
        <p:spPr>
          <a:xfrm>
            <a:off x="1143000" y="9020175"/>
            <a:ext cx="16002000" cy="9525"/>
          </a:xfrm>
          <a:prstGeom prst="rect">
            <a:avLst/>
          </a:prstGeom>
          <a:solidFill>
            <a:srgbClr val="D5DBDF"/>
          </a:solidFill>
          <a:ln/>
        </p:spPr>
      </p:sp>
      <p:pic>
        <p:nvPicPr>
          <p:cNvPr id="23" name="Image 5" descr="preencoded.png"/>
          <p:cNvPicPr>
            <a:picLocks noChangeAspect="1"/>
          </p:cNvPicPr>
          <p:nvPr/>
        </p:nvPicPr>
        <p:blipFill>
          <a:blip r:embed="rId12"/>
          <a:stretch>
            <a:fillRect/>
          </a:stretch>
        </p:blipFill>
        <p:spPr>
          <a:xfrm>
            <a:off x="1143000" y="9239250"/>
            <a:ext cx="393204" cy="590550"/>
          </a:xfrm>
          <a:prstGeom prst="rect">
            <a:avLst/>
          </a:prstGeom>
        </p:spPr>
      </p:pic>
      <p:sp>
        <p:nvSpPr>
          <p:cNvPr id="24" name="Text 16"/>
          <p:cNvSpPr/>
          <p:nvPr/>
        </p:nvSpPr>
        <p:spPr>
          <a:xfrm>
            <a:off x="16240125" y="9396413"/>
            <a:ext cx="981075"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05 / 23</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4235038"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1 · C'EST QUOI</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Tout se joue dans la demande</a:t>
            </a:r>
            <a:endParaRPr lang="en-US" sz="5700" dirty="0"/>
          </a:p>
        </p:txBody>
      </p:sp>
      <p:sp>
        <p:nvSpPr>
          <p:cNvPr id="5" name="Shape 3"/>
          <p:cNvSpPr/>
          <p:nvPr/>
        </p:nvSpPr>
        <p:spPr>
          <a:xfrm>
            <a:off x="1143000" y="2600623"/>
            <a:ext cx="7839075" cy="2992636"/>
          </a:xfrm>
          <a:prstGeom prst="roundRect">
            <a:avLst>
              <a:gd name="adj" fmla="val 4456"/>
            </a:avLst>
          </a:prstGeom>
          <a:solidFill>
            <a:srgbClr val="FFFFFF"/>
          </a:solidFill>
          <a:ln w="9525">
            <a:solidFill>
              <a:srgbClr val="D5DBDF"/>
            </a:solidFill>
            <a:prstDash val="solid"/>
          </a:ln>
        </p:spPr>
      </p:sp>
      <p:sp>
        <p:nvSpPr>
          <p:cNvPr id="6" name="Shape 4"/>
          <p:cNvSpPr/>
          <p:nvPr/>
        </p:nvSpPr>
        <p:spPr>
          <a:xfrm>
            <a:off x="1571625" y="3129260"/>
            <a:ext cx="171450" cy="171450"/>
          </a:xfrm>
          <a:prstGeom prst="ellipse">
            <a:avLst/>
          </a:prstGeom>
          <a:solidFill>
            <a:srgbClr val="C0623F"/>
          </a:solidFill>
          <a:ln/>
        </p:spPr>
      </p:sp>
      <p:sp>
        <p:nvSpPr>
          <p:cNvPr id="7" name="Text 5"/>
          <p:cNvSpPr/>
          <p:nvPr/>
        </p:nvSpPr>
        <p:spPr>
          <a:xfrm>
            <a:off x="1895475" y="3029248"/>
            <a:ext cx="2217792" cy="40957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E2933"/>
                </a:solidFill>
                <a:latin typeface="Arial" pitchFamily="34" charset="0"/>
                <a:ea typeface="Arial" pitchFamily="34" charset="-122"/>
                <a:cs typeface="Arial" pitchFamily="34" charset="-120"/>
              </a:rPr>
              <a:t>Prompt vague</a:t>
            </a:r>
            <a:endParaRPr lang="en-US" sz="2550" dirty="0"/>
          </a:p>
        </p:txBody>
      </p:sp>
      <p:sp>
        <p:nvSpPr>
          <p:cNvPr id="8" name="Shape 6"/>
          <p:cNvSpPr/>
          <p:nvPr/>
        </p:nvSpPr>
        <p:spPr>
          <a:xfrm>
            <a:off x="1571625" y="3629323"/>
            <a:ext cx="6981825" cy="933450"/>
          </a:xfrm>
          <a:prstGeom prst="roundRect">
            <a:avLst>
              <a:gd name="adj" fmla="val 10204"/>
            </a:avLst>
          </a:prstGeom>
          <a:solidFill>
            <a:srgbClr val="F7F2EA"/>
          </a:solidFill>
          <a:ln/>
        </p:spPr>
      </p:sp>
      <p:sp>
        <p:nvSpPr>
          <p:cNvPr id="9" name="Text 7"/>
          <p:cNvSpPr/>
          <p:nvPr/>
        </p:nvSpPr>
        <p:spPr>
          <a:xfrm>
            <a:off x="1857375" y="3896023"/>
            <a:ext cx="6619780" cy="4381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250" i="1" dirty="0">
                <a:solidFill>
                  <a:srgbClr val="5B6B79"/>
                </a:solidFill>
                <a:latin typeface="Arial" pitchFamily="34" charset="0"/>
                <a:ea typeface="Arial" pitchFamily="34" charset="-122"/>
                <a:cs typeface="Arial" pitchFamily="34" charset="-120"/>
              </a:rPr>
              <a:t>« Écris-moi un mail. »</a:t>
            </a:r>
            <a:endParaRPr lang="en-US" sz="2250" dirty="0"/>
          </a:p>
        </p:txBody>
      </p:sp>
      <p:sp>
        <p:nvSpPr>
          <p:cNvPr id="10" name="Text 8"/>
          <p:cNvSpPr/>
          <p:nvPr/>
        </p:nvSpPr>
        <p:spPr>
          <a:xfrm>
            <a:off x="1571625" y="4791373"/>
            <a:ext cx="7680008"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Résultat générique, à côté du besoin, à retravailler.</a:t>
            </a:r>
            <a:endParaRPr lang="en-US" sz="2100" dirty="0"/>
          </a:p>
        </p:txBody>
      </p:sp>
      <p:sp>
        <p:nvSpPr>
          <p:cNvPr id="11" name="Shape 9"/>
          <p:cNvSpPr/>
          <p:nvPr/>
        </p:nvSpPr>
        <p:spPr>
          <a:xfrm>
            <a:off x="9305925" y="2600623"/>
            <a:ext cx="7839075" cy="2992636"/>
          </a:xfrm>
          <a:prstGeom prst="roundRect">
            <a:avLst>
              <a:gd name="adj" fmla="val 4456"/>
            </a:avLst>
          </a:prstGeom>
          <a:solidFill>
            <a:srgbClr val="FFFFFF"/>
          </a:solidFill>
          <a:ln w="9525">
            <a:solidFill>
              <a:srgbClr val="D5DBDF"/>
            </a:solidFill>
            <a:prstDash val="solid"/>
          </a:ln>
        </p:spPr>
      </p:sp>
      <p:sp>
        <p:nvSpPr>
          <p:cNvPr id="12" name="Shape 10"/>
          <p:cNvSpPr/>
          <p:nvPr/>
        </p:nvSpPr>
        <p:spPr>
          <a:xfrm>
            <a:off x="9734550" y="3129260"/>
            <a:ext cx="171450" cy="171450"/>
          </a:xfrm>
          <a:prstGeom prst="ellipse">
            <a:avLst/>
          </a:prstGeom>
          <a:solidFill>
            <a:srgbClr val="14304A"/>
          </a:solidFill>
          <a:ln/>
        </p:spPr>
      </p:sp>
      <p:sp>
        <p:nvSpPr>
          <p:cNvPr id="13" name="Text 11"/>
          <p:cNvSpPr/>
          <p:nvPr/>
        </p:nvSpPr>
        <p:spPr>
          <a:xfrm>
            <a:off x="10058400" y="3029248"/>
            <a:ext cx="1841584" cy="409575"/>
          </a:xfrm>
          <a:prstGeom prst="rect">
            <a:avLst/>
          </a:prstGeom>
          <a:noFill/>
          <a:ln/>
        </p:spPr>
        <p:txBody>
          <a:bodyPr wrap="square" lIns="25400" tIns="25400" rIns="25400" bIns="25400" rtlCol="0" anchor="t">
            <a:normAutofit fontScale="92500" lnSpcReduction="10000"/>
          </a:bodyPr>
          <a:lstStyle/>
          <a:p>
            <a:pPr marL="0" indent="0" algn="l">
              <a:buNone/>
            </a:pPr>
            <a:r>
              <a:rPr lang="en-US" sz="2550" b="1" dirty="0">
                <a:solidFill>
                  <a:srgbClr val="14304A"/>
                </a:solidFill>
                <a:latin typeface="Arial" pitchFamily="34" charset="0"/>
                <a:ea typeface="Arial" pitchFamily="34" charset="-122"/>
                <a:cs typeface="Arial" pitchFamily="34" charset="-120"/>
              </a:rPr>
              <a:t>Bon prompt</a:t>
            </a:r>
            <a:endParaRPr lang="en-US" sz="2550" dirty="0"/>
          </a:p>
        </p:txBody>
      </p:sp>
      <p:sp>
        <p:nvSpPr>
          <p:cNvPr id="14" name="Shape 12"/>
          <p:cNvSpPr/>
          <p:nvPr/>
        </p:nvSpPr>
        <p:spPr>
          <a:xfrm>
            <a:off x="9734550" y="3629323"/>
            <a:ext cx="889248" cy="457200"/>
          </a:xfrm>
          <a:prstGeom prst="roundRect">
            <a:avLst>
              <a:gd name="adj" fmla="val 50000"/>
            </a:avLst>
          </a:prstGeom>
          <a:solidFill>
            <a:srgbClr val="EAEFF2"/>
          </a:solidFill>
          <a:ln/>
        </p:spPr>
      </p:sp>
      <p:sp>
        <p:nvSpPr>
          <p:cNvPr id="15" name="Text 13"/>
          <p:cNvSpPr/>
          <p:nvPr/>
        </p:nvSpPr>
        <p:spPr>
          <a:xfrm>
            <a:off x="9944100" y="3724573"/>
            <a:ext cx="546348"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304A"/>
                </a:solidFill>
                <a:latin typeface="Arial" pitchFamily="34" charset="0"/>
                <a:ea typeface="Arial" pitchFamily="34" charset="-122"/>
                <a:cs typeface="Arial" pitchFamily="34" charset="-120"/>
              </a:rPr>
              <a:t>Rôle</a:t>
            </a:r>
            <a:endParaRPr lang="en-US" sz="1800" dirty="0"/>
          </a:p>
        </p:txBody>
      </p:sp>
      <p:sp>
        <p:nvSpPr>
          <p:cNvPr id="16" name="Shape 14"/>
          <p:cNvSpPr/>
          <p:nvPr/>
        </p:nvSpPr>
        <p:spPr>
          <a:xfrm>
            <a:off x="10738098" y="3629323"/>
            <a:ext cx="1334095" cy="457200"/>
          </a:xfrm>
          <a:prstGeom prst="roundRect">
            <a:avLst>
              <a:gd name="adj" fmla="val 50000"/>
            </a:avLst>
          </a:prstGeom>
          <a:solidFill>
            <a:srgbClr val="EAEFF2"/>
          </a:solidFill>
          <a:ln/>
        </p:spPr>
      </p:sp>
      <p:sp>
        <p:nvSpPr>
          <p:cNvPr id="17" name="Text 15"/>
          <p:cNvSpPr/>
          <p:nvPr/>
        </p:nvSpPr>
        <p:spPr>
          <a:xfrm>
            <a:off x="10947648" y="3724573"/>
            <a:ext cx="991195"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4304A"/>
                </a:solidFill>
                <a:latin typeface="Arial" pitchFamily="34" charset="0"/>
                <a:ea typeface="Arial" pitchFamily="34" charset="-122"/>
                <a:cs typeface="Arial" pitchFamily="34" charset="-120"/>
              </a:rPr>
              <a:t>Contexte</a:t>
            </a:r>
            <a:endParaRPr lang="en-US" sz="1800" dirty="0"/>
          </a:p>
        </p:txBody>
      </p:sp>
      <p:sp>
        <p:nvSpPr>
          <p:cNvPr id="18" name="Shape 16"/>
          <p:cNvSpPr/>
          <p:nvPr/>
        </p:nvSpPr>
        <p:spPr>
          <a:xfrm>
            <a:off x="12186493" y="3629323"/>
            <a:ext cx="1054447" cy="457200"/>
          </a:xfrm>
          <a:prstGeom prst="roundRect">
            <a:avLst>
              <a:gd name="adj" fmla="val 50000"/>
            </a:avLst>
          </a:prstGeom>
          <a:solidFill>
            <a:srgbClr val="EAEFF2"/>
          </a:solidFill>
          <a:ln/>
        </p:spPr>
      </p:sp>
      <p:sp>
        <p:nvSpPr>
          <p:cNvPr id="19" name="Text 17"/>
          <p:cNvSpPr/>
          <p:nvPr/>
        </p:nvSpPr>
        <p:spPr>
          <a:xfrm>
            <a:off x="12396043" y="3724573"/>
            <a:ext cx="711547"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304A"/>
                </a:solidFill>
                <a:latin typeface="Arial" pitchFamily="34" charset="0"/>
                <a:ea typeface="Arial" pitchFamily="34" charset="-122"/>
                <a:cs typeface="Arial" pitchFamily="34" charset="-120"/>
              </a:rPr>
              <a:t>Tâche</a:t>
            </a:r>
            <a:endParaRPr lang="en-US" sz="1800" dirty="0"/>
          </a:p>
        </p:txBody>
      </p:sp>
      <p:sp>
        <p:nvSpPr>
          <p:cNvPr id="20" name="Shape 18"/>
          <p:cNvSpPr/>
          <p:nvPr/>
        </p:nvSpPr>
        <p:spPr>
          <a:xfrm>
            <a:off x="13355241" y="3629323"/>
            <a:ext cx="1143149" cy="457200"/>
          </a:xfrm>
          <a:prstGeom prst="roundRect">
            <a:avLst>
              <a:gd name="adj" fmla="val 50000"/>
            </a:avLst>
          </a:prstGeom>
          <a:solidFill>
            <a:srgbClr val="EAEFF2"/>
          </a:solidFill>
          <a:ln/>
        </p:spPr>
      </p:sp>
      <p:sp>
        <p:nvSpPr>
          <p:cNvPr id="21" name="Text 19"/>
          <p:cNvSpPr/>
          <p:nvPr/>
        </p:nvSpPr>
        <p:spPr>
          <a:xfrm>
            <a:off x="13564791" y="3724573"/>
            <a:ext cx="800249"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4304A"/>
                </a:solidFill>
                <a:latin typeface="Arial" pitchFamily="34" charset="0"/>
                <a:ea typeface="Arial" pitchFamily="34" charset="-122"/>
                <a:cs typeface="Arial" pitchFamily="34" charset="-120"/>
              </a:rPr>
              <a:t>Format</a:t>
            </a:r>
            <a:endParaRPr lang="en-US" sz="1800" dirty="0"/>
          </a:p>
        </p:txBody>
      </p:sp>
      <p:sp>
        <p:nvSpPr>
          <p:cNvPr id="22" name="Text 20"/>
          <p:cNvSpPr/>
          <p:nvPr/>
        </p:nvSpPr>
        <p:spPr>
          <a:xfrm>
            <a:off x="9734550" y="4315123"/>
            <a:ext cx="7680008"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Réponse utile, cadrée, directement exploitable.</a:t>
            </a:r>
            <a:endParaRPr lang="en-US" sz="2100" dirty="0"/>
          </a:p>
        </p:txBody>
      </p:sp>
      <p:sp>
        <p:nvSpPr>
          <p:cNvPr id="23" name="Shape 21"/>
          <p:cNvSpPr/>
          <p:nvPr/>
        </p:nvSpPr>
        <p:spPr>
          <a:xfrm>
            <a:off x="1143000" y="6050459"/>
            <a:ext cx="11249025" cy="992386"/>
          </a:xfrm>
          <a:prstGeom prst="roundRect">
            <a:avLst>
              <a:gd name="adj" fmla="val 9598"/>
            </a:avLst>
          </a:prstGeom>
          <a:solidFill>
            <a:srgbClr val="FBEDE7"/>
          </a:solidFill>
          <a:ln/>
        </p:spPr>
      </p:sp>
      <p:sp>
        <p:nvSpPr>
          <p:cNvPr id="24" name="Shape 22"/>
          <p:cNvSpPr/>
          <p:nvPr/>
        </p:nvSpPr>
        <p:spPr>
          <a:xfrm>
            <a:off x="1143000" y="6050459"/>
            <a:ext cx="47625" cy="992386"/>
          </a:xfrm>
          <a:prstGeom prst="rect">
            <a:avLst/>
          </a:prstGeom>
          <a:solidFill>
            <a:srgbClr val="C0623F"/>
          </a:solidFill>
          <a:ln/>
        </p:spPr>
      </p:sp>
      <p:sp>
        <p:nvSpPr>
          <p:cNvPr id="25" name="Text 23"/>
          <p:cNvSpPr/>
          <p:nvPr/>
        </p:nvSpPr>
        <p:spPr>
          <a:xfrm>
            <a:off x="1552575" y="6336209"/>
            <a:ext cx="7185109" cy="4589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C0623F"/>
                </a:solidFill>
                <a:latin typeface="Arial" pitchFamily="34" charset="0"/>
                <a:ea typeface="Arial" pitchFamily="34" charset="-122"/>
                <a:cs typeface="Arial" pitchFamily="34" charset="-120"/>
              </a:rPr>
              <a:t>Qualité de la réponse </a:t>
            </a:r>
            <a:r>
              <a:rPr lang="en-US" sz="2400" dirty="0">
                <a:solidFill>
                  <a:srgbClr val="1E2933"/>
                </a:solidFill>
                <a:latin typeface="Arial" pitchFamily="34" charset="0"/>
                <a:ea typeface="Arial" pitchFamily="34" charset="-122"/>
                <a:cs typeface="Arial" pitchFamily="34" charset="-120"/>
              </a:rPr>
              <a:t>= qualité de la demande.</a:t>
            </a:r>
            <a:endParaRPr lang="en-US" sz="2400" dirty="0"/>
          </a:p>
        </p:txBody>
      </p:sp>
      <p:sp>
        <p:nvSpPr>
          <p:cNvPr id="26" name="Shape 24"/>
          <p:cNvSpPr/>
          <p:nvPr/>
        </p:nvSpPr>
        <p:spPr>
          <a:xfrm>
            <a:off x="1143000" y="9020175"/>
            <a:ext cx="16002000" cy="9525"/>
          </a:xfrm>
          <a:prstGeom prst="rect">
            <a:avLst/>
          </a:prstGeom>
          <a:solidFill>
            <a:srgbClr val="D5DBDF"/>
          </a:solidFill>
          <a:ln/>
        </p:spPr>
      </p:sp>
      <p:pic>
        <p:nvPicPr>
          <p:cNvPr id="27"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28" name="Text 25"/>
          <p:cNvSpPr/>
          <p:nvPr/>
        </p:nvSpPr>
        <p:spPr>
          <a:xfrm>
            <a:off x="16234023" y="9396413"/>
            <a:ext cx="987177"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06 / 23</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81075"/>
            <a:ext cx="381000" cy="19050"/>
          </a:xfrm>
          <a:prstGeom prst="rect">
            <a:avLst/>
          </a:prstGeom>
          <a:solidFill>
            <a:srgbClr val="C0623F"/>
          </a:solidFill>
          <a:ln/>
        </p:spPr>
      </p:sp>
      <p:sp>
        <p:nvSpPr>
          <p:cNvPr id="3" name="Text 1"/>
          <p:cNvSpPr/>
          <p:nvPr/>
        </p:nvSpPr>
        <p:spPr>
          <a:xfrm>
            <a:off x="1676400" y="857250"/>
            <a:ext cx="4235038"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1 · C'EST QUOI</a:t>
            </a:r>
            <a:endParaRPr lang="en-US" sz="1800" dirty="0"/>
          </a:p>
        </p:txBody>
      </p:sp>
      <p:sp>
        <p:nvSpPr>
          <p:cNvPr id="4" name="Text 2"/>
          <p:cNvSpPr/>
          <p:nvPr/>
        </p:nvSpPr>
        <p:spPr>
          <a:xfrm>
            <a:off x="1143000" y="12763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Le contexte, c'est la clé</a:t>
            </a:r>
            <a:endParaRPr lang="en-US" sz="5700" dirty="0"/>
          </a:p>
        </p:txBody>
      </p:sp>
      <p:sp>
        <p:nvSpPr>
          <p:cNvPr id="5" name="Text 3"/>
          <p:cNvSpPr/>
          <p:nvPr/>
        </p:nvSpPr>
        <p:spPr>
          <a:xfrm>
            <a:off x="1143000" y="2181523"/>
            <a:ext cx="17602200" cy="409575"/>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5B6B79"/>
                </a:solidFill>
                <a:latin typeface="Arial" pitchFamily="34" charset="0"/>
                <a:ea typeface="Arial" pitchFamily="34" charset="-122"/>
                <a:cs typeface="Arial" pitchFamily="34" charset="-120"/>
              </a:rPr>
              <a:t>Une IA ne connaît rien de votre quotidien — sauf ce que vous lui dites.</a:t>
            </a:r>
            <a:endParaRPr lang="en-US" sz="2400" dirty="0"/>
          </a:p>
        </p:txBody>
      </p:sp>
      <p:sp>
        <p:nvSpPr>
          <p:cNvPr id="6" name="Shape 4"/>
          <p:cNvSpPr/>
          <p:nvPr/>
        </p:nvSpPr>
        <p:spPr>
          <a:xfrm>
            <a:off x="1143000" y="2933998"/>
            <a:ext cx="5162550" cy="3356372"/>
          </a:xfrm>
          <a:prstGeom prst="roundRect">
            <a:avLst>
              <a:gd name="adj" fmla="val 3973"/>
            </a:avLst>
          </a:prstGeom>
          <a:solidFill>
            <a:srgbClr val="FFFFFF"/>
          </a:solidFill>
          <a:ln/>
        </p:spPr>
      </p:sp>
      <p:sp>
        <p:nvSpPr>
          <p:cNvPr id="7" name="Shape 5"/>
          <p:cNvSpPr/>
          <p:nvPr/>
        </p:nvSpPr>
        <p:spPr>
          <a:xfrm>
            <a:off x="1143000" y="6280845"/>
            <a:ext cx="5162550" cy="9525"/>
          </a:xfrm>
          <a:prstGeom prst="rect">
            <a:avLst/>
          </a:prstGeom>
          <a:solidFill>
            <a:srgbClr val="D5DBDF"/>
          </a:solidFill>
          <a:ln/>
        </p:spPr>
      </p:sp>
      <p:sp>
        <p:nvSpPr>
          <p:cNvPr id="8" name="Shape 6"/>
          <p:cNvSpPr/>
          <p:nvPr/>
        </p:nvSpPr>
        <p:spPr>
          <a:xfrm>
            <a:off x="1143000" y="2933998"/>
            <a:ext cx="5162550" cy="47625"/>
          </a:xfrm>
          <a:prstGeom prst="rect">
            <a:avLst/>
          </a:prstGeom>
          <a:solidFill>
            <a:srgbClr val="B7BEC4"/>
          </a:solidFill>
          <a:ln/>
        </p:spPr>
      </p:sp>
      <p:sp>
        <p:nvSpPr>
          <p:cNvPr id="9" name="Shape 7"/>
          <p:cNvSpPr/>
          <p:nvPr/>
        </p:nvSpPr>
        <p:spPr>
          <a:xfrm>
            <a:off x="1143000" y="2933998"/>
            <a:ext cx="9525" cy="3356372"/>
          </a:xfrm>
          <a:prstGeom prst="rect">
            <a:avLst/>
          </a:prstGeom>
          <a:solidFill>
            <a:srgbClr val="D5DBDF"/>
          </a:solidFill>
          <a:ln/>
        </p:spPr>
      </p:sp>
      <p:sp>
        <p:nvSpPr>
          <p:cNvPr id="10" name="Shape 8"/>
          <p:cNvSpPr/>
          <p:nvPr/>
        </p:nvSpPr>
        <p:spPr>
          <a:xfrm>
            <a:off x="6296025" y="2933998"/>
            <a:ext cx="9525" cy="3356372"/>
          </a:xfrm>
          <a:prstGeom prst="rect">
            <a:avLst/>
          </a:prstGeom>
          <a:solidFill>
            <a:srgbClr val="D5DBDF"/>
          </a:solidFill>
          <a:ln/>
        </p:spPr>
      </p:sp>
      <p:sp>
        <p:nvSpPr>
          <p:cNvPr id="11" name="Shape 9"/>
          <p:cNvSpPr/>
          <p:nvPr/>
        </p:nvSpPr>
        <p:spPr>
          <a:xfrm>
            <a:off x="1533525" y="3438823"/>
            <a:ext cx="171450" cy="171450"/>
          </a:xfrm>
          <a:prstGeom prst="ellipse">
            <a:avLst/>
          </a:prstGeom>
          <a:solidFill>
            <a:srgbClr val="C0623F"/>
          </a:solidFill>
          <a:ln/>
        </p:spPr>
      </p:sp>
      <p:sp>
        <p:nvSpPr>
          <p:cNvPr id="12" name="Text 10"/>
          <p:cNvSpPr/>
          <p:nvPr/>
        </p:nvSpPr>
        <p:spPr>
          <a:xfrm>
            <a:off x="1838325" y="3362623"/>
            <a:ext cx="1992035"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E2933"/>
                </a:solidFill>
                <a:latin typeface="Arial" pitchFamily="34" charset="0"/>
                <a:ea typeface="Arial" pitchFamily="34" charset="-122"/>
                <a:cs typeface="Arial" pitchFamily="34" charset="-120"/>
              </a:rPr>
              <a:t>Sans contexte</a:t>
            </a:r>
            <a:endParaRPr lang="en-US" sz="2250" dirty="0"/>
          </a:p>
        </p:txBody>
      </p:sp>
      <p:sp>
        <p:nvSpPr>
          <p:cNvPr id="13" name="Shape 11"/>
          <p:cNvSpPr/>
          <p:nvPr/>
        </p:nvSpPr>
        <p:spPr>
          <a:xfrm>
            <a:off x="1533525" y="3896023"/>
            <a:ext cx="4381500" cy="1101030"/>
          </a:xfrm>
          <a:prstGeom prst="roundRect">
            <a:avLst>
              <a:gd name="adj" fmla="val 6921"/>
            </a:avLst>
          </a:prstGeom>
          <a:solidFill>
            <a:srgbClr val="F7F2EA"/>
          </a:solidFill>
          <a:ln/>
        </p:spPr>
      </p:sp>
      <p:sp>
        <p:nvSpPr>
          <p:cNvPr id="14" name="Text 12"/>
          <p:cNvSpPr/>
          <p:nvPr/>
        </p:nvSpPr>
        <p:spPr>
          <a:xfrm>
            <a:off x="1762125" y="4086523"/>
            <a:ext cx="4055745" cy="75813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025" i="1" dirty="0">
                <a:solidFill>
                  <a:srgbClr val="5B6B79"/>
                </a:solidFill>
                <a:latin typeface="Arial" pitchFamily="34" charset="0"/>
                <a:ea typeface="Arial" pitchFamily="34" charset="-122"/>
                <a:cs typeface="Arial" pitchFamily="34" charset="-120"/>
              </a:rPr>
              <a:t>« Aide-moi à rédiger un compte rendu. »</a:t>
            </a:r>
            <a:endParaRPr lang="en-US" sz="2025" dirty="0"/>
          </a:p>
        </p:txBody>
      </p:sp>
      <p:sp>
        <p:nvSpPr>
          <p:cNvPr id="15" name="Text 13"/>
          <p:cNvSpPr/>
          <p:nvPr/>
        </p:nvSpPr>
        <p:spPr>
          <a:xfrm>
            <a:off x="1533525" y="5206603"/>
            <a:ext cx="4512945" cy="73134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dirty="0">
                <a:solidFill>
                  <a:srgbClr val="1E2933"/>
                </a:solidFill>
                <a:latin typeface="Arial" pitchFamily="34" charset="0"/>
                <a:ea typeface="Arial" pitchFamily="34" charset="-122"/>
                <a:cs typeface="Arial" pitchFamily="34" charset="-120"/>
              </a:rPr>
              <a:t>Réponse générique, à côté du besoin réel.</a:t>
            </a:r>
            <a:endParaRPr lang="en-US" sz="1950" dirty="0"/>
          </a:p>
        </p:txBody>
      </p:sp>
      <p:sp>
        <p:nvSpPr>
          <p:cNvPr id="16" name="Shape 14"/>
          <p:cNvSpPr/>
          <p:nvPr/>
        </p:nvSpPr>
        <p:spPr>
          <a:xfrm>
            <a:off x="6572250" y="2933998"/>
            <a:ext cx="5162550" cy="3356372"/>
          </a:xfrm>
          <a:prstGeom prst="roundRect">
            <a:avLst>
              <a:gd name="adj" fmla="val 3973"/>
            </a:avLst>
          </a:prstGeom>
          <a:solidFill>
            <a:srgbClr val="FFFFFF"/>
          </a:solidFill>
          <a:ln/>
        </p:spPr>
      </p:sp>
      <p:sp>
        <p:nvSpPr>
          <p:cNvPr id="17" name="Shape 15"/>
          <p:cNvSpPr/>
          <p:nvPr/>
        </p:nvSpPr>
        <p:spPr>
          <a:xfrm>
            <a:off x="6572250" y="6280845"/>
            <a:ext cx="5162550" cy="9525"/>
          </a:xfrm>
          <a:prstGeom prst="rect">
            <a:avLst/>
          </a:prstGeom>
          <a:solidFill>
            <a:srgbClr val="D5DBDF"/>
          </a:solidFill>
          <a:ln/>
        </p:spPr>
      </p:sp>
      <p:sp>
        <p:nvSpPr>
          <p:cNvPr id="18" name="Shape 16"/>
          <p:cNvSpPr/>
          <p:nvPr/>
        </p:nvSpPr>
        <p:spPr>
          <a:xfrm>
            <a:off x="6572250" y="2933998"/>
            <a:ext cx="5162550" cy="47625"/>
          </a:xfrm>
          <a:prstGeom prst="rect">
            <a:avLst/>
          </a:prstGeom>
          <a:solidFill>
            <a:srgbClr val="14304A"/>
          </a:solidFill>
          <a:ln/>
        </p:spPr>
      </p:sp>
      <p:sp>
        <p:nvSpPr>
          <p:cNvPr id="19" name="Shape 17"/>
          <p:cNvSpPr/>
          <p:nvPr/>
        </p:nvSpPr>
        <p:spPr>
          <a:xfrm>
            <a:off x="6572250" y="2933998"/>
            <a:ext cx="9525" cy="3356372"/>
          </a:xfrm>
          <a:prstGeom prst="rect">
            <a:avLst/>
          </a:prstGeom>
          <a:solidFill>
            <a:srgbClr val="D5DBDF"/>
          </a:solidFill>
          <a:ln/>
        </p:spPr>
      </p:sp>
      <p:sp>
        <p:nvSpPr>
          <p:cNvPr id="20" name="Shape 18"/>
          <p:cNvSpPr/>
          <p:nvPr/>
        </p:nvSpPr>
        <p:spPr>
          <a:xfrm>
            <a:off x="11725275" y="2933998"/>
            <a:ext cx="9525" cy="3356372"/>
          </a:xfrm>
          <a:prstGeom prst="rect">
            <a:avLst/>
          </a:prstGeom>
          <a:solidFill>
            <a:srgbClr val="D5DBDF"/>
          </a:solidFill>
          <a:ln/>
        </p:spPr>
      </p:sp>
      <p:sp>
        <p:nvSpPr>
          <p:cNvPr id="21" name="Shape 19"/>
          <p:cNvSpPr/>
          <p:nvPr/>
        </p:nvSpPr>
        <p:spPr>
          <a:xfrm>
            <a:off x="6962775" y="3438823"/>
            <a:ext cx="171450" cy="171450"/>
          </a:xfrm>
          <a:prstGeom prst="ellipse">
            <a:avLst/>
          </a:prstGeom>
          <a:solidFill>
            <a:srgbClr val="14304A"/>
          </a:solidFill>
          <a:ln/>
        </p:spPr>
      </p:sp>
      <p:sp>
        <p:nvSpPr>
          <p:cNvPr id="22" name="Text 20"/>
          <p:cNvSpPr/>
          <p:nvPr/>
        </p:nvSpPr>
        <p:spPr>
          <a:xfrm>
            <a:off x="7267575" y="3362623"/>
            <a:ext cx="1968788"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14304A"/>
                </a:solidFill>
                <a:latin typeface="Arial" pitchFamily="34" charset="0"/>
                <a:ea typeface="Arial" pitchFamily="34" charset="-122"/>
                <a:cs typeface="Arial" pitchFamily="34" charset="-120"/>
              </a:rPr>
              <a:t>Avec contexte</a:t>
            </a:r>
            <a:endParaRPr lang="en-US" sz="2250" dirty="0"/>
          </a:p>
        </p:txBody>
      </p:sp>
      <p:sp>
        <p:nvSpPr>
          <p:cNvPr id="23" name="Shape 21"/>
          <p:cNvSpPr/>
          <p:nvPr/>
        </p:nvSpPr>
        <p:spPr>
          <a:xfrm>
            <a:off x="6962775" y="3896023"/>
            <a:ext cx="2276773" cy="400050"/>
          </a:xfrm>
          <a:prstGeom prst="roundRect">
            <a:avLst>
              <a:gd name="adj" fmla="val 50000"/>
            </a:avLst>
          </a:prstGeom>
          <a:solidFill>
            <a:srgbClr val="EAEFF2"/>
          </a:solidFill>
          <a:ln/>
        </p:spPr>
      </p:sp>
      <p:sp>
        <p:nvSpPr>
          <p:cNvPr id="24" name="Text 22"/>
          <p:cNvSpPr/>
          <p:nvPr/>
        </p:nvSpPr>
        <p:spPr>
          <a:xfrm>
            <a:off x="7134225" y="3972223"/>
            <a:ext cx="2010073" cy="28575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14304A"/>
                </a:solidFill>
                <a:latin typeface="Arial" pitchFamily="34" charset="0"/>
                <a:ea typeface="Arial" pitchFamily="34" charset="-122"/>
                <a:cs typeface="Arial" pitchFamily="34" charset="-120"/>
              </a:rPr>
              <a:t>Votre environnement</a:t>
            </a:r>
            <a:endParaRPr lang="en-US" sz="1650" dirty="0"/>
          </a:p>
        </p:txBody>
      </p:sp>
      <p:sp>
        <p:nvSpPr>
          <p:cNvPr id="25" name="Shape 23"/>
          <p:cNvSpPr/>
          <p:nvPr/>
        </p:nvSpPr>
        <p:spPr>
          <a:xfrm>
            <a:off x="9334798" y="3896023"/>
            <a:ext cx="1775817" cy="400050"/>
          </a:xfrm>
          <a:prstGeom prst="roundRect">
            <a:avLst>
              <a:gd name="adj" fmla="val 50000"/>
            </a:avLst>
          </a:prstGeom>
          <a:solidFill>
            <a:srgbClr val="EAEFF2"/>
          </a:solidFill>
          <a:ln/>
        </p:spPr>
      </p:sp>
      <p:sp>
        <p:nvSpPr>
          <p:cNvPr id="26" name="Text 24"/>
          <p:cNvSpPr/>
          <p:nvPr/>
        </p:nvSpPr>
        <p:spPr>
          <a:xfrm>
            <a:off x="9506248" y="3972223"/>
            <a:ext cx="1509117" cy="28575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14304A"/>
                </a:solidFill>
                <a:latin typeface="Arial" pitchFamily="34" charset="0"/>
                <a:ea typeface="Arial" pitchFamily="34" charset="-122"/>
                <a:cs typeface="Arial" pitchFamily="34" charset="-120"/>
              </a:rPr>
              <a:t>Vos contraintes</a:t>
            </a:r>
            <a:endParaRPr lang="en-US" sz="1650" dirty="0"/>
          </a:p>
        </p:txBody>
      </p:sp>
      <p:sp>
        <p:nvSpPr>
          <p:cNvPr id="27" name="Shape 25"/>
          <p:cNvSpPr/>
          <p:nvPr/>
        </p:nvSpPr>
        <p:spPr>
          <a:xfrm>
            <a:off x="6962775" y="4391323"/>
            <a:ext cx="1554361" cy="400050"/>
          </a:xfrm>
          <a:prstGeom prst="roundRect">
            <a:avLst>
              <a:gd name="adj" fmla="val 50000"/>
            </a:avLst>
          </a:prstGeom>
          <a:solidFill>
            <a:srgbClr val="EAEFF2"/>
          </a:solidFill>
          <a:ln/>
        </p:spPr>
      </p:sp>
      <p:sp>
        <p:nvSpPr>
          <p:cNvPr id="28" name="Text 26"/>
          <p:cNvSpPr/>
          <p:nvPr/>
        </p:nvSpPr>
        <p:spPr>
          <a:xfrm>
            <a:off x="7134225" y="4467523"/>
            <a:ext cx="1287661" cy="28575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14304A"/>
                </a:solidFill>
                <a:latin typeface="Arial" pitchFamily="34" charset="0"/>
                <a:ea typeface="Arial" pitchFamily="34" charset="-122"/>
                <a:cs typeface="Arial" pitchFamily="34" charset="-120"/>
              </a:rPr>
              <a:t>Votre objectif</a:t>
            </a:r>
            <a:endParaRPr lang="en-US" sz="1650" dirty="0"/>
          </a:p>
        </p:txBody>
      </p:sp>
      <p:sp>
        <p:nvSpPr>
          <p:cNvPr id="29" name="Text 27"/>
          <p:cNvSpPr/>
          <p:nvPr/>
        </p:nvSpPr>
        <p:spPr>
          <a:xfrm>
            <a:off x="6962775" y="5000923"/>
            <a:ext cx="4512945" cy="7313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1E2933"/>
                </a:solidFill>
                <a:latin typeface="Arial" pitchFamily="34" charset="0"/>
                <a:ea typeface="Arial" pitchFamily="34" charset="-122"/>
                <a:cs typeface="Arial" pitchFamily="34" charset="-120"/>
              </a:rPr>
              <a:t>Réponse pertinente, directement exploitable.</a:t>
            </a:r>
            <a:endParaRPr lang="en-US" sz="1950" dirty="0"/>
          </a:p>
        </p:txBody>
      </p:sp>
      <p:sp>
        <p:nvSpPr>
          <p:cNvPr id="30" name="Shape 28"/>
          <p:cNvSpPr/>
          <p:nvPr/>
        </p:nvSpPr>
        <p:spPr>
          <a:xfrm>
            <a:off x="12001500" y="2933998"/>
            <a:ext cx="5143500" cy="3356372"/>
          </a:xfrm>
          <a:prstGeom prst="roundRect">
            <a:avLst>
              <a:gd name="adj" fmla="val 3973"/>
            </a:avLst>
          </a:prstGeom>
          <a:solidFill>
            <a:srgbClr val="14304A"/>
          </a:solidFill>
          <a:ln/>
        </p:spPr>
      </p:sp>
      <p:sp>
        <p:nvSpPr>
          <p:cNvPr id="31" name="Text 29"/>
          <p:cNvSpPr/>
          <p:nvPr/>
        </p:nvSpPr>
        <p:spPr>
          <a:xfrm>
            <a:off x="12382500" y="3998863"/>
            <a:ext cx="4819650"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FFFFF"/>
                </a:solidFill>
                <a:latin typeface="Arial" pitchFamily="34" charset="0"/>
                <a:ea typeface="Arial" pitchFamily="34" charset="-122"/>
                <a:cs typeface="Arial" pitchFamily="34" charset="-120"/>
              </a:rPr>
              <a:t>Un outil généraliste</a:t>
            </a:r>
            <a:endParaRPr lang="en-US" sz="2250" dirty="0"/>
          </a:p>
        </p:txBody>
      </p:sp>
      <p:sp>
        <p:nvSpPr>
          <p:cNvPr id="32" name="Text 30"/>
          <p:cNvSpPr/>
          <p:nvPr/>
        </p:nvSpPr>
        <p:spPr>
          <a:xfrm>
            <a:off x="12382500" y="4532263"/>
            <a:ext cx="4512945" cy="7313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C7D2DB"/>
                </a:solidFill>
                <a:latin typeface="Arial" pitchFamily="34" charset="0"/>
                <a:ea typeface="Arial" pitchFamily="34" charset="-122"/>
                <a:cs typeface="Arial" pitchFamily="34" charset="-120"/>
              </a:rPr>
              <a:t>Le contexte le transforme en aide réellement utile.</a:t>
            </a:r>
            <a:endParaRPr lang="en-US" sz="1950" dirty="0"/>
          </a:p>
        </p:txBody>
      </p:sp>
      <p:sp>
        <p:nvSpPr>
          <p:cNvPr id="33" name="Shape 31"/>
          <p:cNvSpPr/>
          <p:nvPr/>
        </p:nvSpPr>
        <p:spPr>
          <a:xfrm>
            <a:off x="1143000" y="6671370"/>
            <a:ext cx="15401925" cy="855315"/>
          </a:xfrm>
          <a:prstGeom prst="roundRect">
            <a:avLst>
              <a:gd name="adj" fmla="val 11136"/>
            </a:avLst>
          </a:prstGeom>
          <a:solidFill>
            <a:srgbClr val="FBEDE7"/>
          </a:solidFill>
          <a:ln/>
        </p:spPr>
      </p:sp>
      <p:sp>
        <p:nvSpPr>
          <p:cNvPr id="34" name="Shape 32"/>
          <p:cNvSpPr/>
          <p:nvPr/>
        </p:nvSpPr>
        <p:spPr>
          <a:xfrm>
            <a:off x="1143000" y="6671370"/>
            <a:ext cx="47625" cy="855315"/>
          </a:xfrm>
          <a:prstGeom prst="rect">
            <a:avLst/>
          </a:prstGeom>
          <a:solidFill>
            <a:srgbClr val="C0623F"/>
          </a:solidFill>
          <a:ln/>
        </p:spPr>
      </p:sp>
      <p:sp>
        <p:nvSpPr>
          <p:cNvPr id="35" name="Text 33"/>
          <p:cNvSpPr/>
          <p:nvPr/>
        </p:nvSpPr>
        <p:spPr>
          <a:xfrm>
            <a:off x="1533525" y="6919020"/>
            <a:ext cx="12481649" cy="39811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1E2933"/>
                </a:solidFill>
                <a:latin typeface="Arial" pitchFamily="34" charset="0"/>
                <a:ea typeface="Arial" pitchFamily="34" charset="-122"/>
                <a:cs typeface="Arial" pitchFamily="34" charset="-120"/>
              </a:rPr>
              <a:t>Bien donner ce contexte demande de la méthode — raison de plus pour un </a:t>
            </a:r>
            <a:r>
              <a:rPr lang="en-US" sz="2100" b="1" dirty="0">
                <a:solidFill>
                  <a:srgbClr val="C0623F"/>
                </a:solidFill>
                <a:latin typeface="Arial" pitchFamily="34" charset="0"/>
                <a:ea typeface="Arial" pitchFamily="34" charset="-122"/>
                <a:cs typeface="Arial" pitchFamily="34" charset="-120"/>
              </a:rPr>
              <a:t>usage encadré</a:t>
            </a:r>
            <a:r>
              <a:rPr lang="en-US" sz="2100" dirty="0">
                <a:solidFill>
                  <a:srgbClr val="1E2933"/>
                </a:solidFill>
                <a:latin typeface="Arial" pitchFamily="34" charset="0"/>
                <a:ea typeface="Arial" pitchFamily="34" charset="-122"/>
                <a:cs typeface="Arial" pitchFamily="34" charset="-120"/>
              </a:rPr>
              <a:t>.</a:t>
            </a:r>
            <a:endParaRPr lang="en-US" sz="2100" dirty="0"/>
          </a:p>
        </p:txBody>
      </p:sp>
      <p:sp>
        <p:nvSpPr>
          <p:cNvPr id="36" name="Shape 34"/>
          <p:cNvSpPr/>
          <p:nvPr/>
        </p:nvSpPr>
        <p:spPr>
          <a:xfrm>
            <a:off x="1143000" y="9020175"/>
            <a:ext cx="16002000" cy="9525"/>
          </a:xfrm>
          <a:prstGeom prst="rect">
            <a:avLst/>
          </a:prstGeom>
          <a:solidFill>
            <a:srgbClr val="D5DBDF"/>
          </a:solidFill>
          <a:ln/>
        </p:spPr>
      </p:sp>
      <p:pic>
        <p:nvPicPr>
          <p:cNvPr id="37"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38" name="Text 35"/>
          <p:cNvSpPr/>
          <p:nvPr/>
        </p:nvSpPr>
        <p:spPr>
          <a:xfrm>
            <a:off x="16250841" y="9396413"/>
            <a:ext cx="97035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07 / 23</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4235038"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1 · C'EST QUOI</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Ce que ce n'est </a:t>
            </a:r>
            <a:r>
              <a:rPr lang="en-US" sz="5700" b="1" kern="0" spc="-112" dirty="0">
                <a:solidFill>
                  <a:srgbClr val="C0623F"/>
                </a:solidFill>
                <a:latin typeface="Arial" pitchFamily="34" charset="0"/>
                <a:ea typeface="Arial" pitchFamily="34" charset="-122"/>
                <a:cs typeface="Arial" pitchFamily="34" charset="-120"/>
              </a:rPr>
              <a:t>PAS</a:t>
            </a:r>
            <a:endParaRPr lang="en-US" sz="5700" dirty="0"/>
          </a:p>
        </p:txBody>
      </p:sp>
      <p:sp>
        <p:nvSpPr>
          <p:cNvPr id="5" name="Shape 3"/>
          <p:cNvSpPr/>
          <p:nvPr/>
        </p:nvSpPr>
        <p:spPr>
          <a:xfrm>
            <a:off x="1143000" y="2619673"/>
            <a:ext cx="5118050" cy="2908697"/>
          </a:xfrm>
          <a:prstGeom prst="roundRect">
            <a:avLst>
              <a:gd name="adj" fmla="val 4585"/>
            </a:avLst>
          </a:prstGeom>
          <a:solidFill>
            <a:srgbClr val="FFFFFF"/>
          </a:solidFill>
          <a:ln w="9525">
            <a:solidFill>
              <a:srgbClr val="D5DBDF"/>
            </a:solidFill>
            <a:prstDash val="solid"/>
          </a:ln>
        </p:spPr>
      </p:sp>
      <p:sp>
        <p:nvSpPr>
          <p:cNvPr id="26" name="Oval 25"/>
          <p:cNvSpPr/>
          <p:nvPr/>
        </p:nvSpPr>
        <p:spPr>
          <a:xfrm>
            <a:off x="1392555" y="2869228"/>
            <a:ext cx="853440" cy="85344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2575" y="3029248"/>
            <a:ext cx="533400" cy="533400"/>
          </a:xfrm>
          <a:prstGeom prst="rect">
            <a:avLst/>
          </a:prstGeom>
        </p:spPr>
      </p:pic>
      <p:sp>
        <p:nvSpPr>
          <p:cNvPr id="7" name="Text 4"/>
          <p:cNvSpPr/>
          <p:nvPr/>
        </p:nvSpPr>
        <p:spPr>
          <a:xfrm>
            <a:off x="1552575" y="3791248"/>
            <a:ext cx="472879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4304A"/>
                </a:solidFill>
                <a:latin typeface="Arial" pitchFamily="34" charset="0"/>
                <a:ea typeface="Arial" pitchFamily="34" charset="-122"/>
                <a:cs typeface="Arial" pitchFamily="34" charset="-120"/>
              </a:rPr>
              <a:t>Pas une source fiable</a:t>
            </a:r>
            <a:endParaRPr lang="en-US" sz="2400" dirty="0"/>
          </a:p>
        </p:txBody>
      </p:sp>
      <p:sp>
        <p:nvSpPr>
          <p:cNvPr id="8" name="Text 5"/>
          <p:cNvSpPr/>
          <p:nvPr/>
        </p:nvSpPr>
        <p:spPr>
          <a:xfrm>
            <a:off x="1552575" y="4372273"/>
            <a:ext cx="4427867" cy="784622"/>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Elle invente parfois : les « hallucinations ».</a:t>
            </a:r>
            <a:endParaRPr lang="en-US" sz="2100" dirty="0"/>
          </a:p>
        </p:txBody>
      </p:sp>
      <p:sp>
        <p:nvSpPr>
          <p:cNvPr id="9" name="Shape 6"/>
          <p:cNvSpPr/>
          <p:nvPr/>
        </p:nvSpPr>
        <p:spPr>
          <a:xfrm>
            <a:off x="6584900" y="2619673"/>
            <a:ext cx="5118199" cy="2908697"/>
          </a:xfrm>
          <a:prstGeom prst="roundRect">
            <a:avLst>
              <a:gd name="adj" fmla="val 4585"/>
            </a:avLst>
          </a:prstGeom>
          <a:solidFill>
            <a:srgbClr val="FFFFFF"/>
          </a:solidFill>
          <a:ln w="9525">
            <a:solidFill>
              <a:srgbClr val="D5DBDF"/>
            </a:solidFill>
            <a:prstDash val="solid"/>
          </a:ln>
        </p:spPr>
      </p:sp>
      <p:sp>
        <p:nvSpPr>
          <p:cNvPr id="27" name="Oval 26"/>
          <p:cNvSpPr/>
          <p:nvPr/>
        </p:nvSpPr>
        <p:spPr>
          <a:xfrm>
            <a:off x="6834455" y="2869228"/>
            <a:ext cx="853440" cy="853440"/>
          </a:xfrm>
          <a:prstGeom prst="ellipse">
            <a:avLst/>
          </a:prstGeom>
          <a:solidFill>
            <a:srgbClr val="14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4475" y="3029248"/>
            <a:ext cx="533400" cy="533400"/>
          </a:xfrm>
          <a:prstGeom prst="rect">
            <a:avLst/>
          </a:prstGeom>
        </p:spPr>
      </p:pic>
      <p:sp>
        <p:nvSpPr>
          <p:cNvPr id="11" name="Text 7"/>
          <p:cNvSpPr/>
          <p:nvPr/>
        </p:nvSpPr>
        <p:spPr>
          <a:xfrm>
            <a:off x="6994475" y="3791248"/>
            <a:ext cx="4728954"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4304A"/>
                </a:solidFill>
                <a:latin typeface="Arial" pitchFamily="34" charset="0"/>
                <a:ea typeface="Arial" pitchFamily="34" charset="-122"/>
                <a:cs typeface="Arial" pitchFamily="34" charset="-120"/>
              </a:rPr>
              <a:t>Pas un coffre-fort</a:t>
            </a:r>
            <a:endParaRPr lang="en-US" sz="2400" dirty="0"/>
          </a:p>
        </p:txBody>
      </p:sp>
      <p:sp>
        <p:nvSpPr>
          <p:cNvPr id="12" name="Text 8"/>
          <p:cNvSpPr/>
          <p:nvPr/>
        </p:nvSpPr>
        <p:spPr>
          <a:xfrm>
            <a:off x="6994475" y="4372273"/>
            <a:ext cx="4428021" cy="784622"/>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Ce que vous saisissez peut être réutilisé.</a:t>
            </a:r>
            <a:endParaRPr lang="en-US" sz="2100" dirty="0"/>
          </a:p>
        </p:txBody>
      </p:sp>
      <p:sp>
        <p:nvSpPr>
          <p:cNvPr id="13" name="Shape 9"/>
          <p:cNvSpPr/>
          <p:nvPr/>
        </p:nvSpPr>
        <p:spPr>
          <a:xfrm>
            <a:off x="12026950" y="2619673"/>
            <a:ext cx="5118050" cy="2908697"/>
          </a:xfrm>
          <a:prstGeom prst="roundRect">
            <a:avLst>
              <a:gd name="adj" fmla="val 4585"/>
            </a:avLst>
          </a:prstGeom>
          <a:solidFill>
            <a:srgbClr val="FFFFFF"/>
          </a:solidFill>
          <a:ln w="9525">
            <a:solidFill>
              <a:srgbClr val="D5DBDF"/>
            </a:solidFill>
            <a:prstDash val="solid"/>
          </a:ln>
        </p:spPr>
      </p:sp>
      <p:sp>
        <p:nvSpPr>
          <p:cNvPr id="28" name="Oval 27"/>
          <p:cNvSpPr/>
          <p:nvPr/>
        </p:nvSpPr>
        <p:spPr>
          <a:xfrm>
            <a:off x="12276505" y="2869228"/>
            <a:ext cx="853440" cy="85344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36525" y="3029248"/>
            <a:ext cx="533400" cy="533400"/>
          </a:xfrm>
          <a:prstGeom prst="rect">
            <a:avLst/>
          </a:prstGeom>
        </p:spPr>
      </p:pic>
      <p:sp>
        <p:nvSpPr>
          <p:cNvPr id="15" name="Text 10"/>
          <p:cNvSpPr/>
          <p:nvPr/>
        </p:nvSpPr>
        <p:spPr>
          <a:xfrm>
            <a:off x="12436525" y="3791248"/>
            <a:ext cx="472879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4304A"/>
                </a:solidFill>
                <a:latin typeface="Arial" pitchFamily="34" charset="0"/>
                <a:ea typeface="Arial" pitchFamily="34" charset="-122"/>
                <a:cs typeface="Arial" pitchFamily="34" charset="-120"/>
              </a:rPr>
              <a:t>Pas un décideur</a:t>
            </a:r>
            <a:endParaRPr lang="en-US" sz="2400" dirty="0"/>
          </a:p>
        </p:txBody>
      </p:sp>
      <p:sp>
        <p:nvSpPr>
          <p:cNvPr id="16" name="Text 11"/>
          <p:cNvSpPr/>
          <p:nvPr/>
        </p:nvSpPr>
        <p:spPr>
          <a:xfrm>
            <a:off x="12436525" y="4372273"/>
            <a:ext cx="4427867" cy="784622"/>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L'humain valide toujours, en dernier ressort.</a:t>
            </a:r>
            <a:endParaRPr lang="en-US" sz="2100" dirty="0"/>
          </a:p>
        </p:txBody>
      </p:sp>
      <p:sp>
        <p:nvSpPr>
          <p:cNvPr id="17" name="Shape 12"/>
          <p:cNvSpPr/>
          <p:nvPr/>
        </p:nvSpPr>
        <p:spPr>
          <a:xfrm>
            <a:off x="1143000" y="6004620"/>
            <a:ext cx="13354050" cy="985838"/>
          </a:xfrm>
          <a:prstGeom prst="roundRect">
            <a:avLst>
              <a:gd name="adj" fmla="val 9662"/>
            </a:avLst>
          </a:prstGeom>
          <a:solidFill>
            <a:srgbClr val="FFFFFF"/>
          </a:solidFill>
          <a:ln/>
        </p:spPr>
      </p:sp>
      <p:sp>
        <p:nvSpPr>
          <p:cNvPr id="18" name="Shape 13"/>
          <p:cNvSpPr/>
          <p:nvPr/>
        </p:nvSpPr>
        <p:spPr>
          <a:xfrm>
            <a:off x="1143000" y="6980932"/>
            <a:ext cx="13354050" cy="9525"/>
          </a:xfrm>
          <a:prstGeom prst="rect">
            <a:avLst/>
          </a:prstGeom>
          <a:solidFill>
            <a:srgbClr val="D5DBDF"/>
          </a:solidFill>
          <a:ln/>
        </p:spPr>
      </p:sp>
      <p:sp>
        <p:nvSpPr>
          <p:cNvPr id="19" name="Shape 14"/>
          <p:cNvSpPr/>
          <p:nvPr/>
        </p:nvSpPr>
        <p:spPr>
          <a:xfrm>
            <a:off x="1143000" y="6004620"/>
            <a:ext cx="13354050" cy="9525"/>
          </a:xfrm>
          <a:prstGeom prst="rect">
            <a:avLst/>
          </a:prstGeom>
          <a:solidFill>
            <a:srgbClr val="D5DBDF"/>
          </a:solidFill>
          <a:ln/>
        </p:spPr>
      </p:sp>
      <p:sp>
        <p:nvSpPr>
          <p:cNvPr id="20" name="Shape 15"/>
          <p:cNvSpPr/>
          <p:nvPr/>
        </p:nvSpPr>
        <p:spPr>
          <a:xfrm>
            <a:off x="1143000" y="6004620"/>
            <a:ext cx="47625" cy="985838"/>
          </a:xfrm>
          <a:prstGeom prst="rect">
            <a:avLst/>
          </a:prstGeom>
          <a:solidFill>
            <a:srgbClr val="14304A"/>
          </a:solidFill>
          <a:ln/>
        </p:spPr>
      </p:sp>
      <p:sp>
        <p:nvSpPr>
          <p:cNvPr id="21" name="Shape 16"/>
          <p:cNvSpPr/>
          <p:nvPr/>
        </p:nvSpPr>
        <p:spPr>
          <a:xfrm>
            <a:off x="14487525" y="6004620"/>
            <a:ext cx="9525" cy="985838"/>
          </a:xfrm>
          <a:prstGeom prst="rect">
            <a:avLst/>
          </a:prstGeom>
          <a:solidFill>
            <a:srgbClr val="D5DBDF"/>
          </a:solidFill>
          <a:ln/>
        </p:spPr>
      </p:sp>
      <p:sp>
        <p:nvSpPr>
          <p:cNvPr id="22" name="Text 17"/>
          <p:cNvSpPr/>
          <p:nvPr/>
        </p:nvSpPr>
        <p:spPr>
          <a:xfrm>
            <a:off x="1552575" y="6299895"/>
            <a:ext cx="9147840" cy="43338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14304A"/>
                </a:solidFill>
                <a:latin typeface="Arial" pitchFamily="34" charset="0"/>
                <a:ea typeface="Arial" pitchFamily="34" charset="-122"/>
                <a:cs typeface="Arial" pitchFamily="34" charset="-120"/>
              </a:rPr>
              <a:t>ISO 15189 : </a:t>
            </a:r>
            <a:r>
              <a:rPr lang="en-US" sz="2250" dirty="0">
                <a:solidFill>
                  <a:srgbClr val="1E2933"/>
                </a:solidFill>
                <a:latin typeface="Arial" pitchFamily="34" charset="0"/>
                <a:ea typeface="Arial" pitchFamily="34" charset="-122"/>
                <a:cs typeface="Arial" pitchFamily="34" charset="-120"/>
              </a:rPr>
              <a:t>la responsabilité et la validation restent humaines.</a:t>
            </a:r>
            <a:endParaRPr lang="en-US" sz="2250" dirty="0"/>
          </a:p>
        </p:txBody>
      </p:sp>
      <p:sp>
        <p:nvSpPr>
          <p:cNvPr id="23" name="Shape 18"/>
          <p:cNvSpPr/>
          <p:nvPr/>
        </p:nvSpPr>
        <p:spPr>
          <a:xfrm>
            <a:off x="1143000" y="9020175"/>
            <a:ext cx="16002000" cy="9525"/>
          </a:xfrm>
          <a:prstGeom prst="rect">
            <a:avLst/>
          </a:prstGeom>
          <a:solidFill>
            <a:srgbClr val="D5DBDF"/>
          </a:solidFill>
          <a:ln/>
        </p:spPr>
      </p:sp>
      <p:pic>
        <p:nvPicPr>
          <p:cNvPr id="24" name="Image 3" descr="preencoded.png"/>
          <p:cNvPicPr>
            <a:picLocks noChangeAspect="1"/>
          </p:cNvPicPr>
          <p:nvPr/>
        </p:nvPicPr>
        <p:blipFill>
          <a:blip r:embed="rId9"/>
          <a:stretch>
            <a:fillRect/>
          </a:stretch>
        </p:blipFill>
        <p:spPr>
          <a:xfrm>
            <a:off x="1143000" y="9239250"/>
            <a:ext cx="393204" cy="590550"/>
          </a:xfrm>
          <a:prstGeom prst="rect">
            <a:avLst/>
          </a:prstGeom>
        </p:spPr>
      </p:pic>
      <p:sp>
        <p:nvSpPr>
          <p:cNvPr id="25" name="Text 19"/>
          <p:cNvSpPr/>
          <p:nvPr/>
        </p:nvSpPr>
        <p:spPr>
          <a:xfrm>
            <a:off x="16234321" y="9396413"/>
            <a:ext cx="98687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08 / 23</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04A"/>
        </a:solidFill>
        <a:effectLst/>
      </p:bgPr>
    </p:bg>
    <p:spTree>
      <p:nvGrpSpPr>
        <p:cNvPr id="1" name=""/>
        <p:cNvGrpSpPr/>
        <p:nvPr/>
      </p:nvGrpSpPr>
      <p:grpSpPr>
        <a:xfrm>
          <a:off x="0" y="0"/>
          <a:ext cx="0" cy="0"/>
          <a:chOff x="0" y="0"/>
          <a:chExt cx="0" cy="0"/>
        </a:xfrm>
      </p:grpSpPr>
      <p:sp>
        <p:nvSpPr>
          <p:cNvPr id="2" name="Rectangle 1"/>
          <p:cNvSpPr/>
          <p:nvPr/>
        </p:nvSpPr>
        <p:spPr>
          <a:xfrm>
            <a:off x="1143000" y="1042415"/>
            <a:ext cx="457200" cy="36576"/>
          </a:xfrm>
          <a:prstGeom prst="rect">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737360" y="868680"/>
            <a:ext cx="9144000" cy="365760"/>
          </a:xfrm>
          <a:prstGeom prst="rect">
            <a:avLst/>
          </a:prstGeom>
          <a:noFill/>
        </p:spPr>
        <p:txBody>
          <a:bodyPr wrap="none">
            <a:spAutoFit/>
          </a:bodyPr>
          <a:lstStyle/>
          <a:p>
            <a:r>
              <a:rPr sz="1600" b="1">
                <a:solidFill>
                  <a:srgbClr val="C0623F"/>
                </a:solidFill>
                <a:latin typeface="Arial"/>
              </a:rPr>
              <a:t>HISTOIRE VRAIE · 2023</a:t>
            </a:r>
          </a:p>
        </p:txBody>
      </p:sp>
      <p:sp>
        <p:nvSpPr>
          <p:cNvPr id="4" name="Rectangle 3"/>
          <p:cNvSpPr/>
          <p:nvPr/>
        </p:nvSpPr>
        <p:spPr>
          <a:xfrm>
            <a:off x="1143000" y="3200400"/>
            <a:ext cx="118872" cy="3749039"/>
          </a:xfrm>
          <a:prstGeom prst="rect">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108960"/>
            <a:ext cx="15179040" cy="3931920"/>
          </a:xfrm>
          <a:prstGeom prst="rect">
            <a:avLst/>
          </a:prstGeom>
          <a:noFill/>
        </p:spPr>
        <p:txBody>
          <a:bodyPr wrap="square" anchor="ctr">
            <a:normAutofit/>
          </a:bodyPr>
          <a:lstStyle/>
          <a:p>
            <a:r>
              <a:rPr sz="5400" b="1">
                <a:solidFill>
                  <a:srgbClr val="FFFFFF"/>
                </a:solidFill>
                <a:latin typeface="Arial"/>
              </a:rPr>
              <a:t>Un avocat a cité six jugements à l'appui de son dossier. Aucun n'existait.</a:t>
            </a:r>
          </a:p>
        </p:txBody>
      </p:sp>
      <p:sp>
        <p:nvSpPr>
          <p:cNvPr id="6" name="TextBox 5"/>
          <p:cNvSpPr txBox="1"/>
          <p:nvPr/>
        </p:nvSpPr>
        <p:spPr>
          <a:xfrm>
            <a:off x="16093440" y="9400032"/>
            <a:ext cx="1143000" cy="310896"/>
          </a:xfrm>
          <a:prstGeom prst="rect">
            <a:avLst/>
          </a:prstGeom>
          <a:noFill/>
        </p:spPr>
        <p:txBody>
          <a:bodyPr wrap="none">
            <a:spAutoFit/>
          </a:bodyPr>
          <a:lstStyle/>
          <a:p>
            <a:pPr algn="r"/>
            <a:r>
              <a:rPr sz="1100">
                <a:solidFill>
                  <a:srgbClr val="F7F2EA"/>
                </a:solidFill>
                <a:latin typeface="Arial"/>
              </a:rPr>
              <a:t>09 /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304A"/>
        </a:solidFill>
        <a:effectLst/>
      </p:bgPr>
    </p:bg>
    <p:spTree>
      <p:nvGrpSpPr>
        <p:cNvPr id="1" name=""/>
        <p:cNvGrpSpPr/>
        <p:nvPr/>
      </p:nvGrpSpPr>
      <p:grpSpPr>
        <a:xfrm>
          <a:off x="0" y="0"/>
          <a:ext cx="0" cy="0"/>
          <a:chOff x="0" y="0"/>
          <a:chExt cx="0" cy="0"/>
        </a:xfrm>
      </p:grpSpPr>
      <p:sp>
        <p:nvSpPr>
          <p:cNvPr id="2" name="Shape 0"/>
          <p:cNvSpPr/>
          <p:nvPr/>
        </p:nvSpPr>
        <p:spPr>
          <a:xfrm>
            <a:off x="1143000" y="3860453"/>
            <a:ext cx="438150" cy="19050"/>
          </a:xfrm>
          <a:prstGeom prst="rect">
            <a:avLst/>
          </a:prstGeom>
          <a:solidFill>
            <a:srgbClr val="D7A24A"/>
          </a:solidFill>
          <a:ln/>
        </p:spPr>
      </p:sp>
      <p:sp>
        <p:nvSpPr>
          <p:cNvPr id="3" name="Text 1"/>
          <p:cNvSpPr/>
          <p:nvPr/>
        </p:nvSpPr>
        <p:spPr>
          <a:xfrm>
            <a:off x="1733550" y="3736628"/>
            <a:ext cx="2040166"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D7A24A"/>
                </a:solidFill>
                <a:latin typeface="Arial" pitchFamily="34" charset="0"/>
                <a:ea typeface="Arial" pitchFamily="34" charset="-122"/>
                <a:cs typeface="Arial" pitchFamily="34" charset="-120"/>
              </a:rPr>
              <a:t>SÉQUENCE 2</a:t>
            </a:r>
            <a:endParaRPr lang="en-US" sz="1800" dirty="0"/>
          </a:p>
        </p:txBody>
      </p:sp>
      <p:sp>
        <p:nvSpPr>
          <p:cNvPr id="4" name="Text 2"/>
          <p:cNvSpPr/>
          <p:nvPr/>
        </p:nvSpPr>
        <p:spPr>
          <a:xfrm>
            <a:off x="1143000" y="4384328"/>
            <a:ext cx="9768959" cy="1257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9600" b="1" kern="0" spc="-187" dirty="0">
                <a:solidFill>
                  <a:srgbClr val="FFFFFF"/>
                </a:solidFill>
                <a:latin typeface="Arial" pitchFamily="34" charset="0"/>
                <a:ea typeface="Arial" pitchFamily="34" charset="-122"/>
                <a:cs typeface="Arial" pitchFamily="34" charset="-120"/>
              </a:rPr>
              <a:t>Les règles du jeu</a:t>
            </a:r>
            <a:endParaRPr lang="en-US" sz="9600" dirty="0"/>
          </a:p>
        </p:txBody>
      </p:sp>
      <p:sp>
        <p:nvSpPr>
          <p:cNvPr id="5" name="Text 3"/>
          <p:cNvSpPr/>
          <p:nvPr/>
        </p:nvSpPr>
        <p:spPr>
          <a:xfrm>
            <a:off x="1143000" y="5984528"/>
            <a:ext cx="11658347"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dirty="0">
                <a:solidFill>
                  <a:srgbClr val="C7D2DB"/>
                </a:solidFill>
                <a:latin typeface="Arial" pitchFamily="34" charset="0"/>
                <a:ea typeface="Arial" pitchFamily="34" charset="-122"/>
                <a:cs typeface="Arial" pitchFamily="34" charset="-120"/>
              </a:rPr>
              <a:t>Parce qu'au labo, on manipule des données de santé.</a:t>
            </a:r>
            <a:endParaRPr lang="en-US" sz="3300" dirty="0"/>
          </a:p>
        </p:txBody>
      </p:sp>
      <p:sp>
        <p:nvSpPr>
          <p:cNvPr id="6" name="Shape 4"/>
          <p:cNvSpPr/>
          <p:nvPr/>
        </p:nvSpPr>
        <p:spPr>
          <a:xfrm>
            <a:off x="1143000" y="9020175"/>
            <a:ext cx="16002000" cy="9525"/>
          </a:xfrm>
          <a:prstGeom prst="rect">
            <a:avLst/>
          </a:prstGeom>
          <a:solidFill>
            <a:srgbClr val="F7F2EA">
              <a:alpha val="22000"/>
            </a:srgbClr>
          </a:solidFill>
          <a:ln/>
        </p:spPr>
      </p:sp>
      <p:pic>
        <p:nvPicPr>
          <p:cNvPr id="7"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8" name="Text 5"/>
          <p:cNvSpPr/>
          <p:nvPr/>
        </p:nvSpPr>
        <p:spPr>
          <a:xfrm>
            <a:off x="16282839" y="9396413"/>
            <a:ext cx="938361"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FA2B2"/>
                </a:solidFill>
                <a:latin typeface="Arial" pitchFamily="34" charset="0"/>
                <a:ea typeface="Arial" pitchFamily="34" charset="-122"/>
                <a:cs typeface="Arial" pitchFamily="34" charset="-120"/>
              </a:rPr>
              <a:t>10 / 23</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564508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LES RÈGLES DU JEU</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La donnée de santé est sensible</a:t>
            </a:r>
            <a:endParaRPr lang="en-US" sz="5700" dirty="0"/>
          </a:p>
        </p:txBody>
      </p:sp>
      <p:sp>
        <p:nvSpPr>
          <p:cNvPr id="5" name="Shape 3"/>
          <p:cNvSpPr/>
          <p:nvPr/>
        </p:nvSpPr>
        <p:spPr>
          <a:xfrm>
            <a:off x="1143000" y="2642616"/>
            <a:ext cx="8869680" cy="2743200"/>
          </a:xfrm>
          <a:prstGeom prst="roundRect">
            <a:avLst>
              <a:gd name="adj" fmla="val 4858"/>
            </a:avLst>
          </a:prstGeom>
          <a:solidFill>
            <a:srgbClr val="FFFFFF"/>
          </a:solidFill>
          <a:ln w="9525">
            <a:solidFill>
              <a:srgbClr val="D5DBDF"/>
            </a:solidFill>
            <a:prstDash val="solid"/>
          </a:ln>
        </p:spPr>
      </p:sp>
      <p:sp>
        <p:nvSpPr>
          <p:cNvPr id="6" name="Shape 4"/>
          <p:cNvSpPr/>
          <p:nvPr/>
        </p:nvSpPr>
        <p:spPr>
          <a:xfrm>
            <a:off x="1691640" y="3191256"/>
            <a:ext cx="310896" cy="310896"/>
          </a:xfrm>
          <a:prstGeom prst="ellipse">
            <a:avLst/>
          </a:prstGeom>
          <a:solidFill>
            <a:srgbClr val="14304A"/>
          </a:solidFill>
          <a:ln/>
        </p:spPr>
      </p:sp>
      <p:sp>
        <p:nvSpPr>
          <p:cNvPr id="7" name="Text 5"/>
          <p:cNvSpPr/>
          <p:nvPr/>
        </p:nvSpPr>
        <p:spPr>
          <a:xfrm>
            <a:off x="1691640" y="3913632"/>
            <a:ext cx="7772400" cy="685800"/>
          </a:xfrm>
          <a:prstGeom prst="rect">
            <a:avLst/>
          </a:prstGeom>
          <a:noFill/>
          <a:ln/>
        </p:spPr>
        <p:txBody>
          <a:bodyPr wrap="square" lIns="25400" tIns="25400" rIns="25400" bIns="25400" rtlCol="0" anchor="t">
            <a:normAutofit/>
          </a:bodyPr>
          <a:lstStyle/>
          <a:p>
            <a:pPr marL="0" indent="0" algn="l">
              <a:buNone/>
            </a:pPr>
            <a:r>
              <a:rPr lang="en-US" sz="3200" b="1" dirty="0">
                <a:solidFill>
                  <a:srgbClr val="14304A"/>
                </a:solidFill>
                <a:latin typeface="Arial" pitchFamily="34" charset="0"/>
                <a:ea typeface="Arial" pitchFamily="34" charset="-122"/>
                <a:cs typeface="Arial" pitchFamily="34" charset="-120"/>
              </a:rPr>
              <a:t>Catégorie particulière</a:t>
            </a:r>
            <a:endParaRPr lang="en-US" sz="2550" dirty="0"/>
          </a:p>
        </p:txBody>
      </p:sp>
      <p:sp>
        <p:nvSpPr>
          <p:cNvPr id="8" name="Text 6"/>
          <p:cNvSpPr/>
          <p:nvPr/>
        </p:nvSpPr>
        <p:spPr>
          <a:xfrm>
            <a:off x="1691640" y="4736592"/>
            <a:ext cx="7589519" cy="283463"/>
          </a:xfrm>
          <a:prstGeom prst="rect">
            <a:avLst/>
          </a:prstGeom>
          <a:noFill/>
          <a:ln/>
        </p:spPr>
        <p:txBody>
          <a:bodyPr wrap="square" lIns="25400" tIns="25400" rIns="25400" bIns="25400" rtlCol="0" anchor="t">
            <a:normAutofit/>
          </a:bodyPr>
          <a:lstStyle/>
          <a:p>
            <a:pPr marL="0" indent="0" algn="l">
              <a:lnSpc>
                <a:spcPct val="140000"/>
              </a:lnSpc>
              <a:buNone/>
            </a:pPr>
            <a:r>
              <a:rPr lang="en-US" sz="1900" dirty="0">
                <a:solidFill>
                  <a:srgbClr val="1E2933"/>
                </a:solidFill>
                <a:latin typeface="Arial" pitchFamily="34" charset="0"/>
                <a:ea typeface="Arial" pitchFamily="34" charset="-122"/>
                <a:cs typeface="Arial" pitchFamily="34" charset="-120"/>
              </a:rPr>
              <a:t>Protection renforcée au titre du RGPD, article 9.</a:t>
            </a:r>
            <a:endParaRPr lang="en-US" sz="2175" dirty="0"/>
          </a:p>
        </p:txBody>
      </p:sp>
      <p:sp>
        <p:nvSpPr>
          <p:cNvPr id="9" name="Shape 7"/>
          <p:cNvSpPr/>
          <p:nvPr/>
        </p:nvSpPr>
        <p:spPr>
          <a:xfrm>
            <a:off x="10378440" y="2642616"/>
            <a:ext cx="6766560" cy="1307592"/>
          </a:xfrm>
          <a:prstGeom prst="roundRect">
            <a:avLst>
              <a:gd name="adj" fmla="val 4858"/>
            </a:avLst>
          </a:prstGeom>
          <a:solidFill>
            <a:srgbClr val="FFFFFF"/>
          </a:solidFill>
          <a:ln w="9525">
            <a:solidFill>
              <a:srgbClr val="D5DBDF"/>
            </a:solidFill>
            <a:prstDash val="solid"/>
          </a:ln>
        </p:spPr>
      </p:sp>
      <p:sp>
        <p:nvSpPr>
          <p:cNvPr id="10" name="Shape 8"/>
          <p:cNvSpPr/>
          <p:nvPr/>
        </p:nvSpPr>
        <p:spPr>
          <a:xfrm>
            <a:off x="10789919" y="3177540"/>
            <a:ext cx="237744" cy="237744"/>
          </a:xfrm>
          <a:prstGeom prst="ellipse">
            <a:avLst/>
          </a:prstGeom>
          <a:solidFill>
            <a:srgbClr val="14304A"/>
          </a:solidFill>
          <a:ln/>
        </p:spPr>
      </p:sp>
      <p:sp>
        <p:nvSpPr>
          <p:cNvPr id="11" name="Text 9"/>
          <p:cNvSpPr/>
          <p:nvPr/>
        </p:nvSpPr>
        <p:spPr>
          <a:xfrm>
            <a:off x="11247119" y="2862072"/>
            <a:ext cx="5623560" cy="457200"/>
          </a:xfrm>
          <a:prstGeom prst="rect">
            <a:avLst/>
          </a:prstGeom>
          <a:noFill/>
          <a:ln/>
        </p:spPr>
        <p:txBody>
          <a:bodyPr wrap="square" lIns="25400" tIns="25400" rIns="25400" bIns="25400" rtlCol="0" anchor="t">
            <a:normAutofit/>
          </a:bodyPr>
          <a:lstStyle/>
          <a:p>
            <a:pPr marL="0" indent="0" algn="l">
              <a:buNone/>
            </a:pPr>
            <a:r>
              <a:rPr lang="en-US" sz="1600" b="1" dirty="0">
                <a:solidFill>
                  <a:srgbClr val="14304A"/>
                </a:solidFill>
                <a:latin typeface="Arial" pitchFamily="34" charset="0"/>
                <a:ea typeface="Arial" pitchFamily="34" charset="-122"/>
                <a:cs typeface="Arial" pitchFamily="34" charset="-120"/>
              </a:rPr>
              <a:t>Secret médical</a:t>
            </a:r>
            <a:endParaRPr lang="en-US" sz="2550" dirty="0"/>
          </a:p>
        </p:txBody>
      </p:sp>
      <p:sp>
        <p:nvSpPr>
          <p:cNvPr id="12" name="Text 10"/>
          <p:cNvSpPr/>
          <p:nvPr/>
        </p:nvSpPr>
        <p:spPr>
          <a:xfrm>
            <a:off x="11247119" y="3300984"/>
            <a:ext cx="5623560" cy="484632"/>
          </a:xfrm>
          <a:prstGeom prst="rect">
            <a:avLst/>
          </a:prstGeom>
          <a:noFill/>
          <a:ln/>
        </p:spPr>
        <p:txBody>
          <a:bodyPr wrap="square" lIns="25400" tIns="25400" rIns="25400" bIns="25400" rtlCol="0" anchor="t">
            <a:normAutofit/>
          </a:bodyPr>
          <a:lstStyle/>
          <a:p>
            <a:pPr marL="0" indent="0" algn="l">
              <a:lnSpc>
                <a:spcPct val="140000"/>
              </a:lnSpc>
              <a:buNone/>
            </a:pPr>
            <a:r>
              <a:rPr lang="en-US" sz="1250" dirty="0">
                <a:solidFill>
                  <a:srgbClr val="1E2933"/>
                </a:solidFill>
                <a:latin typeface="Arial" pitchFamily="34" charset="0"/>
                <a:ea typeface="Arial" pitchFamily="34" charset="-122"/>
                <a:cs typeface="Arial" pitchFamily="34" charset="-120"/>
              </a:rPr>
              <a:t>Toute donnée patient en est couverte, sans exception.</a:t>
            </a:r>
            <a:endParaRPr lang="en-US" sz="2175" dirty="0"/>
          </a:p>
        </p:txBody>
      </p:sp>
      <p:sp>
        <p:nvSpPr>
          <p:cNvPr id="13" name="Shape 11"/>
          <p:cNvSpPr/>
          <p:nvPr/>
        </p:nvSpPr>
        <p:spPr>
          <a:xfrm>
            <a:off x="10378440" y="4087368"/>
            <a:ext cx="6766560" cy="1307592"/>
          </a:xfrm>
          <a:prstGeom prst="roundRect">
            <a:avLst>
              <a:gd name="adj" fmla="val 4858"/>
            </a:avLst>
          </a:prstGeom>
          <a:solidFill>
            <a:srgbClr val="FFFFFF"/>
          </a:solidFill>
          <a:ln w="9525">
            <a:solidFill>
              <a:srgbClr val="D5DBDF"/>
            </a:solidFill>
            <a:prstDash val="solid"/>
          </a:ln>
        </p:spPr>
      </p:sp>
      <p:sp>
        <p:nvSpPr>
          <p:cNvPr id="14" name="Shape 12"/>
          <p:cNvSpPr/>
          <p:nvPr/>
        </p:nvSpPr>
        <p:spPr>
          <a:xfrm>
            <a:off x="10789919" y="4622292"/>
            <a:ext cx="237744" cy="237744"/>
          </a:xfrm>
          <a:prstGeom prst="ellipse">
            <a:avLst/>
          </a:prstGeom>
          <a:solidFill>
            <a:srgbClr val="14304A"/>
          </a:solidFill>
          <a:ln/>
        </p:spPr>
      </p:sp>
      <p:sp>
        <p:nvSpPr>
          <p:cNvPr id="15" name="Text 13"/>
          <p:cNvSpPr/>
          <p:nvPr/>
        </p:nvSpPr>
        <p:spPr>
          <a:xfrm>
            <a:off x="11247119" y="4306824"/>
            <a:ext cx="5623560" cy="457200"/>
          </a:xfrm>
          <a:prstGeom prst="rect">
            <a:avLst/>
          </a:prstGeom>
          <a:noFill/>
          <a:ln/>
        </p:spPr>
        <p:txBody>
          <a:bodyPr wrap="square" lIns="25400" tIns="25400" rIns="25400" bIns="25400" rtlCol="0" anchor="t">
            <a:normAutofit/>
          </a:bodyPr>
          <a:lstStyle/>
          <a:p>
            <a:pPr marL="0" indent="0" algn="l">
              <a:buNone/>
            </a:pPr>
            <a:r>
              <a:rPr lang="en-US" sz="1600" b="1" dirty="0">
                <a:solidFill>
                  <a:srgbClr val="14304A"/>
                </a:solidFill>
                <a:latin typeface="Arial" pitchFamily="34" charset="0"/>
                <a:ea typeface="Arial" pitchFamily="34" charset="-122"/>
                <a:cs typeface="Arial" pitchFamily="34" charset="-120"/>
              </a:rPr>
              <a:t>Hébergement HDS</a:t>
            </a:r>
            <a:endParaRPr lang="en-US" sz="2550" dirty="0"/>
          </a:p>
        </p:txBody>
      </p:sp>
      <p:sp>
        <p:nvSpPr>
          <p:cNvPr id="16" name="Text 14"/>
          <p:cNvSpPr/>
          <p:nvPr/>
        </p:nvSpPr>
        <p:spPr>
          <a:xfrm>
            <a:off x="11247119" y="4745736"/>
            <a:ext cx="5623560" cy="484632"/>
          </a:xfrm>
          <a:prstGeom prst="rect">
            <a:avLst/>
          </a:prstGeom>
          <a:noFill/>
          <a:ln/>
        </p:spPr>
        <p:txBody>
          <a:bodyPr wrap="square" lIns="25400" tIns="25400" rIns="25400" bIns="25400" rtlCol="0" anchor="t">
            <a:normAutofit/>
          </a:bodyPr>
          <a:lstStyle/>
          <a:p>
            <a:pPr marL="0" indent="0" algn="l">
              <a:lnSpc>
                <a:spcPct val="140000"/>
              </a:lnSpc>
              <a:buNone/>
            </a:pPr>
            <a:r>
              <a:rPr lang="en-US" sz="1250" dirty="0">
                <a:solidFill>
                  <a:srgbClr val="1E2933"/>
                </a:solidFill>
                <a:latin typeface="Arial" pitchFamily="34" charset="0"/>
                <a:ea typeface="Arial" pitchFamily="34" charset="-122"/>
                <a:cs typeface="Arial" pitchFamily="34" charset="-120"/>
              </a:rPr>
              <a:t>Stockage sur infrastructure certifiée « Données de Santé ».</a:t>
            </a:r>
            <a:endParaRPr lang="en-US" sz="2175" dirty="0"/>
          </a:p>
        </p:txBody>
      </p:sp>
      <p:sp>
        <p:nvSpPr>
          <p:cNvPr id="17" name="Shape 15"/>
          <p:cNvSpPr/>
          <p:nvPr/>
        </p:nvSpPr>
        <p:spPr>
          <a:xfrm>
            <a:off x="1143000" y="9020175"/>
            <a:ext cx="16002000" cy="9525"/>
          </a:xfrm>
          <a:prstGeom prst="rect">
            <a:avLst/>
          </a:prstGeom>
          <a:solidFill>
            <a:srgbClr val="D5DBDF"/>
          </a:solidFill>
          <a:ln/>
        </p:spPr>
      </p:sp>
      <p:pic>
        <p:nvPicPr>
          <p:cNvPr id="18"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19" name="Text 16"/>
          <p:cNvSpPr/>
          <p:nvPr/>
        </p:nvSpPr>
        <p:spPr>
          <a:xfrm>
            <a:off x="16334036" y="9396413"/>
            <a:ext cx="887164"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11 / 23</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81075"/>
            <a:ext cx="381000" cy="19050"/>
          </a:xfrm>
          <a:prstGeom prst="rect">
            <a:avLst/>
          </a:prstGeom>
          <a:solidFill>
            <a:srgbClr val="C0623F"/>
          </a:solidFill>
          <a:ln/>
        </p:spPr>
      </p:sp>
      <p:sp>
        <p:nvSpPr>
          <p:cNvPr id="3" name="Text 1"/>
          <p:cNvSpPr/>
          <p:nvPr/>
        </p:nvSpPr>
        <p:spPr>
          <a:xfrm>
            <a:off x="1676400" y="857250"/>
            <a:ext cx="4991383"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 RÉFLEXE N°1</a:t>
            </a:r>
            <a:endParaRPr lang="en-US" sz="1800" dirty="0"/>
          </a:p>
        </p:txBody>
      </p:sp>
      <p:sp>
        <p:nvSpPr>
          <p:cNvPr id="4" name="Shape 2"/>
          <p:cNvSpPr/>
          <p:nvPr/>
        </p:nvSpPr>
        <p:spPr>
          <a:xfrm>
            <a:off x="1143000" y="1562100"/>
            <a:ext cx="16002000" cy="2337792"/>
          </a:xfrm>
          <a:prstGeom prst="roundRect">
            <a:avLst>
              <a:gd name="adj" fmla="val 7334"/>
            </a:avLst>
          </a:prstGeom>
          <a:solidFill>
            <a:srgbClr val="C0623F"/>
          </a:solidFill>
          <a:ln/>
        </p:spPr>
      </p:sp>
      <p:sp>
        <p:nvSpPr>
          <p:cNvPr id="5" name="Text 3"/>
          <p:cNvSpPr/>
          <p:nvPr/>
        </p:nvSpPr>
        <p:spPr>
          <a:xfrm>
            <a:off x="1752600" y="2133600"/>
            <a:ext cx="16261080" cy="314325"/>
          </a:xfrm>
          <a:prstGeom prst="rect">
            <a:avLst/>
          </a:prstGeom>
          <a:noFill/>
          <a:ln/>
        </p:spPr>
        <p:txBody>
          <a:bodyPr wrap="square" lIns="25400" tIns="25400" rIns="25400" bIns="25400" rtlCol="0" anchor="t">
            <a:normAutofit lnSpcReduction="10000"/>
          </a:bodyPr>
          <a:lstStyle/>
          <a:p>
            <a:pPr marL="0" indent="0" algn="l">
              <a:buNone/>
            </a:pPr>
            <a:r>
              <a:rPr lang="en-US" sz="1875" b="1" kern="0" spc="225" dirty="0">
                <a:solidFill>
                  <a:srgbClr val="F6D9CC"/>
                </a:solidFill>
                <a:latin typeface="Arial" pitchFamily="34" charset="0"/>
                <a:ea typeface="Arial" pitchFamily="34" charset="-122"/>
                <a:cs typeface="Arial" pitchFamily="34" charset="-120"/>
              </a:rPr>
              <a:t>LE RÉFLEXE N°1</a:t>
            </a:r>
            <a:endParaRPr lang="en-US" sz="1875" dirty="0"/>
          </a:p>
        </p:txBody>
      </p:sp>
      <p:sp>
        <p:nvSpPr>
          <p:cNvPr id="6" name="Text 4"/>
          <p:cNvSpPr/>
          <p:nvPr/>
        </p:nvSpPr>
        <p:spPr>
          <a:xfrm>
            <a:off x="1752600" y="2581275"/>
            <a:ext cx="16261080" cy="785217"/>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5550" b="1" kern="0" spc="-112" dirty="0">
                <a:solidFill>
                  <a:srgbClr val="FFFFFF"/>
                </a:solidFill>
                <a:latin typeface="Arial" pitchFamily="34" charset="0"/>
                <a:ea typeface="Arial" pitchFamily="34" charset="-122"/>
                <a:cs typeface="Arial" pitchFamily="34" charset="-120"/>
              </a:rPr>
              <a:t>Aucune donnée patient dans une IA grand public.</a:t>
            </a:r>
            <a:endParaRPr lang="en-US" sz="5550" dirty="0"/>
          </a:p>
        </p:txBody>
      </p:sp>
      <p:sp>
        <p:nvSpPr>
          <p:cNvPr id="7" name="Shape 5"/>
          <p:cNvSpPr/>
          <p:nvPr/>
        </p:nvSpPr>
        <p:spPr>
          <a:xfrm>
            <a:off x="1143000" y="4338042"/>
            <a:ext cx="5143500" cy="2022872"/>
          </a:xfrm>
          <a:prstGeom prst="roundRect">
            <a:avLst>
              <a:gd name="adj" fmla="val 6592"/>
            </a:avLst>
          </a:prstGeom>
          <a:solidFill>
            <a:srgbClr val="FFFFFF"/>
          </a:solidFill>
          <a:ln w="9525">
            <a:solidFill>
              <a:srgbClr val="D5DBDF"/>
            </a:solidFill>
            <a:prstDash val="solid"/>
          </a:ln>
        </p:spPr>
      </p:sp>
      <p:sp>
        <p:nvSpPr>
          <p:cNvPr id="8" name="Text 6"/>
          <p:cNvSpPr/>
          <p:nvPr/>
        </p:nvSpPr>
        <p:spPr>
          <a:xfrm>
            <a:off x="1533525" y="4728567"/>
            <a:ext cx="4798695"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0623F"/>
                </a:solidFill>
                <a:latin typeface="Arial" pitchFamily="34" charset="0"/>
                <a:ea typeface="Arial" pitchFamily="34" charset="-122"/>
                <a:cs typeface="Arial" pitchFamily="34" charset="-120"/>
              </a:rPr>
              <a:t>Non HDS</a:t>
            </a:r>
            <a:endParaRPr lang="en-US" sz="2250" dirty="0"/>
          </a:p>
        </p:txBody>
      </p:sp>
      <p:sp>
        <p:nvSpPr>
          <p:cNvPr id="9" name="Text 7"/>
          <p:cNvSpPr/>
          <p:nvPr/>
        </p:nvSpPr>
        <p:spPr>
          <a:xfrm>
            <a:off x="1533525" y="5223867"/>
            <a:ext cx="4493324" cy="784622"/>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Hébergement non certifié pour les données de santé.</a:t>
            </a:r>
            <a:endParaRPr lang="en-US" sz="2100" dirty="0"/>
          </a:p>
        </p:txBody>
      </p:sp>
      <p:sp>
        <p:nvSpPr>
          <p:cNvPr id="10" name="Shape 8"/>
          <p:cNvSpPr/>
          <p:nvPr/>
        </p:nvSpPr>
        <p:spPr>
          <a:xfrm>
            <a:off x="6572250" y="4338042"/>
            <a:ext cx="5143500" cy="2022872"/>
          </a:xfrm>
          <a:prstGeom prst="roundRect">
            <a:avLst>
              <a:gd name="adj" fmla="val 6592"/>
            </a:avLst>
          </a:prstGeom>
          <a:solidFill>
            <a:srgbClr val="FFFFFF"/>
          </a:solidFill>
          <a:ln w="9525">
            <a:solidFill>
              <a:srgbClr val="D5DBDF"/>
            </a:solidFill>
            <a:prstDash val="solid"/>
          </a:ln>
        </p:spPr>
      </p:sp>
      <p:sp>
        <p:nvSpPr>
          <p:cNvPr id="11" name="Text 9"/>
          <p:cNvSpPr/>
          <p:nvPr/>
        </p:nvSpPr>
        <p:spPr>
          <a:xfrm>
            <a:off x="6962775" y="4728567"/>
            <a:ext cx="4798695"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0623F"/>
                </a:solidFill>
                <a:latin typeface="Arial" pitchFamily="34" charset="0"/>
                <a:ea typeface="Arial" pitchFamily="34" charset="-122"/>
                <a:cs typeface="Arial" pitchFamily="34" charset="-120"/>
              </a:rPr>
              <a:t>Pas de contrat (DPA)</a:t>
            </a:r>
            <a:endParaRPr lang="en-US" sz="2250" dirty="0"/>
          </a:p>
        </p:txBody>
      </p:sp>
      <p:sp>
        <p:nvSpPr>
          <p:cNvPr id="12" name="Text 10"/>
          <p:cNvSpPr/>
          <p:nvPr/>
        </p:nvSpPr>
        <p:spPr>
          <a:xfrm>
            <a:off x="6962775" y="5223867"/>
            <a:ext cx="4493324" cy="784622"/>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Aucun contrat de sous-traitance encadrant l'usage.</a:t>
            </a:r>
            <a:endParaRPr lang="en-US" sz="2100" dirty="0"/>
          </a:p>
        </p:txBody>
      </p:sp>
      <p:sp>
        <p:nvSpPr>
          <p:cNvPr id="13" name="Shape 11"/>
          <p:cNvSpPr/>
          <p:nvPr/>
        </p:nvSpPr>
        <p:spPr>
          <a:xfrm>
            <a:off x="12001500" y="4338042"/>
            <a:ext cx="5143500" cy="2022872"/>
          </a:xfrm>
          <a:prstGeom prst="roundRect">
            <a:avLst>
              <a:gd name="adj" fmla="val 6592"/>
            </a:avLst>
          </a:prstGeom>
          <a:solidFill>
            <a:srgbClr val="FFFFFF"/>
          </a:solidFill>
          <a:ln w="9525">
            <a:solidFill>
              <a:srgbClr val="D5DBDF"/>
            </a:solidFill>
            <a:prstDash val="solid"/>
          </a:ln>
        </p:spPr>
      </p:sp>
      <p:sp>
        <p:nvSpPr>
          <p:cNvPr id="14" name="Text 12"/>
          <p:cNvSpPr/>
          <p:nvPr/>
        </p:nvSpPr>
        <p:spPr>
          <a:xfrm>
            <a:off x="12392025" y="4728567"/>
            <a:ext cx="4798695"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0623F"/>
                </a:solidFill>
                <a:latin typeface="Arial" pitchFamily="34" charset="0"/>
                <a:ea typeface="Arial" pitchFamily="34" charset="-122"/>
                <a:cs typeface="Arial" pitchFamily="34" charset="-120"/>
              </a:rPr>
              <a:t>Données réutilisées</a:t>
            </a:r>
            <a:endParaRPr lang="en-US" sz="2250" dirty="0"/>
          </a:p>
        </p:txBody>
      </p:sp>
      <p:sp>
        <p:nvSpPr>
          <p:cNvPr id="15" name="Text 13"/>
          <p:cNvSpPr/>
          <p:nvPr/>
        </p:nvSpPr>
        <p:spPr>
          <a:xfrm>
            <a:off x="12392025" y="5223867"/>
            <a:ext cx="4493324" cy="784622"/>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Vos saisies peuvent nourrir l'entraînement du modèle.</a:t>
            </a:r>
            <a:endParaRPr lang="en-US" sz="2100" dirty="0"/>
          </a:p>
        </p:txBody>
      </p:sp>
      <p:sp>
        <p:nvSpPr>
          <p:cNvPr id="16" name="Shape 14"/>
          <p:cNvSpPr/>
          <p:nvPr/>
        </p:nvSpPr>
        <p:spPr>
          <a:xfrm>
            <a:off x="1143000" y="9020175"/>
            <a:ext cx="16002000" cy="9525"/>
          </a:xfrm>
          <a:prstGeom prst="rect">
            <a:avLst/>
          </a:prstGeom>
          <a:solidFill>
            <a:srgbClr val="D5DBDF"/>
          </a:solidFill>
          <a:ln/>
        </p:spPr>
      </p:sp>
      <p:pic>
        <p:nvPicPr>
          <p:cNvPr id="17"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18" name="Text 15"/>
          <p:cNvSpPr/>
          <p:nvPr/>
        </p:nvSpPr>
        <p:spPr>
          <a:xfrm>
            <a:off x="16287601" y="9396413"/>
            <a:ext cx="93359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12 / 23</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23925"/>
            <a:ext cx="381000" cy="19050"/>
          </a:xfrm>
          <a:prstGeom prst="rect">
            <a:avLst/>
          </a:prstGeom>
          <a:solidFill>
            <a:srgbClr val="C0623F"/>
          </a:solidFill>
          <a:ln/>
        </p:spPr>
      </p:sp>
      <p:sp>
        <p:nvSpPr>
          <p:cNvPr id="3" name="Text 1"/>
          <p:cNvSpPr/>
          <p:nvPr/>
        </p:nvSpPr>
        <p:spPr>
          <a:xfrm>
            <a:off x="1676400" y="800100"/>
            <a:ext cx="564508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LES RÈGLES DU JEU</a:t>
            </a:r>
            <a:endParaRPr lang="en-US" sz="1800" dirty="0"/>
          </a:p>
        </p:txBody>
      </p:sp>
      <p:sp>
        <p:nvSpPr>
          <p:cNvPr id="4" name="Text 2"/>
          <p:cNvSpPr/>
          <p:nvPr/>
        </p:nvSpPr>
        <p:spPr>
          <a:xfrm>
            <a:off x="1143000" y="1219200"/>
            <a:ext cx="17602200" cy="711696"/>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100" b="1" kern="0" spc="-112" dirty="0">
                <a:solidFill>
                  <a:srgbClr val="14304A"/>
                </a:solidFill>
                <a:latin typeface="Arial" pitchFamily="34" charset="0"/>
                <a:ea typeface="Arial" pitchFamily="34" charset="-122"/>
                <a:cs typeface="Arial" pitchFamily="34" charset="-120"/>
              </a:rPr>
              <a:t>Ce qu'on ne saisit jamais</a:t>
            </a:r>
            <a:endParaRPr lang="en-US" sz="5100" dirty="0"/>
          </a:p>
        </p:txBody>
      </p:sp>
      <p:sp>
        <p:nvSpPr>
          <p:cNvPr id="5" name="Shape 3"/>
          <p:cNvSpPr/>
          <p:nvPr/>
        </p:nvSpPr>
        <p:spPr>
          <a:xfrm>
            <a:off x="1143000" y="2216646"/>
            <a:ext cx="16002000" cy="1255365"/>
          </a:xfrm>
          <a:prstGeom prst="roundRect">
            <a:avLst>
              <a:gd name="adj" fmla="val 10622"/>
            </a:avLst>
          </a:prstGeom>
          <a:solidFill>
            <a:srgbClr val="FFFFFF"/>
          </a:solidFill>
          <a:ln w="9525">
            <a:solidFill>
              <a:srgbClr val="D5DBDF"/>
            </a:solidFill>
            <a:prstDash val="solid"/>
          </a:ln>
        </p:spPr>
      </p:sp>
      <p:sp>
        <p:nvSpPr>
          <p:cNvPr id="6" name="Text 4"/>
          <p:cNvSpPr/>
          <p:nvPr/>
        </p:nvSpPr>
        <p:spPr>
          <a:xfrm>
            <a:off x="1571625" y="2582317"/>
            <a:ext cx="609600" cy="561975"/>
          </a:xfrm>
          <a:prstGeom prst="rect">
            <a:avLst/>
          </a:prstGeom>
          <a:noFill/>
          <a:ln/>
        </p:spPr>
        <p:txBody>
          <a:bodyPr wrap="square" lIns="25400" tIns="25400" rIns="25400" bIns="25400" rtlCol="0" anchor="t">
            <a:normAutofit lnSpcReduction="10000"/>
          </a:bodyPr>
          <a:lstStyle/>
          <a:p>
            <a:pPr marL="0" indent="0" algn="l">
              <a:buNone/>
            </a:pPr>
            <a:r>
              <a:rPr lang="en-US" sz="3600" b="1" dirty="0">
                <a:solidFill>
                  <a:srgbClr val="C0623F"/>
                </a:solidFill>
                <a:latin typeface="Arial" pitchFamily="34" charset="0"/>
                <a:ea typeface="Arial" pitchFamily="34" charset="-122"/>
                <a:cs typeface="Arial" pitchFamily="34" charset="-120"/>
              </a:rPr>
              <a:t>1</a:t>
            </a:r>
            <a:endParaRPr lang="en-US" sz="3600" dirty="0"/>
          </a:p>
        </p:txBody>
      </p:sp>
      <p:sp>
        <p:nvSpPr>
          <p:cNvPr id="7" name="Text 5"/>
          <p:cNvSpPr/>
          <p:nvPr/>
        </p:nvSpPr>
        <p:spPr>
          <a:xfrm>
            <a:off x="2428875" y="2492871"/>
            <a:ext cx="3778940"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4304A"/>
                </a:solidFill>
                <a:latin typeface="Arial" pitchFamily="34" charset="0"/>
                <a:ea typeface="Arial" pitchFamily="34" charset="-122"/>
                <a:cs typeface="Arial" pitchFamily="34" charset="-120"/>
              </a:rPr>
              <a:t>L'identité d'un patient</a:t>
            </a:r>
            <a:endParaRPr lang="en-US" sz="2250" dirty="0"/>
          </a:p>
        </p:txBody>
      </p:sp>
      <p:sp>
        <p:nvSpPr>
          <p:cNvPr id="8" name="Text 6"/>
          <p:cNvSpPr/>
          <p:nvPr/>
        </p:nvSpPr>
        <p:spPr>
          <a:xfrm>
            <a:off x="2428875" y="2873871"/>
            <a:ext cx="3778940"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1E2933"/>
                </a:solidFill>
                <a:latin typeface="Arial" pitchFamily="34" charset="0"/>
                <a:ea typeface="Arial" pitchFamily="34" charset="-122"/>
                <a:cs typeface="Arial" pitchFamily="34" charset="-120"/>
              </a:rPr>
              <a:t>Nom, date de naissance, NIP.</a:t>
            </a:r>
            <a:endParaRPr lang="en-US" sz="1950" dirty="0"/>
          </a:p>
        </p:txBody>
      </p:sp>
      <p:sp>
        <p:nvSpPr>
          <p:cNvPr id="9" name="Shape 7"/>
          <p:cNvSpPr/>
          <p:nvPr/>
        </p:nvSpPr>
        <p:spPr>
          <a:xfrm>
            <a:off x="1143000" y="3662511"/>
            <a:ext cx="16002000" cy="1255365"/>
          </a:xfrm>
          <a:prstGeom prst="roundRect">
            <a:avLst>
              <a:gd name="adj" fmla="val 10622"/>
            </a:avLst>
          </a:prstGeom>
          <a:solidFill>
            <a:srgbClr val="FFFFFF"/>
          </a:solidFill>
          <a:ln w="9525">
            <a:solidFill>
              <a:srgbClr val="D5DBDF"/>
            </a:solidFill>
            <a:prstDash val="solid"/>
          </a:ln>
        </p:spPr>
      </p:sp>
      <p:sp>
        <p:nvSpPr>
          <p:cNvPr id="10" name="Text 8"/>
          <p:cNvSpPr/>
          <p:nvPr/>
        </p:nvSpPr>
        <p:spPr>
          <a:xfrm>
            <a:off x="1571625" y="4028182"/>
            <a:ext cx="609600" cy="561975"/>
          </a:xfrm>
          <a:prstGeom prst="rect">
            <a:avLst/>
          </a:prstGeom>
          <a:noFill/>
          <a:ln/>
        </p:spPr>
        <p:txBody>
          <a:bodyPr wrap="square" lIns="25400" tIns="25400" rIns="25400" bIns="25400" rtlCol="0" anchor="t">
            <a:normAutofit lnSpcReduction="10000"/>
          </a:bodyPr>
          <a:lstStyle/>
          <a:p>
            <a:pPr marL="0" indent="0" algn="l">
              <a:buNone/>
            </a:pPr>
            <a:r>
              <a:rPr lang="en-US" sz="3600" b="1" dirty="0">
                <a:solidFill>
                  <a:srgbClr val="C0623F"/>
                </a:solidFill>
                <a:latin typeface="Arial" pitchFamily="34" charset="0"/>
                <a:ea typeface="Arial" pitchFamily="34" charset="-122"/>
                <a:cs typeface="Arial" pitchFamily="34" charset="-120"/>
              </a:rPr>
              <a:t>2</a:t>
            </a:r>
            <a:endParaRPr lang="en-US" sz="3600" dirty="0"/>
          </a:p>
        </p:txBody>
      </p:sp>
      <p:sp>
        <p:nvSpPr>
          <p:cNvPr id="11" name="Text 9"/>
          <p:cNvSpPr/>
          <p:nvPr/>
        </p:nvSpPr>
        <p:spPr>
          <a:xfrm>
            <a:off x="2428875" y="3938736"/>
            <a:ext cx="7492395"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4304A"/>
                </a:solidFill>
                <a:latin typeface="Arial" pitchFamily="34" charset="0"/>
                <a:ea typeface="Arial" pitchFamily="34" charset="-122"/>
                <a:cs typeface="Arial" pitchFamily="34" charset="-120"/>
              </a:rPr>
              <a:t>Des données cliniques nominatives</a:t>
            </a:r>
            <a:endParaRPr lang="en-US" sz="2250" dirty="0"/>
          </a:p>
        </p:txBody>
      </p:sp>
      <p:sp>
        <p:nvSpPr>
          <p:cNvPr id="12" name="Text 10"/>
          <p:cNvSpPr/>
          <p:nvPr/>
        </p:nvSpPr>
        <p:spPr>
          <a:xfrm>
            <a:off x="2428875" y="4319736"/>
            <a:ext cx="7492395"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1E2933"/>
                </a:solidFill>
                <a:latin typeface="Arial" pitchFamily="34" charset="0"/>
                <a:ea typeface="Arial" pitchFamily="34" charset="-122"/>
                <a:cs typeface="Arial" pitchFamily="34" charset="-120"/>
              </a:rPr>
              <a:t>Résultats ou éléments cliniques rattachés à une personne.</a:t>
            </a:r>
            <a:endParaRPr lang="en-US" sz="1950" dirty="0"/>
          </a:p>
        </p:txBody>
      </p:sp>
      <p:sp>
        <p:nvSpPr>
          <p:cNvPr id="13" name="Shape 11"/>
          <p:cNvSpPr/>
          <p:nvPr/>
        </p:nvSpPr>
        <p:spPr>
          <a:xfrm>
            <a:off x="1143000" y="5108377"/>
            <a:ext cx="16002000" cy="1255365"/>
          </a:xfrm>
          <a:prstGeom prst="roundRect">
            <a:avLst>
              <a:gd name="adj" fmla="val 10622"/>
            </a:avLst>
          </a:prstGeom>
          <a:solidFill>
            <a:srgbClr val="FFFFFF"/>
          </a:solidFill>
          <a:ln w="9525">
            <a:solidFill>
              <a:srgbClr val="D5DBDF"/>
            </a:solidFill>
            <a:prstDash val="solid"/>
          </a:ln>
        </p:spPr>
      </p:sp>
      <p:sp>
        <p:nvSpPr>
          <p:cNvPr id="14" name="Text 12"/>
          <p:cNvSpPr/>
          <p:nvPr/>
        </p:nvSpPr>
        <p:spPr>
          <a:xfrm>
            <a:off x="1571625" y="5474047"/>
            <a:ext cx="609600" cy="561975"/>
          </a:xfrm>
          <a:prstGeom prst="rect">
            <a:avLst/>
          </a:prstGeom>
          <a:noFill/>
          <a:ln/>
        </p:spPr>
        <p:txBody>
          <a:bodyPr wrap="square" lIns="25400" tIns="25400" rIns="25400" bIns="25400" rtlCol="0" anchor="t">
            <a:normAutofit lnSpcReduction="10000"/>
          </a:bodyPr>
          <a:lstStyle/>
          <a:p>
            <a:pPr marL="0" indent="0" algn="l">
              <a:buNone/>
            </a:pPr>
            <a:r>
              <a:rPr lang="en-US" sz="3600" b="1" dirty="0">
                <a:solidFill>
                  <a:srgbClr val="C0623F"/>
                </a:solidFill>
                <a:latin typeface="Arial" pitchFamily="34" charset="0"/>
                <a:ea typeface="Arial" pitchFamily="34" charset="-122"/>
                <a:cs typeface="Arial" pitchFamily="34" charset="-120"/>
              </a:rPr>
              <a:t>3</a:t>
            </a:r>
            <a:endParaRPr lang="en-US" sz="3600" dirty="0"/>
          </a:p>
        </p:txBody>
      </p:sp>
      <p:sp>
        <p:nvSpPr>
          <p:cNvPr id="15" name="Text 13"/>
          <p:cNvSpPr/>
          <p:nvPr/>
        </p:nvSpPr>
        <p:spPr>
          <a:xfrm>
            <a:off x="2428875" y="5384602"/>
            <a:ext cx="5191110"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4304A"/>
                </a:solidFill>
                <a:latin typeface="Arial" pitchFamily="34" charset="0"/>
                <a:ea typeface="Arial" pitchFamily="34" charset="-122"/>
                <a:cs typeface="Arial" pitchFamily="34" charset="-120"/>
              </a:rPr>
              <a:t>Tout document ré-identifiant</a:t>
            </a:r>
            <a:endParaRPr lang="en-US" sz="2250" dirty="0"/>
          </a:p>
        </p:txBody>
      </p:sp>
      <p:sp>
        <p:nvSpPr>
          <p:cNvPr id="16" name="Text 14"/>
          <p:cNvSpPr/>
          <p:nvPr/>
        </p:nvSpPr>
        <p:spPr>
          <a:xfrm>
            <a:off x="2428875" y="5765602"/>
            <a:ext cx="5191110"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1E2933"/>
                </a:solidFill>
                <a:latin typeface="Arial" pitchFamily="34" charset="0"/>
                <a:ea typeface="Arial" pitchFamily="34" charset="-122"/>
                <a:cs typeface="Arial" pitchFamily="34" charset="-120"/>
              </a:rPr>
              <a:t>Ordonnance, compte rendu, export brut.</a:t>
            </a:r>
            <a:endParaRPr lang="en-US" sz="1950" dirty="0"/>
          </a:p>
        </p:txBody>
      </p:sp>
      <p:sp>
        <p:nvSpPr>
          <p:cNvPr id="17" name="Shape 15"/>
          <p:cNvSpPr/>
          <p:nvPr/>
        </p:nvSpPr>
        <p:spPr>
          <a:xfrm>
            <a:off x="1143000" y="6554242"/>
            <a:ext cx="16002000" cy="1363861"/>
          </a:xfrm>
          <a:prstGeom prst="roundRect">
            <a:avLst>
              <a:gd name="adj" fmla="val 9777"/>
            </a:avLst>
          </a:prstGeom>
          <a:solidFill>
            <a:srgbClr val="FFFFFF"/>
          </a:solidFill>
          <a:ln w="9525">
            <a:solidFill>
              <a:srgbClr val="D5DBDF"/>
            </a:solidFill>
            <a:prstDash val="solid"/>
          </a:ln>
        </p:spPr>
      </p:sp>
      <p:sp>
        <p:nvSpPr>
          <p:cNvPr id="18" name="Text 16"/>
          <p:cNvSpPr/>
          <p:nvPr/>
        </p:nvSpPr>
        <p:spPr>
          <a:xfrm>
            <a:off x="1571625" y="6974235"/>
            <a:ext cx="609600" cy="561975"/>
          </a:xfrm>
          <a:prstGeom prst="rect">
            <a:avLst/>
          </a:prstGeom>
          <a:noFill/>
          <a:ln/>
        </p:spPr>
        <p:txBody>
          <a:bodyPr wrap="square" lIns="25400" tIns="25400" rIns="25400" bIns="25400" rtlCol="0" anchor="t">
            <a:normAutofit lnSpcReduction="10000"/>
          </a:bodyPr>
          <a:lstStyle/>
          <a:p>
            <a:pPr marL="0" indent="0" algn="l">
              <a:buNone/>
            </a:pPr>
            <a:r>
              <a:rPr lang="en-US" sz="3600" b="1" dirty="0">
                <a:solidFill>
                  <a:srgbClr val="C0623F"/>
                </a:solidFill>
                <a:latin typeface="Arial" pitchFamily="34" charset="0"/>
                <a:ea typeface="Arial" pitchFamily="34" charset="-122"/>
                <a:cs typeface="Arial" pitchFamily="34" charset="-120"/>
              </a:rPr>
              <a:t>4</a:t>
            </a:r>
            <a:endParaRPr lang="en-US" sz="3600" dirty="0"/>
          </a:p>
        </p:txBody>
      </p:sp>
      <p:sp>
        <p:nvSpPr>
          <p:cNvPr id="19" name="Text 17"/>
          <p:cNvSpPr/>
          <p:nvPr/>
        </p:nvSpPr>
        <p:spPr>
          <a:xfrm>
            <a:off x="2428875" y="6830467"/>
            <a:ext cx="10079519"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4304A"/>
                </a:solidFill>
                <a:latin typeface="Arial" pitchFamily="34" charset="0"/>
                <a:ea typeface="Arial" pitchFamily="34" charset="-122"/>
                <a:cs typeface="Arial" pitchFamily="34" charset="-120"/>
              </a:rPr>
              <a:t>L'identité d'un collaborateur ou une info interne sensible</a:t>
            </a:r>
            <a:endParaRPr lang="en-US" sz="2250" dirty="0"/>
          </a:p>
        </p:txBody>
      </p:sp>
      <p:sp>
        <p:nvSpPr>
          <p:cNvPr id="20" name="Text 18"/>
          <p:cNvSpPr/>
          <p:nvPr/>
        </p:nvSpPr>
        <p:spPr>
          <a:xfrm>
            <a:off x="2428875" y="7265640"/>
            <a:ext cx="6306636"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1E2933"/>
                </a:solidFill>
                <a:latin typeface="Arial" pitchFamily="34" charset="0"/>
                <a:ea typeface="Arial" pitchFamily="34" charset="-122"/>
                <a:cs typeface="Arial" pitchFamily="34" charset="-120"/>
              </a:rPr>
              <a:t>Tout ce que l'entreprise n'autorise pas à diffuser.</a:t>
            </a:r>
            <a:endParaRPr lang="en-US" sz="1950" dirty="0"/>
          </a:p>
        </p:txBody>
      </p:sp>
      <p:sp>
        <p:nvSpPr>
          <p:cNvPr id="21" name="Shape 19"/>
          <p:cNvSpPr/>
          <p:nvPr/>
        </p:nvSpPr>
        <p:spPr>
          <a:xfrm>
            <a:off x="8295531" y="7211467"/>
            <a:ext cx="3296543" cy="430411"/>
          </a:xfrm>
          <a:prstGeom prst="roundRect">
            <a:avLst>
              <a:gd name="adj" fmla="val 17704"/>
            </a:avLst>
          </a:prstGeom>
          <a:solidFill>
            <a:srgbClr val="F7F2EA"/>
          </a:solidFill>
          <a:ln w="9525">
            <a:solidFill>
              <a:srgbClr val="B7BEC4"/>
            </a:solidFill>
            <a:prstDash val="dash"/>
          </a:ln>
        </p:spPr>
      </p:sp>
      <p:sp>
        <p:nvSpPr>
          <p:cNvPr id="22" name="Text 20"/>
          <p:cNvSpPr/>
          <p:nvPr/>
        </p:nvSpPr>
        <p:spPr>
          <a:xfrm>
            <a:off x="8457456" y="7278142"/>
            <a:ext cx="3071589"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8A9097"/>
                </a:solidFill>
                <a:latin typeface="Arial" pitchFamily="34" charset="0"/>
                <a:ea typeface="Arial" pitchFamily="34" charset="-122"/>
                <a:cs typeface="Arial" pitchFamily="34" charset="-120"/>
              </a:rPr>
              <a:t>[périmètre interne à définir]</a:t>
            </a:r>
            <a:endParaRPr lang="en-US" sz="1800" dirty="0"/>
          </a:p>
        </p:txBody>
      </p:sp>
      <p:sp>
        <p:nvSpPr>
          <p:cNvPr id="23" name="Shape 21"/>
          <p:cNvSpPr/>
          <p:nvPr/>
        </p:nvSpPr>
        <p:spPr>
          <a:xfrm>
            <a:off x="1143000" y="9020175"/>
            <a:ext cx="16002000" cy="9525"/>
          </a:xfrm>
          <a:prstGeom prst="rect">
            <a:avLst/>
          </a:prstGeom>
          <a:solidFill>
            <a:srgbClr val="D5DBDF"/>
          </a:solidFill>
          <a:ln/>
        </p:spPr>
      </p:sp>
      <p:pic>
        <p:nvPicPr>
          <p:cNvPr id="24"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25" name="Text 22"/>
          <p:cNvSpPr/>
          <p:nvPr/>
        </p:nvSpPr>
        <p:spPr>
          <a:xfrm>
            <a:off x="16285815" y="9396413"/>
            <a:ext cx="935385"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13 / 23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564508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LES RÈGLES DU JEU</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Alors, qu'a-t-on le droit de faire ?</a:t>
            </a:r>
            <a:endParaRPr lang="en-US" sz="5700" dirty="0"/>
          </a:p>
        </p:txBody>
      </p:sp>
      <p:sp>
        <p:nvSpPr>
          <p:cNvPr id="5" name="Shape 3"/>
          <p:cNvSpPr/>
          <p:nvPr/>
        </p:nvSpPr>
        <p:spPr>
          <a:xfrm>
            <a:off x="1143000" y="2562523"/>
            <a:ext cx="6400800" cy="3138488"/>
          </a:xfrm>
          <a:prstGeom prst="roundRect">
            <a:avLst>
              <a:gd name="adj" fmla="val 4249"/>
            </a:avLst>
          </a:prstGeom>
          <a:solidFill>
            <a:srgbClr val="FFFFFF"/>
          </a:solidFill>
          <a:ln/>
        </p:spPr>
      </p:sp>
      <p:sp>
        <p:nvSpPr>
          <p:cNvPr id="6" name="Shape 4"/>
          <p:cNvSpPr/>
          <p:nvPr/>
        </p:nvSpPr>
        <p:spPr>
          <a:xfrm>
            <a:off x="1143000" y="5691485"/>
            <a:ext cx="6400800" cy="9525"/>
          </a:xfrm>
          <a:prstGeom prst="rect">
            <a:avLst/>
          </a:prstGeom>
          <a:solidFill>
            <a:srgbClr val="D5DBDF"/>
          </a:solidFill>
          <a:ln/>
        </p:spPr>
      </p:sp>
      <p:sp>
        <p:nvSpPr>
          <p:cNvPr id="7" name="Shape 5"/>
          <p:cNvSpPr/>
          <p:nvPr/>
        </p:nvSpPr>
        <p:spPr>
          <a:xfrm>
            <a:off x="1143000" y="2562523"/>
            <a:ext cx="6400800" cy="57150"/>
          </a:xfrm>
          <a:prstGeom prst="rect">
            <a:avLst/>
          </a:prstGeom>
          <a:solidFill>
            <a:srgbClr val="14304A"/>
          </a:solidFill>
          <a:ln/>
        </p:spPr>
      </p:sp>
      <p:sp>
        <p:nvSpPr>
          <p:cNvPr id="8" name="Shape 6"/>
          <p:cNvSpPr/>
          <p:nvPr/>
        </p:nvSpPr>
        <p:spPr>
          <a:xfrm>
            <a:off x="1143000" y="2562523"/>
            <a:ext cx="9525" cy="3138488"/>
          </a:xfrm>
          <a:prstGeom prst="rect">
            <a:avLst/>
          </a:prstGeom>
          <a:solidFill>
            <a:srgbClr val="D5DBDF"/>
          </a:solidFill>
          <a:ln/>
        </p:spPr>
      </p:sp>
      <p:sp>
        <p:nvSpPr>
          <p:cNvPr id="9" name="Shape 7"/>
          <p:cNvSpPr/>
          <p:nvPr/>
        </p:nvSpPr>
        <p:spPr>
          <a:xfrm>
            <a:off x="7543800" y="2562523"/>
            <a:ext cx="9525" cy="3138488"/>
          </a:xfrm>
          <a:prstGeom prst="rect">
            <a:avLst/>
          </a:prstGeom>
          <a:solidFill>
            <a:srgbClr val="D5DBDF"/>
          </a:solidFill>
          <a:ln/>
        </p:spPr>
      </p:sp>
      <p:sp>
        <p:nvSpPr>
          <p:cNvPr id="10" name="Text 8"/>
          <p:cNvSpPr/>
          <p:nvPr/>
        </p:nvSpPr>
        <p:spPr>
          <a:xfrm>
            <a:off x="1609725" y="3076873"/>
            <a:ext cx="6605409" cy="46672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14304A"/>
                </a:solidFill>
                <a:latin typeface="Arial" pitchFamily="34" charset="0"/>
                <a:ea typeface="Arial" pitchFamily="34" charset="-122"/>
                <a:cs typeface="Arial" pitchFamily="34" charset="-120"/>
              </a:rPr>
              <a:t>OUI</a:t>
            </a:r>
            <a:endParaRPr lang="en-US" sz="3000" dirty="0"/>
          </a:p>
        </p:txBody>
      </p:sp>
      <p:sp>
        <p:nvSpPr>
          <p:cNvPr id="11" name="Text 9"/>
          <p:cNvSpPr/>
          <p:nvPr/>
        </p:nvSpPr>
        <p:spPr>
          <a:xfrm>
            <a:off x="1609725" y="3734098"/>
            <a:ext cx="17145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14304A"/>
                </a:solidFill>
                <a:latin typeface="Arial" pitchFamily="34" charset="0"/>
                <a:ea typeface="Arial" pitchFamily="34" charset="-122"/>
                <a:cs typeface="Arial" pitchFamily="34" charset="-120"/>
              </a:rPr>
              <a:t>·</a:t>
            </a:r>
            <a:endParaRPr lang="en-US" sz="2250" dirty="0"/>
          </a:p>
        </p:txBody>
      </p:sp>
      <p:sp>
        <p:nvSpPr>
          <p:cNvPr id="12" name="Text 10"/>
          <p:cNvSpPr/>
          <p:nvPr/>
        </p:nvSpPr>
        <p:spPr>
          <a:xfrm>
            <a:off x="1857375" y="3734098"/>
            <a:ext cx="5058832"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E2933"/>
                </a:solidFill>
                <a:latin typeface="Arial" pitchFamily="34" charset="0"/>
                <a:ea typeface="Arial" pitchFamily="34" charset="-122"/>
                <a:cs typeface="Arial" pitchFamily="34" charset="-120"/>
              </a:rPr>
              <a:t>Documents internes &amp; procédures</a:t>
            </a:r>
            <a:endParaRPr lang="en-US" sz="2250" dirty="0"/>
          </a:p>
        </p:txBody>
      </p:sp>
      <p:sp>
        <p:nvSpPr>
          <p:cNvPr id="13" name="Text 11"/>
          <p:cNvSpPr/>
          <p:nvPr/>
        </p:nvSpPr>
        <p:spPr>
          <a:xfrm>
            <a:off x="1609725" y="4291310"/>
            <a:ext cx="17145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14304A"/>
                </a:solidFill>
                <a:latin typeface="Arial" pitchFamily="34" charset="0"/>
                <a:ea typeface="Arial" pitchFamily="34" charset="-122"/>
                <a:cs typeface="Arial" pitchFamily="34" charset="-120"/>
              </a:rPr>
              <a:t>·</a:t>
            </a:r>
            <a:endParaRPr lang="en-US" sz="2250" dirty="0"/>
          </a:p>
        </p:txBody>
      </p:sp>
      <p:sp>
        <p:nvSpPr>
          <p:cNvPr id="14" name="Text 12"/>
          <p:cNvSpPr/>
          <p:nvPr/>
        </p:nvSpPr>
        <p:spPr>
          <a:xfrm>
            <a:off x="1857375" y="4291310"/>
            <a:ext cx="5531138"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E2933"/>
                </a:solidFill>
                <a:latin typeface="Arial" pitchFamily="34" charset="0"/>
                <a:ea typeface="Arial" pitchFamily="34" charset="-122"/>
                <a:cs typeface="Arial" pitchFamily="34" charset="-120"/>
              </a:rPr>
              <a:t>Tendances agrégées et anonymisées</a:t>
            </a:r>
            <a:endParaRPr lang="en-US" sz="2250" dirty="0"/>
          </a:p>
        </p:txBody>
      </p:sp>
      <p:sp>
        <p:nvSpPr>
          <p:cNvPr id="15" name="Shape 13"/>
          <p:cNvSpPr/>
          <p:nvPr/>
        </p:nvSpPr>
        <p:spPr>
          <a:xfrm>
            <a:off x="8405217" y="2974003"/>
            <a:ext cx="8739783" cy="3138488"/>
          </a:xfrm>
          <a:prstGeom prst="roundRect">
            <a:avLst>
              <a:gd name="adj" fmla="val 4249"/>
            </a:avLst>
          </a:prstGeom>
          <a:solidFill>
            <a:srgbClr val="FFFFFF"/>
          </a:solidFill>
          <a:ln/>
        </p:spPr>
      </p:sp>
      <p:sp>
        <p:nvSpPr>
          <p:cNvPr id="16" name="Shape 14"/>
          <p:cNvSpPr/>
          <p:nvPr/>
        </p:nvSpPr>
        <p:spPr>
          <a:xfrm>
            <a:off x="8405217" y="6102965"/>
            <a:ext cx="8739783" cy="9525"/>
          </a:xfrm>
          <a:prstGeom prst="rect">
            <a:avLst/>
          </a:prstGeom>
          <a:solidFill>
            <a:srgbClr val="D5DBDF"/>
          </a:solidFill>
          <a:ln/>
        </p:spPr>
      </p:sp>
      <p:sp>
        <p:nvSpPr>
          <p:cNvPr id="17" name="Shape 15"/>
          <p:cNvSpPr/>
          <p:nvPr/>
        </p:nvSpPr>
        <p:spPr>
          <a:xfrm>
            <a:off x="8405217" y="2974003"/>
            <a:ext cx="8739783" cy="57150"/>
          </a:xfrm>
          <a:prstGeom prst="rect">
            <a:avLst/>
          </a:prstGeom>
          <a:solidFill>
            <a:srgbClr val="C0623F"/>
          </a:solidFill>
          <a:ln/>
        </p:spPr>
      </p:sp>
      <p:sp>
        <p:nvSpPr>
          <p:cNvPr id="18" name="Shape 16"/>
          <p:cNvSpPr/>
          <p:nvPr/>
        </p:nvSpPr>
        <p:spPr>
          <a:xfrm>
            <a:off x="8405217" y="2974003"/>
            <a:ext cx="9525" cy="3138488"/>
          </a:xfrm>
          <a:prstGeom prst="rect">
            <a:avLst/>
          </a:prstGeom>
          <a:solidFill>
            <a:srgbClr val="D5DBDF"/>
          </a:solidFill>
          <a:ln/>
        </p:spPr>
      </p:sp>
      <p:sp>
        <p:nvSpPr>
          <p:cNvPr id="19" name="Shape 17"/>
          <p:cNvSpPr/>
          <p:nvPr/>
        </p:nvSpPr>
        <p:spPr>
          <a:xfrm>
            <a:off x="17135475" y="2974003"/>
            <a:ext cx="9525" cy="3138488"/>
          </a:xfrm>
          <a:prstGeom prst="rect">
            <a:avLst/>
          </a:prstGeom>
          <a:solidFill>
            <a:srgbClr val="D5DBDF"/>
          </a:solidFill>
          <a:ln/>
        </p:spPr>
      </p:sp>
      <p:sp>
        <p:nvSpPr>
          <p:cNvPr id="20" name="Text 18"/>
          <p:cNvSpPr/>
          <p:nvPr/>
        </p:nvSpPr>
        <p:spPr>
          <a:xfrm>
            <a:off x="8871942" y="3488353"/>
            <a:ext cx="8586966" cy="46672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C0623F"/>
                </a:solidFill>
                <a:latin typeface="Arial" pitchFamily="34" charset="0"/>
                <a:ea typeface="Arial" pitchFamily="34" charset="-122"/>
                <a:cs typeface="Arial" pitchFamily="34" charset="-120"/>
              </a:rPr>
              <a:t>NON</a:t>
            </a:r>
            <a:endParaRPr lang="en-US" sz="3000" dirty="0"/>
          </a:p>
        </p:txBody>
      </p:sp>
      <p:sp>
        <p:nvSpPr>
          <p:cNvPr id="21" name="Text 19"/>
          <p:cNvSpPr/>
          <p:nvPr/>
        </p:nvSpPr>
        <p:spPr>
          <a:xfrm>
            <a:off x="8871942" y="4145578"/>
            <a:ext cx="17145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C0623F"/>
                </a:solidFill>
                <a:latin typeface="Arial" pitchFamily="34" charset="0"/>
                <a:ea typeface="Arial" pitchFamily="34" charset="-122"/>
                <a:cs typeface="Arial" pitchFamily="34" charset="-120"/>
              </a:rPr>
              <a:t>·</a:t>
            </a:r>
            <a:endParaRPr lang="en-US" sz="2250" dirty="0"/>
          </a:p>
        </p:txBody>
      </p:sp>
      <p:sp>
        <p:nvSpPr>
          <p:cNvPr id="22" name="Text 20"/>
          <p:cNvSpPr/>
          <p:nvPr/>
        </p:nvSpPr>
        <p:spPr>
          <a:xfrm>
            <a:off x="9119592" y="4145578"/>
            <a:ext cx="4896758"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E2933"/>
                </a:solidFill>
                <a:latin typeface="Arial" pitchFamily="34" charset="0"/>
                <a:ea typeface="Arial" pitchFamily="34" charset="-122"/>
                <a:cs typeface="Arial" pitchFamily="34" charset="-120"/>
              </a:rPr>
              <a:t>Toute donnée patient identifiante</a:t>
            </a:r>
            <a:endParaRPr lang="en-US" sz="2250" dirty="0"/>
          </a:p>
        </p:txBody>
      </p:sp>
      <p:sp>
        <p:nvSpPr>
          <p:cNvPr id="23" name="Text 21"/>
          <p:cNvSpPr/>
          <p:nvPr/>
        </p:nvSpPr>
        <p:spPr>
          <a:xfrm>
            <a:off x="8871942" y="4702790"/>
            <a:ext cx="17145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C0623F"/>
                </a:solidFill>
                <a:latin typeface="Arial" pitchFamily="34" charset="0"/>
                <a:ea typeface="Arial" pitchFamily="34" charset="-122"/>
                <a:cs typeface="Arial" pitchFamily="34" charset="-120"/>
              </a:rPr>
              <a:t>·</a:t>
            </a:r>
            <a:endParaRPr lang="en-US" sz="2250" dirty="0"/>
          </a:p>
        </p:txBody>
      </p:sp>
      <p:sp>
        <p:nvSpPr>
          <p:cNvPr id="24" name="Text 22"/>
          <p:cNvSpPr/>
          <p:nvPr/>
        </p:nvSpPr>
        <p:spPr>
          <a:xfrm>
            <a:off x="9119592" y="4702790"/>
            <a:ext cx="583383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E2933"/>
                </a:solidFill>
                <a:latin typeface="Arial" pitchFamily="34" charset="0"/>
                <a:ea typeface="Arial" pitchFamily="34" charset="-122"/>
                <a:cs typeface="Arial" pitchFamily="34" charset="-120"/>
              </a:rPr>
              <a:t>Toute donnée collaborateur identifiante</a:t>
            </a:r>
            <a:endParaRPr lang="en-US" sz="2250" dirty="0"/>
          </a:p>
        </p:txBody>
      </p:sp>
      <p:sp>
        <p:nvSpPr>
          <p:cNvPr id="25" name="Text 23"/>
          <p:cNvSpPr/>
          <p:nvPr/>
        </p:nvSpPr>
        <p:spPr>
          <a:xfrm>
            <a:off x="8871942" y="5260003"/>
            <a:ext cx="17145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C0623F"/>
                </a:solidFill>
                <a:latin typeface="Arial" pitchFamily="34" charset="0"/>
                <a:ea typeface="Arial" pitchFamily="34" charset="-122"/>
                <a:cs typeface="Arial" pitchFamily="34" charset="-120"/>
              </a:rPr>
              <a:t>·</a:t>
            </a:r>
            <a:endParaRPr lang="en-US" sz="2250" dirty="0"/>
          </a:p>
        </p:txBody>
      </p:sp>
      <p:sp>
        <p:nvSpPr>
          <p:cNvPr id="26" name="Text 24"/>
          <p:cNvSpPr/>
          <p:nvPr/>
        </p:nvSpPr>
        <p:spPr>
          <a:xfrm>
            <a:off x="9119592" y="5260003"/>
            <a:ext cx="829687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E2933"/>
                </a:solidFill>
                <a:latin typeface="Arial" pitchFamily="34" charset="0"/>
                <a:ea typeface="Arial" pitchFamily="34" charset="-122"/>
                <a:cs typeface="Arial" pitchFamily="34" charset="-120"/>
              </a:rPr>
              <a:t>Utiliser l'IA sans autorisation documentée du laboratoire</a:t>
            </a:r>
            <a:endParaRPr lang="en-US" sz="2250" dirty="0"/>
          </a:p>
        </p:txBody>
      </p:sp>
      <p:sp>
        <p:nvSpPr>
          <p:cNvPr id="27" name="Text 25"/>
          <p:cNvSpPr/>
          <p:nvPr/>
        </p:nvSpPr>
        <p:spPr>
          <a:xfrm>
            <a:off x="1143000" y="6120110"/>
            <a:ext cx="1760220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4304A"/>
                </a:solidFill>
                <a:latin typeface="Arial" pitchFamily="34" charset="0"/>
                <a:ea typeface="Arial" pitchFamily="34" charset="-122"/>
                <a:cs typeface="Arial" pitchFamily="34" charset="-120"/>
              </a:rPr>
              <a:t>Minimisation </a:t>
            </a:r>
            <a:r>
              <a:rPr lang="en-US" sz="2250" dirty="0">
                <a:solidFill>
                  <a:srgbClr val="5B6B79"/>
                </a:solidFill>
                <a:latin typeface="Arial" pitchFamily="34" charset="0"/>
                <a:ea typeface="Arial" pitchFamily="34" charset="-122"/>
                <a:cs typeface="Arial" pitchFamily="34" charset="-120"/>
              </a:rPr>
              <a:t>et </a:t>
            </a:r>
            <a:r>
              <a:rPr lang="en-US" sz="2250" b="1" dirty="0">
                <a:solidFill>
                  <a:srgbClr val="14304A"/>
                </a:solidFill>
                <a:latin typeface="Arial" pitchFamily="34" charset="0"/>
                <a:ea typeface="Arial" pitchFamily="34" charset="-122"/>
                <a:cs typeface="Arial" pitchFamily="34" charset="-120"/>
              </a:rPr>
              <a:t>pseudonymisation </a:t>
            </a:r>
            <a:r>
              <a:rPr lang="en-US" sz="2250" dirty="0">
                <a:solidFill>
                  <a:srgbClr val="5B6B79"/>
                </a:solidFill>
                <a:latin typeface="Arial" pitchFamily="34" charset="0"/>
                <a:ea typeface="Arial" pitchFamily="34" charset="-122"/>
                <a:cs typeface="Arial" pitchFamily="34" charset="-120"/>
              </a:rPr>
              <a:t>= réflexes.</a:t>
            </a:r>
            <a:endParaRPr lang="en-US" sz="2250" dirty="0"/>
          </a:p>
        </p:txBody>
      </p:sp>
      <p:sp>
        <p:nvSpPr>
          <p:cNvPr id="28" name="Shape 26"/>
          <p:cNvSpPr/>
          <p:nvPr/>
        </p:nvSpPr>
        <p:spPr>
          <a:xfrm>
            <a:off x="1143000" y="9020175"/>
            <a:ext cx="16002000" cy="9525"/>
          </a:xfrm>
          <a:prstGeom prst="rect">
            <a:avLst/>
          </a:prstGeom>
          <a:solidFill>
            <a:srgbClr val="D5DBDF"/>
          </a:solidFill>
          <a:ln/>
        </p:spPr>
      </p:sp>
      <p:pic>
        <p:nvPicPr>
          <p:cNvPr id="29"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30" name="Text 27"/>
          <p:cNvSpPr/>
          <p:nvPr/>
        </p:nvSpPr>
        <p:spPr>
          <a:xfrm>
            <a:off x="16279416" y="9396413"/>
            <a:ext cx="941784"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14 / 23</a:t>
            </a:r>
            <a:endParaRPr lang="en-US" sz="1800" dirty="0"/>
          </a:p>
        </p:txBody>
      </p:sp>
      <p:sp>
        <p:nvSpPr>
          <p:cNvPr id="31" name="Left Arrow 30"/>
          <p:cNvSpPr/>
          <p:nvPr/>
        </p:nvSpPr>
        <p:spPr>
          <a:xfrm rot="900000">
            <a:off x="7360920" y="3611880"/>
            <a:ext cx="1143000" cy="777240"/>
          </a:xfrm>
          <a:prstGeom prst="leftArrow">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23925"/>
            <a:ext cx="381000" cy="19050"/>
          </a:xfrm>
          <a:prstGeom prst="rect">
            <a:avLst/>
          </a:prstGeom>
          <a:solidFill>
            <a:srgbClr val="C0623F"/>
          </a:solidFill>
          <a:ln/>
        </p:spPr>
      </p:sp>
      <p:sp>
        <p:nvSpPr>
          <p:cNvPr id="3" name="Text 1"/>
          <p:cNvSpPr/>
          <p:nvPr/>
        </p:nvSpPr>
        <p:spPr>
          <a:xfrm>
            <a:off x="1676400" y="800100"/>
            <a:ext cx="564508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LES RÈGLES DU JEU</a:t>
            </a:r>
            <a:endParaRPr lang="en-US" sz="1800" dirty="0"/>
          </a:p>
        </p:txBody>
      </p:sp>
      <p:sp>
        <p:nvSpPr>
          <p:cNvPr id="4" name="Text 2"/>
          <p:cNvSpPr/>
          <p:nvPr/>
        </p:nvSpPr>
        <p:spPr>
          <a:xfrm>
            <a:off x="1143000" y="1200150"/>
            <a:ext cx="17602200" cy="711696"/>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100" b="1" kern="0" spc="-112" dirty="0">
                <a:solidFill>
                  <a:srgbClr val="14304A"/>
                </a:solidFill>
                <a:latin typeface="Arial" pitchFamily="34" charset="0"/>
                <a:ea typeface="Arial" pitchFamily="34" charset="-122"/>
                <a:cs typeface="Arial" pitchFamily="34" charset="-120"/>
              </a:rPr>
              <a:t>IA Act : une logique par les risques</a:t>
            </a:r>
            <a:endParaRPr lang="en-US" sz="5100" dirty="0"/>
          </a:p>
        </p:txBody>
      </p:sp>
      <p:sp>
        <p:nvSpPr>
          <p:cNvPr id="5" name="Shape 3"/>
          <p:cNvSpPr/>
          <p:nvPr/>
        </p:nvSpPr>
        <p:spPr>
          <a:xfrm>
            <a:off x="2840385" y="2197596"/>
            <a:ext cx="2891730" cy="914400"/>
          </a:xfrm>
          <a:prstGeom prst="roundRect">
            <a:avLst>
              <a:gd name="adj" fmla="val 10417"/>
            </a:avLst>
          </a:prstGeom>
          <a:solidFill>
            <a:srgbClr val="0E2235"/>
          </a:solidFill>
          <a:ln/>
        </p:spPr>
      </p:sp>
      <p:sp>
        <p:nvSpPr>
          <p:cNvPr id="6" name="Text 4"/>
          <p:cNvSpPr/>
          <p:nvPr/>
        </p:nvSpPr>
        <p:spPr>
          <a:xfrm>
            <a:off x="3502968" y="2497634"/>
            <a:ext cx="1723221" cy="352425"/>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FFFFFF"/>
                </a:solidFill>
                <a:latin typeface="Arial" pitchFamily="34" charset="0"/>
                <a:ea typeface="Arial" pitchFamily="34" charset="-122"/>
                <a:cs typeface="Arial" pitchFamily="34" charset="-120"/>
              </a:rPr>
              <a:t>Inacceptable</a:t>
            </a:r>
            <a:endParaRPr lang="en-US" sz="2175" dirty="0"/>
          </a:p>
        </p:txBody>
      </p:sp>
      <p:sp>
        <p:nvSpPr>
          <p:cNvPr id="7" name="Shape 5"/>
          <p:cNvSpPr/>
          <p:nvPr/>
        </p:nvSpPr>
        <p:spPr>
          <a:xfrm>
            <a:off x="2211735" y="3264396"/>
            <a:ext cx="4149030" cy="914400"/>
          </a:xfrm>
          <a:prstGeom prst="roundRect">
            <a:avLst>
              <a:gd name="adj" fmla="val 10417"/>
            </a:avLst>
          </a:prstGeom>
          <a:solidFill>
            <a:srgbClr val="C0623F"/>
          </a:solidFill>
          <a:ln/>
        </p:spPr>
      </p:sp>
      <p:sp>
        <p:nvSpPr>
          <p:cNvPr id="8" name="Text 6"/>
          <p:cNvSpPr/>
          <p:nvPr/>
        </p:nvSpPr>
        <p:spPr>
          <a:xfrm>
            <a:off x="3579912" y="3564434"/>
            <a:ext cx="1553944" cy="352425"/>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FFFFFF"/>
                </a:solidFill>
                <a:latin typeface="Arial" pitchFamily="34" charset="0"/>
                <a:ea typeface="Arial" pitchFamily="34" charset="-122"/>
                <a:cs typeface="Arial" pitchFamily="34" charset="-120"/>
              </a:rPr>
              <a:t>Haut risque</a:t>
            </a:r>
            <a:endParaRPr lang="en-US" sz="2175" dirty="0"/>
          </a:p>
        </p:txBody>
      </p:sp>
      <p:sp>
        <p:nvSpPr>
          <p:cNvPr id="9" name="Shape 7"/>
          <p:cNvSpPr/>
          <p:nvPr/>
        </p:nvSpPr>
        <p:spPr>
          <a:xfrm>
            <a:off x="1645890" y="4331196"/>
            <a:ext cx="5280571" cy="914400"/>
          </a:xfrm>
          <a:prstGeom prst="roundRect">
            <a:avLst>
              <a:gd name="adj" fmla="val 10417"/>
            </a:avLst>
          </a:prstGeom>
          <a:solidFill>
            <a:srgbClr val="1E4565"/>
          </a:solidFill>
          <a:ln/>
        </p:spPr>
      </p:sp>
      <p:sp>
        <p:nvSpPr>
          <p:cNvPr id="10" name="Text 8"/>
          <p:cNvSpPr/>
          <p:nvPr/>
        </p:nvSpPr>
        <p:spPr>
          <a:xfrm>
            <a:off x="3495526" y="4631234"/>
            <a:ext cx="1739265" cy="352425"/>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FFFFFF"/>
                </a:solidFill>
                <a:latin typeface="Arial" pitchFamily="34" charset="0"/>
                <a:ea typeface="Arial" pitchFamily="34" charset="-122"/>
                <a:cs typeface="Arial" pitchFamily="34" charset="-120"/>
              </a:rPr>
              <a:t>Risque limité</a:t>
            </a:r>
            <a:endParaRPr lang="en-US" sz="2175" dirty="0"/>
          </a:p>
        </p:txBody>
      </p:sp>
      <p:sp>
        <p:nvSpPr>
          <p:cNvPr id="11" name="Shape 9"/>
          <p:cNvSpPr/>
          <p:nvPr/>
        </p:nvSpPr>
        <p:spPr>
          <a:xfrm>
            <a:off x="1143000" y="5397996"/>
            <a:ext cx="6286500" cy="914400"/>
          </a:xfrm>
          <a:prstGeom prst="roundRect">
            <a:avLst>
              <a:gd name="adj" fmla="val 10417"/>
            </a:avLst>
          </a:prstGeom>
          <a:solidFill>
            <a:srgbClr val="3D6488"/>
          </a:solidFill>
          <a:ln/>
        </p:spPr>
      </p:sp>
      <p:sp>
        <p:nvSpPr>
          <p:cNvPr id="12" name="Text 10"/>
          <p:cNvSpPr/>
          <p:nvPr/>
        </p:nvSpPr>
        <p:spPr>
          <a:xfrm>
            <a:off x="3342084" y="5698034"/>
            <a:ext cx="2077001" cy="352425"/>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FFFFFF"/>
                </a:solidFill>
                <a:latin typeface="Arial" pitchFamily="34" charset="0"/>
                <a:ea typeface="Arial" pitchFamily="34" charset="-122"/>
                <a:cs typeface="Arial" pitchFamily="34" charset="-120"/>
              </a:rPr>
              <a:t>Risque minimal</a:t>
            </a:r>
            <a:endParaRPr lang="en-US" sz="2175" dirty="0"/>
          </a:p>
        </p:txBody>
      </p:sp>
      <p:sp>
        <p:nvSpPr>
          <p:cNvPr id="13" name="Shape 11"/>
          <p:cNvSpPr/>
          <p:nvPr/>
        </p:nvSpPr>
        <p:spPr>
          <a:xfrm>
            <a:off x="7943850" y="2569071"/>
            <a:ext cx="171450" cy="171450"/>
          </a:xfrm>
          <a:prstGeom prst="roundRect">
            <a:avLst>
              <a:gd name="adj" fmla="val 27778"/>
            </a:avLst>
          </a:prstGeom>
          <a:solidFill>
            <a:srgbClr val="0E2235"/>
          </a:solidFill>
          <a:ln/>
        </p:spPr>
      </p:sp>
      <p:sp>
        <p:nvSpPr>
          <p:cNvPr id="14" name="Text 12"/>
          <p:cNvSpPr/>
          <p:nvPr/>
        </p:nvSpPr>
        <p:spPr>
          <a:xfrm>
            <a:off x="8324850" y="2346127"/>
            <a:ext cx="6295995"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4304A"/>
                </a:solidFill>
                <a:latin typeface="Arial" pitchFamily="34" charset="0"/>
                <a:ea typeface="Arial" pitchFamily="34" charset="-122"/>
                <a:cs typeface="Arial" pitchFamily="34" charset="-120"/>
              </a:rPr>
              <a:t>Interdit</a:t>
            </a:r>
            <a:endParaRPr lang="en-US" sz="2025" dirty="0"/>
          </a:p>
        </p:txBody>
      </p:sp>
      <p:sp>
        <p:nvSpPr>
          <p:cNvPr id="15" name="Text 13"/>
          <p:cNvSpPr/>
          <p:nvPr/>
        </p:nvSpPr>
        <p:spPr>
          <a:xfrm>
            <a:off x="8324850" y="2641402"/>
            <a:ext cx="6295995"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5B6B79"/>
                </a:solidFill>
                <a:latin typeface="Arial" pitchFamily="34" charset="0"/>
                <a:ea typeface="Arial" pitchFamily="34" charset="-122"/>
                <a:cs typeface="Arial" pitchFamily="34" charset="-120"/>
              </a:rPr>
              <a:t>Notation sociale, manipulation comportementale.</a:t>
            </a:r>
            <a:endParaRPr lang="en-US" sz="1950" dirty="0"/>
          </a:p>
        </p:txBody>
      </p:sp>
      <p:sp>
        <p:nvSpPr>
          <p:cNvPr id="16" name="Shape 14"/>
          <p:cNvSpPr/>
          <p:nvPr/>
        </p:nvSpPr>
        <p:spPr>
          <a:xfrm>
            <a:off x="7943850" y="3635871"/>
            <a:ext cx="171450" cy="171450"/>
          </a:xfrm>
          <a:prstGeom prst="roundRect">
            <a:avLst>
              <a:gd name="adj" fmla="val 27778"/>
            </a:avLst>
          </a:prstGeom>
          <a:solidFill>
            <a:srgbClr val="C0623F"/>
          </a:solidFill>
          <a:ln/>
        </p:spPr>
      </p:sp>
      <p:sp>
        <p:nvSpPr>
          <p:cNvPr id="17" name="Text 15"/>
          <p:cNvSpPr/>
          <p:nvPr/>
        </p:nvSpPr>
        <p:spPr>
          <a:xfrm>
            <a:off x="8324850" y="3412927"/>
            <a:ext cx="5545708"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C0623F"/>
                </a:solidFill>
                <a:latin typeface="Arial" pitchFamily="34" charset="0"/>
                <a:ea typeface="Arial" pitchFamily="34" charset="-122"/>
                <a:cs typeface="Arial" pitchFamily="34" charset="-120"/>
              </a:rPr>
              <a:t>Encadrement strict</a:t>
            </a:r>
            <a:endParaRPr lang="en-US" sz="2025" dirty="0"/>
          </a:p>
        </p:txBody>
      </p:sp>
      <p:sp>
        <p:nvSpPr>
          <p:cNvPr id="18" name="Text 16"/>
          <p:cNvSpPr/>
          <p:nvPr/>
        </p:nvSpPr>
        <p:spPr>
          <a:xfrm>
            <a:off x="8324850" y="3708202"/>
            <a:ext cx="5545708"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5B6B79"/>
                </a:solidFill>
                <a:latin typeface="Arial" pitchFamily="34" charset="0"/>
                <a:ea typeface="Arial" pitchFamily="34" charset="-122"/>
                <a:cs typeface="Arial" pitchFamily="34" charset="-120"/>
              </a:rPr>
              <a:t>Aide au diagnostic, tri de dossiers patients.</a:t>
            </a:r>
            <a:endParaRPr lang="en-US" sz="1950" dirty="0"/>
          </a:p>
        </p:txBody>
      </p:sp>
      <p:sp>
        <p:nvSpPr>
          <p:cNvPr id="19" name="Shape 17"/>
          <p:cNvSpPr/>
          <p:nvPr/>
        </p:nvSpPr>
        <p:spPr>
          <a:xfrm>
            <a:off x="7943850" y="4702671"/>
            <a:ext cx="171450" cy="171450"/>
          </a:xfrm>
          <a:prstGeom prst="roundRect">
            <a:avLst>
              <a:gd name="adj" fmla="val 27778"/>
            </a:avLst>
          </a:prstGeom>
          <a:solidFill>
            <a:srgbClr val="1E4565"/>
          </a:solidFill>
          <a:ln/>
        </p:spPr>
      </p:sp>
      <p:sp>
        <p:nvSpPr>
          <p:cNvPr id="20" name="Text 18"/>
          <p:cNvSpPr/>
          <p:nvPr/>
        </p:nvSpPr>
        <p:spPr>
          <a:xfrm>
            <a:off x="8324850" y="4479727"/>
            <a:ext cx="6278642"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4304A"/>
                </a:solidFill>
                <a:latin typeface="Arial" pitchFamily="34" charset="0"/>
                <a:ea typeface="Arial" pitchFamily="34" charset="-122"/>
                <a:cs typeface="Arial" pitchFamily="34" charset="-120"/>
              </a:rPr>
              <a:t>Transparence</a:t>
            </a:r>
            <a:endParaRPr lang="en-US" sz="2025" dirty="0"/>
          </a:p>
        </p:txBody>
      </p:sp>
      <p:sp>
        <p:nvSpPr>
          <p:cNvPr id="21" name="Text 19"/>
          <p:cNvSpPr/>
          <p:nvPr/>
        </p:nvSpPr>
        <p:spPr>
          <a:xfrm>
            <a:off x="8324850" y="4775002"/>
            <a:ext cx="6278642"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5B6B79"/>
                </a:solidFill>
                <a:latin typeface="Arial" pitchFamily="34" charset="0"/>
                <a:ea typeface="Arial" pitchFamily="34" charset="-122"/>
                <a:cs typeface="Arial" pitchFamily="34" charset="-120"/>
              </a:rPr>
              <a:t>Chatbot, texte généré : signaler que c'est une IA.</a:t>
            </a:r>
            <a:endParaRPr lang="en-US" sz="1950" dirty="0"/>
          </a:p>
        </p:txBody>
      </p:sp>
      <p:sp>
        <p:nvSpPr>
          <p:cNvPr id="22" name="Shape 20"/>
          <p:cNvSpPr/>
          <p:nvPr/>
        </p:nvSpPr>
        <p:spPr>
          <a:xfrm>
            <a:off x="7943850" y="5769471"/>
            <a:ext cx="171450" cy="171450"/>
          </a:xfrm>
          <a:prstGeom prst="roundRect">
            <a:avLst>
              <a:gd name="adj" fmla="val 27778"/>
            </a:avLst>
          </a:prstGeom>
          <a:solidFill>
            <a:srgbClr val="3D6488"/>
          </a:solidFill>
          <a:ln/>
        </p:spPr>
      </p:sp>
      <p:sp>
        <p:nvSpPr>
          <p:cNvPr id="23" name="Text 21"/>
          <p:cNvSpPr/>
          <p:nvPr/>
        </p:nvSpPr>
        <p:spPr>
          <a:xfrm>
            <a:off x="8324850" y="5546527"/>
            <a:ext cx="7385819"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4304A"/>
                </a:solidFill>
                <a:latin typeface="Arial" pitchFamily="34" charset="0"/>
                <a:ea typeface="Arial" pitchFamily="34" charset="-122"/>
                <a:cs typeface="Arial" pitchFamily="34" charset="-120"/>
              </a:rPr>
              <a:t>Usage libre</a:t>
            </a:r>
            <a:endParaRPr lang="en-US" sz="2025" dirty="0"/>
          </a:p>
        </p:txBody>
      </p:sp>
      <p:sp>
        <p:nvSpPr>
          <p:cNvPr id="24" name="Text 22"/>
          <p:cNvSpPr/>
          <p:nvPr/>
        </p:nvSpPr>
        <p:spPr>
          <a:xfrm>
            <a:off x="8324850" y="5841802"/>
            <a:ext cx="7385819" cy="36001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950" dirty="0">
                <a:solidFill>
                  <a:srgbClr val="5B6B79"/>
                </a:solidFill>
                <a:latin typeface="Arial" pitchFamily="34" charset="0"/>
                <a:ea typeface="Arial" pitchFamily="34" charset="-122"/>
                <a:cs typeface="Arial" pitchFamily="34" charset="-120"/>
              </a:rPr>
              <a:t>Reformuler une procédure, corriger un document interne.</a:t>
            </a:r>
            <a:endParaRPr lang="en-US" sz="1950" dirty="0"/>
          </a:p>
        </p:txBody>
      </p:sp>
      <p:sp>
        <p:nvSpPr>
          <p:cNvPr id="25" name="Shape 23"/>
          <p:cNvSpPr/>
          <p:nvPr/>
        </p:nvSpPr>
        <p:spPr>
          <a:xfrm>
            <a:off x="1143000" y="6693396"/>
            <a:ext cx="171450" cy="171450"/>
          </a:xfrm>
          <a:prstGeom prst="roundRect">
            <a:avLst>
              <a:gd name="adj" fmla="val 27778"/>
            </a:avLst>
          </a:prstGeom>
          <a:solidFill>
            <a:srgbClr val="C0623F"/>
          </a:solidFill>
          <a:ln/>
        </p:spPr>
      </p:sp>
      <p:sp>
        <p:nvSpPr>
          <p:cNvPr id="26" name="Text 24"/>
          <p:cNvSpPr/>
          <p:nvPr/>
        </p:nvSpPr>
        <p:spPr>
          <a:xfrm>
            <a:off x="1447800" y="6636246"/>
            <a:ext cx="8421609" cy="323850"/>
          </a:xfrm>
          <a:prstGeom prst="rect">
            <a:avLst/>
          </a:prstGeom>
          <a:noFill/>
          <a:ln/>
        </p:spPr>
        <p:txBody>
          <a:bodyPr wrap="square" lIns="0" tIns="0" rIns="0" bIns="0" rtlCol="0" anchor="t">
            <a:normAutofit/>
          </a:bodyPr>
          <a:lstStyle/>
          <a:p>
            <a:pPr marL="0" indent="0" algn="l">
              <a:buNone/>
            </a:pPr>
            <a:r>
              <a:rPr lang="en-US" sz="1875" dirty="0">
                <a:solidFill>
                  <a:srgbClr val="8A9097"/>
                </a:solidFill>
                <a:latin typeface="Arial" pitchFamily="34" charset="0"/>
                <a:ea typeface="Arial" pitchFamily="34" charset="-122"/>
                <a:cs typeface="Arial" pitchFamily="34" charset="-120"/>
              </a:rPr>
              <a:t>En terracotta : le « haut risque », celui qui nous concerne le plus au labo.</a:t>
            </a:r>
            <a:endParaRPr lang="en-US" sz="1875" dirty="0"/>
          </a:p>
        </p:txBody>
      </p:sp>
      <p:sp>
        <p:nvSpPr>
          <p:cNvPr id="27" name="Shape 25"/>
          <p:cNvSpPr/>
          <p:nvPr/>
        </p:nvSpPr>
        <p:spPr>
          <a:xfrm>
            <a:off x="1143000" y="9020175"/>
            <a:ext cx="16002000" cy="9525"/>
          </a:xfrm>
          <a:prstGeom prst="rect">
            <a:avLst/>
          </a:prstGeom>
          <a:solidFill>
            <a:srgbClr val="D5DBDF"/>
          </a:solidFill>
          <a:ln/>
        </p:spPr>
      </p:sp>
      <p:pic>
        <p:nvPicPr>
          <p:cNvPr id="28"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29" name="Text 26"/>
          <p:cNvSpPr/>
          <p:nvPr/>
        </p:nvSpPr>
        <p:spPr>
          <a:xfrm>
            <a:off x="16291471" y="9396413"/>
            <a:ext cx="92972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15 / 23</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564508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LES RÈGLES DU JEU</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Ce que ça change pour nous</a:t>
            </a:r>
            <a:endParaRPr lang="en-US" sz="5700" dirty="0"/>
          </a:p>
        </p:txBody>
      </p:sp>
      <p:sp>
        <p:nvSpPr>
          <p:cNvPr id="5" name="Shape 3"/>
          <p:cNvSpPr/>
          <p:nvPr/>
        </p:nvSpPr>
        <p:spPr>
          <a:xfrm>
            <a:off x="1143000" y="2600623"/>
            <a:ext cx="7839075" cy="2800350"/>
          </a:xfrm>
          <a:prstGeom prst="roundRect">
            <a:avLst>
              <a:gd name="adj" fmla="val 4762"/>
            </a:avLst>
          </a:prstGeom>
          <a:solidFill>
            <a:srgbClr val="FFFFFF"/>
          </a:solidFill>
          <a:ln w="9525">
            <a:solidFill>
              <a:srgbClr val="D5DBDF"/>
            </a:solidFill>
            <a:prstDash val="solid"/>
          </a:ln>
        </p:spPr>
      </p:sp>
      <p:sp>
        <p:nvSpPr>
          <p:cNvPr id="6" name="Shape 4"/>
          <p:cNvSpPr/>
          <p:nvPr/>
        </p:nvSpPr>
        <p:spPr>
          <a:xfrm>
            <a:off x="1609725" y="3067348"/>
            <a:ext cx="209550" cy="209550"/>
          </a:xfrm>
          <a:prstGeom prst="ellipse">
            <a:avLst/>
          </a:prstGeom>
          <a:solidFill>
            <a:srgbClr val="3D6488"/>
          </a:solidFill>
          <a:ln/>
        </p:spPr>
      </p:sp>
      <p:sp>
        <p:nvSpPr>
          <p:cNvPr id="7" name="Text 5"/>
          <p:cNvSpPr/>
          <p:nvPr/>
        </p:nvSpPr>
        <p:spPr>
          <a:xfrm>
            <a:off x="1609725" y="3505498"/>
            <a:ext cx="7596187"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4304A"/>
                </a:solidFill>
                <a:latin typeface="Arial" pitchFamily="34" charset="0"/>
                <a:ea typeface="Arial" pitchFamily="34" charset="-122"/>
                <a:cs typeface="Arial" pitchFamily="34" charset="-120"/>
              </a:rPr>
              <a:t>Nos usages actuels</a:t>
            </a:r>
            <a:endParaRPr lang="en-US" sz="2700" dirty="0"/>
          </a:p>
        </p:txBody>
      </p:sp>
      <p:sp>
        <p:nvSpPr>
          <p:cNvPr id="8" name="Text 6"/>
          <p:cNvSpPr/>
          <p:nvPr/>
        </p:nvSpPr>
        <p:spPr>
          <a:xfrm>
            <a:off x="1609725" y="4134148"/>
            <a:ext cx="7112794"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250" dirty="0">
                <a:solidFill>
                  <a:srgbClr val="1E2933"/>
                </a:solidFill>
                <a:latin typeface="Arial" pitchFamily="34" charset="0"/>
                <a:ea typeface="Arial" pitchFamily="34" charset="-122"/>
                <a:cs typeface="Arial" pitchFamily="34" charset="-120"/>
              </a:rPr>
              <a:t>Qualité, documentation, communication relèvent du risque faible ou minimal.</a:t>
            </a:r>
            <a:endParaRPr lang="en-US" sz="2250" dirty="0"/>
          </a:p>
        </p:txBody>
      </p:sp>
      <p:sp>
        <p:nvSpPr>
          <p:cNvPr id="9" name="Shape 7"/>
          <p:cNvSpPr/>
          <p:nvPr/>
        </p:nvSpPr>
        <p:spPr>
          <a:xfrm>
            <a:off x="9305925" y="2600623"/>
            <a:ext cx="7839075" cy="2800350"/>
          </a:xfrm>
          <a:prstGeom prst="roundRect">
            <a:avLst>
              <a:gd name="adj" fmla="val 4762"/>
            </a:avLst>
          </a:prstGeom>
          <a:solidFill>
            <a:srgbClr val="FFFFFF"/>
          </a:solidFill>
          <a:ln w="9525">
            <a:solidFill>
              <a:srgbClr val="D5DBDF"/>
            </a:solidFill>
            <a:prstDash val="solid"/>
          </a:ln>
        </p:spPr>
      </p:sp>
      <p:sp>
        <p:nvSpPr>
          <p:cNvPr id="10" name="Shape 8"/>
          <p:cNvSpPr/>
          <p:nvPr/>
        </p:nvSpPr>
        <p:spPr>
          <a:xfrm>
            <a:off x="9772650" y="3067348"/>
            <a:ext cx="209550" cy="209550"/>
          </a:xfrm>
          <a:prstGeom prst="ellipse">
            <a:avLst/>
          </a:prstGeom>
          <a:solidFill>
            <a:srgbClr val="C0623F"/>
          </a:solidFill>
          <a:ln/>
        </p:spPr>
      </p:sp>
      <p:sp>
        <p:nvSpPr>
          <p:cNvPr id="11" name="Text 9"/>
          <p:cNvSpPr/>
          <p:nvPr/>
        </p:nvSpPr>
        <p:spPr>
          <a:xfrm>
            <a:off x="9772650" y="3505498"/>
            <a:ext cx="7596187"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C0623F"/>
                </a:solidFill>
                <a:latin typeface="Arial" pitchFamily="34" charset="0"/>
                <a:ea typeface="Arial" pitchFamily="34" charset="-122"/>
                <a:cs typeface="Arial" pitchFamily="34" charset="-120"/>
              </a:rPr>
              <a:t>Vigilance</a:t>
            </a:r>
            <a:endParaRPr lang="en-US" sz="2700" dirty="0"/>
          </a:p>
        </p:txBody>
      </p:sp>
      <p:sp>
        <p:nvSpPr>
          <p:cNvPr id="12" name="Text 10"/>
          <p:cNvSpPr/>
          <p:nvPr/>
        </p:nvSpPr>
        <p:spPr>
          <a:xfrm>
            <a:off x="9772650" y="4134148"/>
            <a:ext cx="7112794"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250" dirty="0">
                <a:solidFill>
                  <a:srgbClr val="1E2933"/>
                </a:solidFill>
                <a:latin typeface="Arial" pitchFamily="34" charset="0"/>
                <a:ea typeface="Arial" pitchFamily="34" charset="-122"/>
                <a:cs typeface="Arial" pitchFamily="34" charset="-120"/>
              </a:rPr>
              <a:t>Dès qu'on touche à une décision clinique ou à la donnée patient.</a:t>
            </a:r>
            <a:endParaRPr lang="en-US" sz="2250" dirty="0"/>
          </a:p>
        </p:txBody>
      </p:sp>
      <p:sp>
        <p:nvSpPr>
          <p:cNvPr id="13" name="Text 11"/>
          <p:cNvSpPr/>
          <p:nvPr/>
        </p:nvSpPr>
        <p:spPr>
          <a:xfrm>
            <a:off x="1143000" y="5972473"/>
            <a:ext cx="3219867"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4304A"/>
                </a:solidFill>
                <a:latin typeface="Arial" pitchFamily="34" charset="0"/>
                <a:ea typeface="Arial" pitchFamily="34" charset="-122"/>
                <a:cs typeface="Arial" pitchFamily="34" charset="-120"/>
              </a:rPr>
              <a:t>Calendrier d'application :</a:t>
            </a:r>
            <a:endParaRPr lang="en-US" sz="2100" dirty="0"/>
          </a:p>
        </p:txBody>
      </p:sp>
      <p:sp>
        <p:nvSpPr>
          <p:cNvPr id="14" name="Shape 12"/>
          <p:cNvSpPr/>
          <p:nvPr/>
        </p:nvSpPr>
        <p:spPr>
          <a:xfrm>
            <a:off x="4241602" y="5858173"/>
            <a:ext cx="6570762" cy="533400"/>
          </a:xfrm>
          <a:prstGeom prst="roundRect">
            <a:avLst>
              <a:gd name="adj" fmla="val 14286"/>
            </a:avLst>
          </a:prstGeom>
          <a:solidFill>
            <a:srgbClr val="FFFFFF"/>
          </a:solidFill>
          <a:ln w="9525">
            <a:solidFill>
              <a:srgbClr val="B7BEC4"/>
            </a:solidFill>
            <a:prstDash val="dash"/>
          </a:ln>
        </p:spPr>
      </p:sp>
      <p:sp>
        <p:nvSpPr>
          <p:cNvPr id="15" name="Text 13"/>
          <p:cNvSpPr/>
          <p:nvPr/>
        </p:nvSpPr>
        <p:spPr>
          <a:xfrm>
            <a:off x="4441627" y="5962948"/>
            <a:ext cx="6367835"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A9097"/>
                </a:solidFill>
                <a:latin typeface="Arial" pitchFamily="34" charset="0"/>
                <a:ea typeface="Arial" pitchFamily="34" charset="-122"/>
                <a:cs typeface="Arial" pitchFamily="34" charset="-120"/>
              </a:rPr>
              <a:t>[CALENDRIER_IA_ACT · à vérifier avant diffusion]</a:t>
            </a:r>
            <a:endParaRPr lang="en-US" sz="2100" dirty="0"/>
          </a:p>
        </p:txBody>
      </p:sp>
      <p:sp>
        <p:nvSpPr>
          <p:cNvPr id="16" name="Shape 14"/>
          <p:cNvSpPr/>
          <p:nvPr/>
        </p:nvSpPr>
        <p:spPr>
          <a:xfrm>
            <a:off x="1143000" y="9020175"/>
            <a:ext cx="16002000" cy="9525"/>
          </a:xfrm>
          <a:prstGeom prst="rect">
            <a:avLst/>
          </a:prstGeom>
          <a:solidFill>
            <a:srgbClr val="D5DBDF"/>
          </a:solidFill>
          <a:ln/>
        </p:spPr>
      </p:sp>
      <p:pic>
        <p:nvPicPr>
          <p:cNvPr id="17"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18" name="Text 15"/>
          <p:cNvSpPr/>
          <p:nvPr/>
        </p:nvSpPr>
        <p:spPr>
          <a:xfrm>
            <a:off x="16285220" y="9396413"/>
            <a:ext cx="935980"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16 / 23</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81075"/>
            <a:ext cx="381000" cy="19050"/>
          </a:xfrm>
          <a:prstGeom prst="rect">
            <a:avLst/>
          </a:prstGeom>
          <a:solidFill>
            <a:srgbClr val="C0623F"/>
          </a:solidFill>
          <a:ln/>
        </p:spPr>
      </p:sp>
      <p:sp>
        <p:nvSpPr>
          <p:cNvPr id="3" name="Text 1"/>
          <p:cNvSpPr/>
          <p:nvPr/>
        </p:nvSpPr>
        <p:spPr>
          <a:xfrm>
            <a:off x="1676400" y="857250"/>
            <a:ext cx="5114166"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2 · LE BON RÉFLEXE</a:t>
            </a:r>
            <a:endParaRPr lang="en-US" sz="1800" dirty="0"/>
          </a:p>
        </p:txBody>
      </p:sp>
      <p:sp>
        <p:nvSpPr>
          <p:cNvPr id="4" name="Text 2"/>
          <p:cNvSpPr/>
          <p:nvPr/>
        </p:nvSpPr>
        <p:spPr>
          <a:xfrm>
            <a:off x="1143000" y="1276350"/>
            <a:ext cx="17602200" cy="751284"/>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400" b="1" kern="0" spc="-112" dirty="0">
                <a:solidFill>
                  <a:srgbClr val="14304A"/>
                </a:solidFill>
                <a:latin typeface="Arial" pitchFamily="34" charset="0"/>
                <a:ea typeface="Arial" pitchFamily="34" charset="-122"/>
                <a:cs typeface="Arial" pitchFamily="34" charset="-120"/>
              </a:rPr>
              <a:t>Au labo, on n'utilise pas l'IA dans son coin</a:t>
            </a:r>
            <a:endParaRPr lang="en-US" sz="5400" dirty="0"/>
          </a:p>
        </p:txBody>
      </p:sp>
      <p:sp>
        <p:nvSpPr>
          <p:cNvPr id="5" name="Shape 3"/>
          <p:cNvSpPr/>
          <p:nvPr/>
        </p:nvSpPr>
        <p:spPr>
          <a:xfrm>
            <a:off x="1143000" y="2370534"/>
            <a:ext cx="16002000" cy="1512540"/>
          </a:xfrm>
          <a:prstGeom prst="roundRect">
            <a:avLst>
              <a:gd name="adj" fmla="val 8816"/>
            </a:avLst>
          </a:prstGeom>
          <a:solidFill>
            <a:srgbClr val="FFFFFF"/>
          </a:solidFill>
          <a:ln/>
        </p:spPr>
      </p:sp>
      <p:sp>
        <p:nvSpPr>
          <p:cNvPr id="6" name="Shape 4"/>
          <p:cNvSpPr/>
          <p:nvPr/>
        </p:nvSpPr>
        <p:spPr>
          <a:xfrm>
            <a:off x="1143000" y="3873550"/>
            <a:ext cx="16002000" cy="9525"/>
          </a:xfrm>
          <a:prstGeom prst="rect">
            <a:avLst/>
          </a:prstGeom>
          <a:solidFill>
            <a:srgbClr val="D5DBDF"/>
          </a:solidFill>
          <a:ln/>
        </p:spPr>
      </p:sp>
      <p:sp>
        <p:nvSpPr>
          <p:cNvPr id="7" name="Shape 5"/>
          <p:cNvSpPr/>
          <p:nvPr/>
        </p:nvSpPr>
        <p:spPr>
          <a:xfrm>
            <a:off x="1143000" y="2370534"/>
            <a:ext cx="16002000" cy="9525"/>
          </a:xfrm>
          <a:prstGeom prst="rect">
            <a:avLst/>
          </a:prstGeom>
          <a:solidFill>
            <a:srgbClr val="D5DBDF"/>
          </a:solidFill>
          <a:ln/>
        </p:spPr>
      </p:sp>
      <p:sp>
        <p:nvSpPr>
          <p:cNvPr id="8" name="Shape 6"/>
          <p:cNvSpPr/>
          <p:nvPr/>
        </p:nvSpPr>
        <p:spPr>
          <a:xfrm>
            <a:off x="1143000" y="2370534"/>
            <a:ext cx="47625" cy="1512540"/>
          </a:xfrm>
          <a:prstGeom prst="rect">
            <a:avLst/>
          </a:prstGeom>
          <a:solidFill>
            <a:srgbClr val="14304A"/>
          </a:solidFill>
          <a:ln/>
        </p:spPr>
      </p:sp>
      <p:sp>
        <p:nvSpPr>
          <p:cNvPr id="9" name="Shape 7"/>
          <p:cNvSpPr/>
          <p:nvPr/>
        </p:nvSpPr>
        <p:spPr>
          <a:xfrm>
            <a:off x="17135475" y="2370534"/>
            <a:ext cx="9525" cy="1512540"/>
          </a:xfrm>
          <a:prstGeom prst="rect">
            <a:avLst/>
          </a:prstGeom>
          <a:solidFill>
            <a:srgbClr val="D5DBDF"/>
          </a:solidFill>
          <a:ln/>
        </p:spPr>
      </p:sp>
      <p:sp>
        <p:nvSpPr>
          <p:cNvPr id="10" name="Text 8"/>
          <p:cNvSpPr/>
          <p:nvPr/>
        </p:nvSpPr>
        <p:spPr>
          <a:xfrm>
            <a:off x="1609725" y="2722959"/>
            <a:ext cx="351681" cy="5334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dirty="0">
                <a:solidFill>
                  <a:srgbClr val="14304A"/>
                </a:solidFill>
                <a:latin typeface="Arial" pitchFamily="34" charset="0"/>
                <a:ea typeface="Arial" pitchFamily="34" charset="-122"/>
                <a:cs typeface="Arial" pitchFamily="34" charset="-120"/>
              </a:rPr>
              <a:t>1</a:t>
            </a:r>
            <a:endParaRPr lang="en-US" sz="3900" dirty="0"/>
          </a:p>
        </p:txBody>
      </p:sp>
      <p:sp>
        <p:nvSpPr>
          <p:cNvPr id="11" name="Text 9"/>
          <p:cNvSpPr/>
          <p:nvPr/>
        </p:nvSpPr>
        <p:spPr>
          <a:xfrm>
            <a:off x="2170956" y="2722959"/>
            <a:ext cx="8736598"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4304A"/>
                </a:solidFill>
                <a:latin typeface="Arial" pitchFamily="34" charset="0"/>
                <a:ea typeface="Arial" pitchFamily="34" charset="-122"/>
                <a:cs typeface="Arial" pitchFamily="34" charset="-120"/>
              </a:rPr>
              <a:t>En contexte professionnel, l'usage passe par un cadre</a:t>
            </a:r>
            <a:endParaRPr lang="en-US" sz="2400" dirty="0"/>
          </a:p>
        </p:txBody>
      </p:sp>
      <p:sp>
        <p:nvSpPr>
          <p:cNvPr id="12" name="Text 10"/>
          <p:cNvSpPr/>
          <p:nvPr/>
        </p:nvSpPr>
        <p:spPr>
          <a:xfrm>
            <a:off x="2170956" y="3170634"/>
            <a:ext cx="8736598" cy="3981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5B6B79"/>
                </a:solidFill>
                <a:latin typeface="Arial" pitchFamily="34" charset="0"/>
                <a:ea typeface="Arial" pitchFamily="34" charset="-122"/>
                <a:cs typeface="Arial" pitchFamily="34" charset="-120"/>
              </a:rPr>
              <a:t>Pas d'initiative isolée. Le cadre protège le patient, le labo et vous.</a:t>
            </a:r>
            <a:endParaRPr lang="en-US" sz="2025" dirty="0"/>
          </a:p>
        </p:txBody>
      </p:sp>
      <p:sp>
        <p:nvSpPr>
          <p:cNvPr id="13" name="Shape 11"/>
          <p:cNvSpPr/>
          <p:nvPr/>
        </p:nvSpPr>
        <p:spPr>
          <a:xfrm>
            <a:off x="1143000" y="4111675"/>
            <a:ext cx="16002000" cy="1512540"/>
          </a:xfrm>
          <a:prstGeom prst="roundRect">
            <a:avLst>
              <a:gd name="adj" fmla="val 8816"/>
            </a:avLst>
          </a:prstGeom>
          <a:solidFill>
            <a:srgbClr val="FFFFFF"/>
          </a:solidFill>
          <a:ln/>
        </p:spPr>
      </p:sp>
      <p:sp>
        <p:nvSpPr>
          <p:cNvPr id="14" name="Shape 12"/>
          <p:cNvSpPr/>
          <p:nvPr/>
        </p:nvSpPr>
        <p:spPr>
          <a:xfrm>
            <a:off x="1143000" y="5614690"/>
            <a:ext cx="16002000" cy="9525"/>
          </a:xfrm>
          <a:prstGeom prst="rect">
            <a:avLst/>
          </a:prstGeom>
          <a:solidFill>
            <a:srgbClr val="D5DBDF"/>
          </a:solidFill>
          <a:ln/>
        </p:spPr>
      </p:sp>
      <p:sp>
        <p:nvSpPr>
          <p:cNvPr id="15" name="Shape 13"/>
          <p:cNvSpPr/>
          <p:nvPr/>
        </p:nvSpPr>
        <p:spPr>
          <a:xfrm>
            <a:off x="1143000" y="4111675"/>
            <a:ext cx="16002000" cy="9525"/>
          </a:xfrm>
          <a:prstGeom prst="rect">
            <a:avLst/>
          </a:prstGeom>
          <a:solidFill>
            <a:srgbClr val="D5DBDF"/>
          </a:solidFill>
          <a:ln/>
        </p:spPr>
      </p:sp>
      <p:sp>
        <p:nvSpPr>
          <p:cNvPr id="16" name="Shape 14"/>
          <p:cNvSpPr/>
          <p:nvPr/>
        </p:nvSpPr>
        <p:spPr>
          <a:xfrm>
            <a:off x="1143000" y="4111675"/>
            <a:ext cx="47625" cy="1512540"/>
          </a:xfrm>
          <a:prstGeom prst="rect">
            <a:avLst/>
          </a:prstGeom>
          <a:solidFill>
            <a:srgbClr val="14304A"/>
          </a:solidFill>
          <a:ln/>
        </p:spPr>
      </p:sp>
      <p:sp>
        <p:nvSpPr>
          <p:cNvPr id="17" name="Shape 15"/>
          <p:cNvSpPr/>
          <p:nvPr/>
        </p:nvSpPr>
        <p:spPr>
          <a:xfrm>
            <a:off x="17135475" y="4111675"/>
            <a:ext cx="9525" cy="1512540"/>
          </a:xfrm>
          <a:prstGeom prst="rect">
            <a:avLst/>
          </a:prstGeom>
          <a:solidFill>
            <a:srgbClr val="D5DBDF"/>
          </a:solidFill>
          <a:ln/>
        </p:spPr>
      </p:sp>
      <p:sp>
        <p:nvSpPr>
          <p:cNvPr id="18" name="Text 16"/>
          <p:cNvSpPr/>
          <p:nvPr/>
        </p:nvSpPr>
        <p:spPr>
          <a:xfrm>
            <a:off x="1609725" y="4464100"/>
            <a:ext cx="351681" cy="5334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dirty="0">
                <a:solidFill>
                  <a:srgbClr val="14304A"/>
                </a:solidFill>
                <a:latin typeface="Arial" pitchFamily="34" charset="0"/>
                <a:ea typeface="Arial" pitchFamily="34" charset="-122"/>
                <a:cs typeface="Arial" pitchFamily="34" charset="-120"/>
              </a:rPr>
              <a:t>2</a:t>
            </a:r>
            <a:endParaRPr lang="en-US" sz="3900" dirty="0"/>
          </a:p>
        </p:txBody>
      </p:sp>
      <p:sp>
        <p:nvSpPr>
          <p:cNvPr id="19" name="Text 17"/>
          <p:cNvSpPr/>
          <p:nvPr/>
        </p:nvSpPr>
        <p:spPr>
          <a:xfrm>
            <a:off x="2170956" y="4464100"/>
            <a:ext cx="9150623"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4304A"/>
                </a:solidFill>
                <a:latin typeface="Arial" pitchFamily="34" charset="0"/>
                <a:ea typeface="Arial" pitchFamily="34" charset="-122"/>
                <a:cs typeface="Arial" pitchFamily="34" charset="-120"/>
              </a:rPr>
              <a:t>Une idée, un besoin ? Rapprochez-vous de la Commission IA</a:t>
            </a:r>
            <a:endParaRPr lang="en-US" sz="2400" dirty="0"/>
          </a:p>
        </p:txBody>
      </p:sp>
      <p:sp>
        <p:nvSpPr>
          <p:cNvPr id="20" name="Text 18"/>
          <p:cNvSpPr/>
          <p:nvPr/>
        </p:nvSpPr>
        <p:spPr>
          <a:xfrm>
            <a:off x="2170956" y="4911775"/>
            <a:ext cx="9150623" cy="3981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5B6B79"/>
                </a:solidFill>
                <a:latin typeface="Arial" pitchFamily="34" charset="0"/>
                <a:ea typeface="Arial" pitchFamily="34" charset="-122"/>
                <a:cs typeface="Arial" pitchFamily="34" charset="-120"/>
              </a:rPr>
              <a:t>Ou des personnes autorisées au sein du laboratoire.</a:t>
            </a:r>
            <a:endParaRPr lang="en-US" sz="2025" dirty="0"/>
          </a:p>
        </p:txBody>
      </p:sp>
      <p:sp>
        <p:nvSpPr>
          <p:cNvPr id="21" name="Shape 19"/>
          <p:cNvSpPr/>
          <p:nvPr/>
        </p:nvSpPr>
        <p:spPr>
          <a:xfrm>
            <a:off x="1143000" y="5852815"/>
            <a:ext cx="16002000" cy="1493490"/>
          </a:xfrm>
          <a:prstGeom prst="roundRect">
            <a:avLst>
              <a:gd name="adj" fmla="val 8929"/>
            </a:avLst>
          </a:prstGeom>
          <a:solidFill>
            <a:srgbClr val="14304A"/>
          </a:solidFill>
          <a:ln/>
        </p:spPr>
      </p:sp>
      <p:sp>
        <p:nvSpPr>
          <p:cNvPr id="22" name="Text 20"/>
          <p:cNvSpPr/>
          <p:nvPr/>
        </p:nvSpPr>
        <p:spPr>
          <a:xfrm>
            <a:off x="1562100" y="6195715"/>
            <a:ext cx="351681" cy="5334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dirty="0">
                <a:solidFill>
                  <a:srgbClr val="D7A24A"/>
                </a:solidFill>
                <a:latin typeface="Arial" pitchFamily="34" charset="0"/>
                <a:ea typeface="Arial" pitchFamily="34" charset="-122"/>
                <a:cs typeface="Arial" pitchFamily="34" charset="-120"/>
              </a:rPr>
              <a:t>3</a:t>
            </a:r>
            <a:endParaRPr lang="en-US" sz="3900" dirty="0"/>
          </a:p>
        </p:txBody>
      </p:sp>
      <p:sp>
        <p:nvSpPr>
          <p:cNvPr id="23" name="Text 21"/>
          <p:cNvSpPr/>
          <p:nvPr/>
        </p:nvSpPr>
        <p:spPr>
          <a:xfrm>
            <a:off x="2123331" y="6195715"/>
            <a:ext cx="8611195"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FFFFF"/>
                </a:solidFill>
                <a:latin typeface="Arial" pitchFamily="34" charset="0"/>
                <a:ea typeface="Arial" pitchFamily="34" charset="-122"/>
                <a:cs typeface="Arial" pitchFamily="34" charset="-120"/>
              </a:rPr>
              <a:t>Aucun usage professionnel sans autorisation documentée</a:t>
            </a:r>
            <a:endParaRPr lang="en-US" sz="2400" dirty="0"/>
          </a:p>
        </p:txBody>
      </p:sp>
      <p:sp>
        <p:nvSpPr>
          <p:cNvPr id="24" name="Text 22"/>
          <p:cNvSpPr/>
          <p:nvPr/>
        </p:nvSpPr>
        <p:spPr>
          <a:xfrm>
            <a:off x="2123331" y="6643390"/>
            <a:ext cx="8611195" cy="3981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C7D2DB"/>
                </a:solidFill>
                <a:latin typeface="Arial" pitchFamily="34" charset="0"/>
                <a:ea typeface="Arial" pitchFamily="34" charset="-122"/>
                <a:cs typeface="Arial" pitchFamily="34" charset="-120"/>
              </a:rPr>
              <a:t>Ce n'est pas une contrainte, c'est une garantie pour tous.</a:t>
            </a:r>
            <a:endParaRPr lang="en-US" sz="2025" dirty="0"/>
          </a:p>
        </p:txBody>
      </p:sp>
      <p:sp>
        <p:nvSpPr>
          <p:cNvPr id="25" name="Shape 23"/>
          <p:cNvSpPr/>
          <p:nvPr/>
        </p:nvSpPr>
        <p:spPr>
          <a:xfrm>
            <a:off x="1143000" y="9020175"/>
            <a:ext cx="16002000" cy="9525"/>
          </a:xfrm>
          <a:prstGeom prst="rect">
            <a:avLst/>
          </a:prstGeom>
          <a:solidFill>
            <a:srgbClr val="D5DBDF"/>
          </a:solidFill>
          <a:ln/>
        </p:spPr>
      </p:sp>
      <p:pic>
        <p:nvPicPr>
          <p:cNvPr id="26"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27" name="Text 24"/>
          <p:cNvSpPr/>
          <p:nvPr/>
        </p:nvSpPr>
        <p:spPr>
          <a:xfrm>
            <a:off x="16297721" y="9396413"/>
            <a:ext cx="92347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17 / 23</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81075"/>
            <a:ext cx="381000" cy="19050"/>
          </a:xfrm>
          <a:prstGeom prst="rect">
            <a:avLst/>
          </a:prstGeom>
          <a:solidFill>
            <a:srgbClr val="C0623F"/>
          </a:solidFill>
          <a:ln/>
        </p:spPr>
      </p:sp>
      <p:sp>
        <p:nvSpPr>
          <p:cNvPr id="3" name="Text 1"/>
          <p:cNvSpPr/>
          <p:nvPr/>
        </p:nvSpPr>
        <p:spPr>
          <a:xfrm>
            <a:off x="1676400" y="857250"/>
            <a:ext cx="567422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3 · CE QU'ON FAIT DÉJÀ</a:t>
            </a:r>
            <a:endParaRPr lang="en-US" sz="1800" dirty="0"/>
          </a:p>
        </p:txBody>
      </p:sp>
      <p:sp>
        <p:nvSpPr>
          <p:cNvPr id="4" name="Text 2"/>
          <p:cNvSpPr/>
          <p:nvPr/>
        </p:nvSpPr>
        <p:spPr>
          <a:xfrm>
            <a:off x="1143000" y="1295400"/>
            <a:ext cx="17602200" cy="73149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250" b="1" kern="0" spc="-112" dirty="0">
                <a:solidFill>
                  <a:srgbClr val="14304A"/>
                </a:solidFill>
                <a:latin typeface="Arial" pitchFamily="34" charset="0"/>
                <a:ea typeface="Arial" pitchFamily="34" charset="-122"/>
                <a:cs typeface="Arial" pitchFamily="34" charset="-120"/>
              </a:rPr>
              <a:t>Ce qu'on fait déjà, ici</a:t>
            </a:r>
            <a:endParaRPr lang="en-US" sz="5250" dirty="0"/>
          </a:p>
        </p:txBody>
      </p:sp>
      <p:sp>
        <p:nvSpPr>
          <p:cNvPr id="5" name="Text 3"/>
          <p:cNvSpPr/>
          <p:nvPr/>
        </p:nvSpPr>
        <p:spPr>
          <a:xfrm>
            <a:off x="1143000" y="2160240"/>
            <a:ext cx="17602200" cy="409575"/>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5B6B79"/>
                </a:solidFill>
                <a:latin typeface="Arial" pitchFamily="34" charset="0"/>
                <a:ea typeface="Arial" pitchFamily="34" charset="-122"/>
                <a:cs typeface="Arial" pitchFamily="34" charset="-120"/>
              </a:rPr>
              <a:t>Pas des promesses. Ce qui tourne déjà.</a:t>
            </a:r>
            <a:endParaRPr lang="en-US" sz="2400" dirty="0"/>
          </a:p>
        </p:txBody>
      </p:sp>
      <p:sp>
        <p:nvSpPr>
          <p:cNvPr id="6" name="Shape 4"/>
          <p:cNvSpPr/>
          <p:nvPr/>
        </p:nvSpPr>
        <p:spPr>
          <a:xfrm>
            <a:off x="1143000" y="2931765"/>
            <a:ext cx="3002161" cy="2822079"/>
          </a:xfrm>
          <a:prstGeom prst="roundRect">
            <a:avLst>
              <a:gd name="adj" fmla="val 4725"/>
            </a:avLst>
          </a:prstGeom>
          <a:solidFill>
            <a:srgbClr val="FFFFFF"/>
          </a:solidFill>
          <a:ln w="9525">
            <a:solidFill>
              <a:srgbClr val="D5DBDF"/>
            </a:solidFill>
            <a:prstDash val="solid"/>
          </a:ln>
        </p:spPr>
      </p:sp>
      <p:sp>
        <p:nvSpPr>
          <p:cNvPr id="29" name="Oval 28"/>
          <p:cNvSpPr/>
          <p:nvPr/>
        </p:nvSpPr>
        <p:spPr>
          <a:xfrm>
            <a:off x="1333500" y="3122265"/>
            <a:ext cx="762000" cy="76200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6375" y="3265140"/>
            <a:ext cx="476250" cy="476250"/>
          </a:xfrm>
          <a:prstGeom prst="rect">
            <a:avLst/>
          </a:prstGeom>
        </p:spPr>
      </p:pic>
      <p:sp>
        <p:nvSpPr>
          <p:cNvPr id="8" name="Text 5"/>
          <p:cNvSpPr/>
          <p:nvPr/>
        </p:nvSpPr>
        <p:spPr>
          <a:xfrm>
            <a:off x="1476375" y="3950940"/>
            <a:ext cx="2411611" cy="681038"/>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025" b="1" dirty="0">
                <a:solidFill>
                  <a:srgbClr val="14304A"/>
                </a:solidFill>
                <a:latin typeface="Arial" pitchFamily="34" charset="0"/>
                <a:ea typeface="Arial" pitchFamily="34" charset="-122"/>
                <a:cs typeface="Arial" pitchFamily="34" charset="-120"/>
              </a:rPr>
              <a:t>Refonte de procédures</a:t>
            </a:r>
            <a:endParaRPr lang="en-US" sz="2025" dirty="0"/>
          </a:p>
        </p:txBody>
      </p:sp>
      <p:sp>
        <p:nvSpPr>
          <p:cNvPr id="9" name="Text 6"/>
          <p:cNvSpPr/>
          <p:nvPr/>
        </p:nvSpPr>
        <p:spPr>
          <a:xfrm>
            <a:off x="1476375" y="4803428"/>
            <a:ext cx="2411611"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B6B79"/>
                </a:solidFill>
                <a:latin typeface="Arial" pitchFamily="34" charset="0"/>
                <a:ea typeface="Arial" pitchFamily="34" charset="-122"/>
                <a:cs typeface="Arial" pitchFamily="34" charset="-120"/>
              </a:rPr>
              <a:t>Mutualisation &amp; mise à jour.</a:t>
            </a:r>
            <a:endParaRPr lang="en-US" sz="1800" dirty="0"/>
          </a:p>
        </p:txBody>
      </p:sp>
      <p:sp>
        <p:nvSpPr>
          <p:cNvPr id="10" name="Shape 7"/>
          <p:cNvSpPr/>
          <p:nvPr/>
        </p:nvSpPr>
        <p:spPr>
          <a:xfrm>
            <a:off x="4392811" y="2931765"/>
            <a:ext cx="3002310" cy="2822079"/>
          </a:xfrm>
          <a:prstGeom prst="roundRect">
            <a:avLst>
              <a:gd name="adj" fmla="val 4725"/>
            </a:avLst>
          </a:prstGeom>
          <a:solidFill>
            <a:srgbClr val="FFFFFF"/>
          </a:solidFill>
          <a:ln w="9525">
            <a:solidFill>
              <a:srgbClr val="D5DBDF"/>
            </a:solidFill>
            <a:prstDash val="solid"/>
          </a:ln>
        </p:spPr>
      </p:sp>
      <p:sp>
        <p:nvSpPr>
          <p:cNvPr id="30" name="Oval 29"/>
          <p:cNvSpPr/>
          <p:nvPr/>
        </p:nvSpPr>
        <p:spPr>
          <a:xfrm>
            <a:off x="4583311" y="3122265"/>
            <a:ext cx="762000" cy="762000"/>
          </a:xfrm>
          <a:prstGeom prst="ellipse">
            <a:avLst/>
          </a:prstGeom>
          <a:solidFill>
            <a:srgbClr val="14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6186" y="3265140"/>
            <a:ext cx="476250" cy="476250"/>
          </a:xfrm>
          <a:prstGeom prst="rect">
            <a:avLst/>
          </a:prstGeom>
        </p:spPr>
      </p:pic>
      <p:sp>
        <p:nvSpPr>
          <p:cNvPr id="12" name="Text 8"/>
          <p:cNvSpPr/>
          <p:nvPr/>
        </p:nvSpPr>
        <p:spPr>
          <a:xfrm>
            <a:off x="4726186" y="3950940"/>
            <a:ext cx="2569116" cy="359569"/>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025" b="1" dirty="0">
                <a:solidFill>
                  <a:srgbClr val="14304A"/>
                </a:solidFill>
                <a:latin typeface="Arial" pitchFamily="34" charset="0"/>
                <a:ea typeface="Arial" pitchFamily="34" charset="-122"/>
                <a:cs typeface="Arial" pitchFamily="34" charset="-120"/>
              </a:rPr>
              <a:t>Analyse des FNC</a:t>
            </a:r>
            <a:endParaRPr lang="en-US" sz="2025" dirty="0"/>
          </a:p>
        </p:txBody>
      </p:sp>
      <p:sp>
        <p:nvSpPr>
          <p:cNvPr id="13" name="Text 9"/>
          <p:cNvSpPr/>
          <p:nvPr/>
        </p:nvSpPr>
        <p:spPr>
          <a:xfrm>
            <a:off x="4726186" y="4481959"/>
            <a:ext cx="2411760" cy="655141"/>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00" dirty="0">
                <a:solidFill>
                  <a:srgbClr val="5B6B79"/>
                </a:solidFill>
                <a:latin typeface="Arial" pitchFamily="34" charset="0"/>
                <a:ea typeface="Arial" pitchFamily="34" charset="-122"/>
                <a:cs typeface="Arial" pitchFamily="34" charset="-120"/>
              </a:rPr>
              <a:t>Détection de tendances.</a:t>
            </a:r>
            <a:endParaRPr lang="en-US" sz="1800" dirty="0"/>
          </a:p>
        </p:txBody>
      </p:sp>
      <p:sp>
        <p:nvSpPr>
          <p:cNvPr id="14" name="Shape 10"/>
          <p:cNvSpPr/>
          <p:nvPr/>
        </p:nvSpPr>
        <p:spPr>
          <a:xfrm>
            <a:off x="7642771" y="2931765"/>
            <a:ext cx="3002310" cy="2822079"/>
          </a:xfrm>
          <a:prstGeom prst="roundRect">
            <a:avLst>
              <a:gd name="adj" fmla="val 4725"/>
            </a:avLst>
          </a:prstGeom>
          <a:solidFill>
            <a:srgbClr val="FFFFFF"/>
          </a:solidFill>
          <a:ln w="9525">
            <a:solidFill>
              <a:srgbClr val="D5DBDF"/>
            </a:solidFill>
            <a:prstDash val="solid"/>
          </a:ln>
        </p:spPr>
      </p:sp>
      <p:sp>
        <p:nvSpPr>
          <p:cNvPr id="31" name="Oval 30"/>
          <p:cNvSpPr/>
          <p:nvPr/>
        </p:nvSpPr>
        <p:spPr>
          <a:xfrm>
            <a:off x="7833271" y="3122265"/>
            <a:ext cx="762000" cy="76200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76146" y="3265140"/>
            <a:ext cx="476250" cy="476250"/>
          </a:xfrm>
          <a:prstGeom prst="rect">
            <a:avLst/>
          </a:prstGeom>
        </p:spPr>
      </p:pic>
      <p:sp>
        <p:nvSpPr>
          <p:cNvPr id="16" name="Text 11"/>
          <p:cNvSpPr/>
          <p:nvPr/>
        </p:nvSpPr>
        <p:spPr>
          <a:xfrm>
            <a:off x="7976146" y="3950940"/>
            <a:ext cx="2569116" cy="359569"/>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025" b="1" dirty="0">
                <a:solidFill>
                  <a:srgbClr val="14304A"/>
                </a:solidFill>
                <a:latin typeface="Arial" pitchFamily="34" charset="0"/>
                <a:ea typeface="Arial" pitchFamily="34" charset="-122"/>
                <a:cs typeface="Arial" pitchFamily="34" charset="-120"/>
              </a:rPr>
              <a:t>Outils sur mesure</a:t>
            </a:r>
            <a:endParaRPr lang="en-US" sz="2025" dirty="0"/>
          </a:p>
        </p:txBody>
      </p:sp>
      <p:sp>
        <p:nvSpPr>
          <p:cNvPr id="17" name="Text 12"/>
          <p:cNvSpPr/>
          <p:nvPr/>
        </p:nvSpPr>
        <p:spPr>
          <a:xfrm>
            <a:off x="7976146" y="4481959"/>
            <a:ext cx="2569116"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B6B79"/>
                </a:solidFill>
                <a:latin typeface="Arial" pitchFamily="34" charset="0"/>
                <a:ea typeface="Arial" pitchFamily="34" charset="-122"/>
                <a:cs typeface="Arial" pitchFamily="34" charset="-120"/>
              </a:rPr>
              <a:t>Suivi de l'EEQ.</a:t>
            </a:r>
            <a:endParaRPr lang="en-US" sz="1800" dirty="0"/>
          </a:p>
        </p:txBody>
      </p:sp>
      <p:sp>
        <p:nvSpPr>
          <p:cNvPr id="18" name="Shape 13"/>
          <p:cNvSpPr/>
          <p:nvPr/>
        </p:nvSpPr>
        <p:spPr>
          <a:xfrm>
            <a:off x="10892730" y="2931765"/>
            <a:ext cx="3002310" cy="2822079"/>
          </a:xfrm>
          <a:prstGeom prst="roundRect">
            <a:avLst>
              <a:gd name="adj" fmla="val 4725"/>
            </a:avLst>
          </a:prstGeom>
          <a:solidFill>
            <a:srgbClr val="FFFFFF"/>
          </a:solidFill>
          <a:ln w="9525">
            <a:solidFill>
              <a:srgbClr val="D5DBDF"/>
            </a:solidFill>
            <a:prstDash val="solid"/>
          </a:ln>
        </p:spPr>
      </p:sp>
      <p:sp>
        <p:nvSpPr>
          <p:cNvPr id="32" name="Oval 31"/>
          <p:cNvSpPr/>
          <p:nvPr/>
        </p:nvSpPr>
        <p:spPr>
          <a:xfrm>
            <a:off x="11083230" y="3122265"/>
            <a:ext cx="762000" cy="762000"/>
          </a:xfrm>
          <a:prstGeom prst="ellipse">
            <a:avLst/>
          </a:prstGeom>
          <a:solidFill>
            <a:srgbClr val="14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6105" y="3265140"/>
            <a:ext cx="476250" cy="476250"/>
          </a:xfrm>
          <a:prstGeom prst="rect">
            <a:avLst/>
          </a:prstGeom>
        </p:spPr>
      </p:pic>
      <p:sp>
        <p:nvSpPr>
          <p:cNvPr id="20" name="Text 14"/>
          <p:cNvSpPr/>
          <p:nvPr/>
        </p:nvSpPr>
        <p:spPr>
          <a:xfrm>
            <a:off x="11226105" y="3950940"/>
            <a:ext cx="2569116" cy="359569"/>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025" b="1" dirty="0">
                <a:solidFill>
                  <a:srgbClr val="14304A"/>
                </a:solidFill>
                <a:latin typeface="Arial" pitchFamily="34" charset="0"/>
                <a:ea typeface="Arial" pitchFamily="34" charset="-122"/>
                <a:cs typeface="Arial" pitchFamily="34" charset="-120"/>
              </a:rPr>
              <a:t>Communication</a:t>
            </a:r>
            <a:endParaRPr lang="en-US" sz="2025" dirty="0"/>
          </a:p>
        </p:txBody>
      </p:sp>
      <p:sp>
        <p:nvSpPr>
          <p:cNvPr id="21" name="Text 15"/>
          <p:cNvSpPr/>
          <p:nvPr/>
        </p:nvSpPr>
        <p:spPr>
          <a:xfrm>
            <a:off x="11226105" y="4481959"/>
            <a:ext cx="2569116"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B6B79"/>
                </a:solidFill>
                <a:latin typeface="Arial" pitchFamily="34" charset="0"/>
                <a:ea typeface="Arial" pitchFamily="34" charset="-122"/>
                <a:cs typeface="Arial" pitchFamily="34" charset="-120"/>
              </a:rPr>
              <a:t>Interne &amp; externe.</a:t>
            </a:r>
            <a:endParaRPr lang="en-US" sz="1800" dirty="0"/>
          </a:p>
        </p:txBody>
      </p:sp>
      <p:sp>
        <p:nvSpPr>
          <p:cNvPr id="22" name="Shape 16"/>
          <p:cNvSpPr/>
          <p:nvPr/>
        </p:nvSpPr>
        <p:spPr>
          <a:xfrm>
            <a:off x="14142690" y="2931765"/>
            <a:ext cx="3002310" cy="2822079"/>
          </a:xfrm>
          <a:prstGeom prst="roundRect">
            <a:avLst>
              <a:gd name="adj" fmla="val 4725"/>
            </a:avLst>
          </a:prstGeom>
          <a:solidFill>
            <a:srgbClr val="FFFFFF"/>
          </a:solidFill>
          <a:ln w="9525">
            <a:solidFill>
              <a:srgbClr val="D5DBDF"/>
            </a:solidFill>
            <a:prstDash val="solid"/>
          </a:ln>
        </p:spPr>
      </p:sp>
      <p:sp>
        <p:nvSpPr>
          <p:cNvPr id="33" name="Oval 32"/>
          <p:cNvSpPr/>
          <p:nvPr/>
        </p:nvSpPr>
        <p:spPr>
          <a:xfrm>
            <a:off x="14333190" y="3122265"/>
            <a:ext cx="762000" cy="76200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476065" y="3265140"/>
            <a:ext cx="476250" cy="476250"/>
          </a:xfrm>
          <a:prstGeom prst="rect">
            <a:avLst/>
          </a:prstGeom>
        </p:spPr>
      </p:pic>
      <p:sp>
        <p:nvSpPr>
          <p:cNvPr id="24" name="Text 17"/>
          <p:cNvSpPr/>
          <p:nvPr/>
        </p:nvSpPr>
        <p:spPr>
          <a:xfrm>
            <a:off x="14476065" y="3950940"/>
            <a:ext cx="2569116" cy="359569"/>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025" b="1" dirty="0">
                <a:solidFill>
                  <a:srgbClr val="14304A"/>
                </a:solidFill>
                <a:latin typeface="Arial" pitchFamily="34" charset="0"/>
                <a:ea typeface="Arial" pitchFamily="34" charset="-122"/>
                <a:cs typeface="Arial" pitchFamily="34" charset="-120"/>
              </a:rPr>
              <a:t>Avis patients</a:t>
            </a:r>
            <a:endParaRPr lang="en-US" sz="2025" dirty="0"/>
          </a:p>
        </p:txBody>
      </p:sp>
      <p:sp>
        <p:nvSpPr>
          <p:cNvPr id="25" name="Text 18"/>
          <p:cNvSpPr/>
          <p:nvPr/>
        </p:nvSpPr>
        <p:spPr>
          <a:xfrm>
            <a:off x="14476065" y="4481959"/>
            <a:ext cx="2411760"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B6B79"/>
                </a:solidFill>
                <a:latin typeface="Arial" pitchFamily="34" charset="0"/>
                <a:ea typeface="Arial" pitchFamily="34" charset="-122"/>
                <a:cs typeface="Arial" pitchFamily="34" charset="-120"/>
              </a:rPr>
              <a:t>Analyse Partoo / Google.</a:t>
            </a:r>
            <a:endParaRPr lang="en-US" sz="1800" dirty="0"/>
          </a:p>
        </p:txBody>
      </p:sp>
      <p:sp>
        <p:nvSpPr>
          <p:cNvPr id="26" name="Shape 19"/>
          <p:cNvSpPr/>
          <p:nvPr/>
        </p:nvSpPr>
        <p:spPr>
          <a:xfrm>
            <a:off x="1143000" y="9020175"/>
            <a:ext cx="16002000" cy="9525"/>
          </a:xfrm>
          <a:prstGeom prst="rect">
            <a:avLst/>
          </a:prstGeom>
          <a:solidFill>
            <a:srgbClr val="D5DBDF"/>
          </a:solidFill>
          <a:ln/>
        </p:spPr>
      </p:sp>
      <p:pic>
        <p:nvPicPr>
          <p:cNvPr id="27" name="Image 5" descr="preencoded.png"/>
          <p:cNvPicPr>
            <a:picLocks noChangeAspect="1"/>
          </p:cNvPicPr>
          <p:nvPr/>
        </p:nvPicPr>
        <p:blipFill>
          <a:blip r:embed="rId13"/>
          <a:stretch>
            <a:fillRect/>
          </a:stretch>
        </p:blipFill>
        <p:spPr>
          <a:xfrm>
            <a:off x="1143000" y="9239250"/>
            <a:ext cx="393204" cy="590550"/>
          </a:xfrm>
          <a:prstGeom prst="rect">
            <a:avLst/>
          </a:prstGeom>
        </p:spPr>
      </p:pic>
      <p:sp>
        <p:nvSpPr>
          <p:cNvPr id="28" name="Text 20"/>
          <p:cNvSpPr/>
          <p:nvPr/>
        </p:nvSpPr>
        <p:spPr>
          <a:xfrm>
            <a:off x="16285220" y="9396413"/>
            <a:ext cx="935980"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19 / 23</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23925"/>
            <a:ext cx="381000" cy="19050"/>
          </a:xfrm>
          <a:prstGeom prst="rect">
            <a:avLst/>
          </a:prstGeom>
          <a:solidFill>
            <a:srgbClr val="C0623F"/>
          </a:solidFill>
          <a:ln/>
        </p:spPr>
      </p:sp>
      <p:sp>
        <p:nvSpPr>
          <p:cNvPr id="3" name="Text 1"/>
          <p:cNvSpPr/>
          <p:nvPr/>
        </p:nvSpPr>
        <p:spPr>
          <a:xfrm>
            <a:off x="1676400" y="800100"/>
            <a:ext cx="567422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3 · CE QU'ON FAIT DÉJÀ</a:t>
            </a:r>
            <a:endParaRPr lang="en-US" sz="1800" dirty="0"/>
          </a:p>
        </p:txBody>
      </p:sp>
      <p:sp>
        <p:nvSpPr>
          <p:cNvPr id="4" name="Text 2"/>
          <p:cNvSpPr/>
          <p:nvPr/>
        </p:nvSpPr>
        <p:spPr>
          <a:xfrm>
            <a:off x="1143000" y="1200150"/>
            <a:ext cx="17602200" cy="73149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250" b="1" kern="0" spc="-112" dirty="0">
                <a:solidFill>
                  <a:srgbClr val="14304A"/>
                </a:solidFill>
                <a:latin typeface="Arial" pitchFamily="34" charset="0"/>
                <a:ea typeface="Arial" pitchFamily="34" charset="-122"/>
                <a:cs typeface="Arial" pitchFamily="34" charset="-120"/>
              </a:rPr>
              <a:t>Un exemple concret</a:t>
            </a:r>
            <a:endParaRPr lang="en-US" sz="5250" dirty="0"/>
          </a:p>
        </p:txBody>
      </p:sp>
      <p:sp>
        <p:nvSpPr>
          <p:cNvPr id="5" name="Shape 3"/>
          <p:cNvSpPr/>
          <p:nvPr/>
        </p:nvSpPr>
        <p:spPr>
          <a:xfrm>
            <a:off x="9334500" y="2179290"/>
            <a:ext cx="7810500" cy="1457325"/>
          </a:xfrm>
          <a:prstGeom prst="roundRect">
            <a:avLst>
              <a:gd name="adj" fmla="val 7843"/>
            </a:avLst>
          </a:prstGeom>
          <a:solidFill>
            <a:srgbClr val="FFFFFF"/>
          </a:solidFill>
          <a:ln w="9525">
            <a:solidFill>
              <a:srgbClr val="D5DBDF"/>
            </a:solidFill>
            <a:prstDash val="solid"/>
          </a:ln>
        </p:spPr>
      </p:sp>
      <p:sp>
        <p:nvSpPr>
          <p:cNvPr id="6" name="Text 4"/>
          <p:cNvSpPr/>
          <p:nvPr/>
        </p:nvSpPr>
        <p:spPr>
          <a:xfrm>
            <a:off x="9648825" y="2436465"/>
            <a:ext cx="7900035"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150" dirty="0">
                <a:solidFill>
                  <a:srgbClr val="8A9097"/>
                </a:solidFill>
                <a:latin typeface="Arial" pitchFamily="34" charset="0"/>
                <a:ea typeface="Arial" pitchFamily="34" charset="-122"/>
                <a:cs typeface="Arial" pitchFamily="34" charset="-120"/>
              </a:rPr>
              <a:t>LE CAS</a:t>
            </a:r>
            <a:endParaRPr lang="en-US" sz="1800" dirty="0"/>
          </a:p>
        </p:txBody>
      </p:sp>
      <p:sp>
        <p:nvSpPr>
          <p:cNvPr id="7" name="Shape 5"/>
          <p:cNvSpPr/>
          <p:nvPr/>
        </p:nvSpPr>
        <p:spPr>
          <a:xfrm>
            <a:off x="9648825" y="2817465"/>
            <a:ext cx="7181850" cy="561975"/>
          </a:xfrm>
          <a:prstGeom prst="roundRect">
            <a:avLst>
              <a:gd name="adj" fmla="val 13559"/>
            </a:avLst>
          </a:prstGeom>
          <a:ln w="9525">
            <a:solidFill>
              <a:srgbClr val="B7BEC4"/>
            </a:solidFill>
            <a:prstDash val="dash"/>
          </a:ln>
        </p:spPr>
      </p:sp>
      <p:sp>
        <p:nvSpPr>
          <p:cNvPr id="8" name="Text 6"/>
          <p:cNvSpPr/>
          <p:nvPr/>
        </p:nvSpPr>
        <p:spPr>
          <a:xfrm>
            <a:off x="9829800" y="2941290"/>
            <a:ext cx="7035356" cy="352425"/>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A9097"/>
                </a:solidFill>
                <a:latin typeface="Arial" pitchFamily="34" charset="0"/>
                <a:ea typeface="Arial" pitchFamily="34" charset="-122"/>
                <a:cs typeface="Arial" pitchFamily="34" charset="-120"/>
              </a:rPr>
              <a:t>[TITRE DE L'EXEMPLE]</a:t>
            </a:r>
            <a:endParaRPr lang="en-US" sz="2025" dirty="0"/>
          </a:p>
        </p:txBody>
      </p:sp>
      <p:sp>
        <p:nvSpPr>
          <p:cNvPr id="9" name="Shape 7"/>
          <p:cNvSpPr/>
          <p:nvPr/>
        </p:nvSpPr>
        <p:spPr>
          <a:xfrm>
            <a:off x="9334500" y="3827115"/>
            <a:ext cx="3581400" cy="4448175"/>
          </a:xfrm>
          <a:prstGeom prst="roundRect">
            <a:avLst>
              <a:gd name="adj" fmla="val 3191"/>
            </a:avLst>
          </a:prstGeom>
          <a:solidFill>
            <a:srgbClr val="FFFFFF"/>
          </a:solidFill>
          <a:ln w="9525">
            <a:solidFill>
              <a:srgbClr val="D5DBDF"/>
            </a:solidFill>
            <a:prstDash val="solid"/>
          </a:ln>
        </p:spPr>
      </p:sp>
      <p:sp>
        <p:nvSpPr>
          <p:cNvPr id="23" name="Oval 22"/>
          <p:cNvSpPr/>
          <p:nvPr/>
        </p:nvSpPr>
        <p:spPr>
          <a:xfrm>
            <a:off x="9505950" y="3998565"/>
            <a:ext cx="457200" cy="45720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91675" y="4084290"/>
            <a:ext cx="285750" cy="285750"/>
          </a:xfrm>
          <a:prstGeom prst="rect">
            <a:avLst/>
          </a:prstGeom>
        </p:spPr>
      </p:pic>
      <p:sp>
        <p:nvSpPr>
          <p:cNvPr id="11" name="Text 8"/>
          <p:cNvSpPr/>
          <p:nvPr/>
        </p:nvSpPr>
        <p:spPr>
          <a:xfrm>
            <a:off x="9991725" y="4093815"/>
            <a:ext cx="899666"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5B6B79"/>
                </a:solidFill>
                <a:latin typeface="Arial" pitchFamily="34" charset="0"/>
                <a:ea typeface="Arial" pitchFamily="34" charset="-122"/>
                <a:cs typeface="Arial" pitchFamily="34" charset="-120"/>
              </a:rPr>
              <a:t>AVANT</a:t>
            </a:r>
            <a:endParaRPr lang="en-US" sz="1800" dirty="0"/>
          </a:p>
        </p:txBody>
      </p:sp>
      <p:sp>
        <p:nvSpPr>
          <p:cNvPr id="12" name="Shape 9"/>
          <p:cNvSpPr/>
          <p:nvPr/>
        </p:nvSpPr>
        <p:spPr>
          <a:xfrm>
            <a:off x="9591675" y="4503390"/>
            <a:ext cx="3067050" cy="3514725"/>
          </a:xfrm>
          <a:prstGeom prst="roundRect">
            <a:avLst>
              <a:gd name="adj" fmla="val 2484"/>
            </a:avLst>
          </a:prstGeom>
          <a:ln w="9525">
            <a:solidFill>
              <a:srgbClr val="B7BEC4"/>
            </a:solidFill>
            <a:prstDash val="dash"/>
          </a:ln>
        </p:spPr>
      </p:sp>
      <p:sp>
        <p:nvSpPr>
          <p:cNvPr id="13" name="Text 10"/>
          <p:cNvSpPr/>
          <p:nvPr/>
        </p:nvSpPr>
        <p:spPr>
          <a:xfrm>
            <a:off x="9753600" y="4627215"/>
            <a:ext cx="2835212" cy="3305175"/>
          </a:xfrm>
          <a:prstGeom prst="rect">
            <a:avLst/>
          </a:prstGeom>
          <a:noFill/>
          <a:ln/>
        </p:spPr>
        <p:txBody>
          <a:bodyPr wrap="square" lIns="25400" tIns="25400" rIns="25400" bIns="25400" rtlCol="0" anchor="ctr">
            <a:normAutofit/>
          </a:bodyPr>
          <a:lstStyle/>
          <a:p>
            <a:pPr marL="0" indent="0" algn="l">
              <a:lnSpc>
                <a:spcPct val="135000"/>
              </a:lnSpc>
              <a:buNone/>
            </a:pPr>
            <a:r>
              <a:rPr lang="en-US" sz="1875" dirty="0">
                <a:solidFill>
                  <a:srgbClr val="8A9097"/>
                </a:solidFill>
                <a:latin typeface="Arial" pitchFamily="34" charset="0"/>
                <a:ea typeface="Arial" pitchFamily="34" charset="-122"/>
                <a:cs typeface="Arial" pitchFamily="34" charset="-120"/>
              </a:rPr>
              <a:t>[SITUATION AVANT]</a:t>
            </a:r>
            <a:endParaRPr lang="en-US" sz="1875" dirty="0"/>
          </a:p>
        </p:txBody>
      </p:sp>
      <p:sp>
        <p:nvSpPr>
          <p:cNvPr id="15" name="Shape 11"/>
          <p:cNvSpPr/>
          <p:nvPr/>
        </p:nvSpPr>
        <p:spPr>
          <a:xfrm>
            <a:off x="13582650" y="3689955"/>
            <a:ext cx="3562350" cy="4448175"/>
          </a:xfrm>
          <a:prstGeom prst="roundRect">
            <a:avLst>
              <a:gd name="adj" fmla="val 3209"/>
            </a:avLst>
          </a:prstGeom>
          <a:solidFill>
            <a:srgbClr val="14304A"/>
          </a:solidFill>
          <a:ln/>
        </p:spPr>
      </p:sp>
      <p:sp>
        <p:nvSpPr>
          <p:cNvPr id="24" name="Oval 23"/>
          <p:cNvSpPr/>
          <p:nvPr/>
        </p:nvSpPr>
        <p:spPr>
          <a:xfrm>
            <a:off x="13744575" y="3851880"/>
            <a:ext cx="457200" cy="457200"/>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30300" y="3937605"/>
            <a:ext cx="285750" cy="285750"/>
          </a:xfrm>
          <a:prstGeom prst="rect">
            <a:avLst/>
          </a:prstGeom>
        </p:spPr>
      </p:pic>
      <p:sp>
        <p:nvSpPr>
          <p:cNvPr id="17" name="Text 12"/>
          <p:cNvSpPr/>
          <p:nvPr/>
        </p:nvSpPr>
        <p:spPr>
          <a:xfrm>
            <a:off x="14230350" y="3947130"/>
            <a:ext cx="946547"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150" dirty="0">
                <a:solidFill>
                  <a:srgbClr val="D7A24A"/>
                </a:solidFill>
                <a:latin typeface="Arial" pitchFamily="34" charset="0"/>
                <a:ea typeface="Arial" pitchFamily="34" charset="-122"/>
                <a:cs typeface="Arial" pitchFamily="34" charset="-120"/>
              </a:rPr>
              <a:t>APRÈS</a:t>
            </a:r>
            <a:endParaRPr lang="en-US" sz="1800" dirty="0"/>
          </a:p>
        </p:txBody>
      </p:sp>
      <p:sp>
        <p:nvSpPr>
          <p:cNvPr id="18" name="Shape 13"/>
          <p:cNvSpPr/>
          <p:nvPr/>
        </p:nvSpPr>
        <p:spPr>
          <a:xfrm>
            <a:off x="13830300" y="4356705"/>
            <a:ext cx="3067050" cy="3533775"/>
          </a:xfrm>
          <a:prstGeom prst="roundRect">
            <a:avLst>
              <a:gd name="adj" fmla="val 2484"/>
            </a:avLst>
          </a:prstGeom>
          <a:ln w="9525">
            <a:solidFill>
              <a:srgbClr val="C7D2DB">
                <a:alpha val="45000"/>
              </a:srgbClr>
            </a:solidFill>
            <a:prstDash val="dash"/>
          </a:ln>
        </p:spPr>
      </p:sp>
      <p:sp>
        <p:nvSpPr>
          <p:cNvPr id="19" name="Text 14"/>
          <p:cNvSpPr/>
          <p:nvPr/>
        </p:nvSpPr>
        <p:spPr>
          <a:xfrm>
            <a:off x="13992225" y="4480530"/>
            <a:ext cx="2835212" cy="3324225"/>
          </a:xfrm>
          <a:prstGeom prst="rect">
            <a:avLst/>
          </a:prstGeom>
          <a:noFill/>
          <a:ln/>
        </p:spPr>
        <p:txBody>
          <a:bodyPr wrap="square" lIns="25400" tIns="25400" rIns="25400" bIns="25400" rtlCol="0" anchor="ctr">
            <a:normAutofit/>
          </a:bodyPr>
          <a:lstStyle/>
          <a:p>
            <a:pPr marL="0" indent="0" algn="l">
              <a:lnSpc>
                <a:spcPct val="135000"/>
              </a:lnSpc>
              <a:buNone/>
            </a:pPr>
            <a:r>
              <a:rPr lang="en-US" sz="1875" dirty="0">
                <a:solidFill>
                  <a:srgbClr val="8FA2B2"/>
                </a:solidFill>
                <a:latin typeface="Arial" pitchFamily="34" charset="0"/>
                <a:ea typeface="Arial" pitchFamily="34" charset="-122"/>
                <a:cs typeface="Arial" pitchFamily="34" charset="-120"/>
              </a:rPr>
              <a:t>[RÉSULTAT APRÈS]</a:t>
            </a:r>
            <a:endParaRPr lang="en-US" sz="1875" dirty="0"/>
          </a:p>
        </p:txBody>
      </p:sp>
      <p:sp>
        <p:nvSpPr>
          <p:cNvPr id="20" name="Shape 15"/>
          <p:cNvSpPr/>
          <p:nvPr/>
        </p:nvSpPr>
        <p:spPr>
          <a:xfrm>
            <a:off x="1143000" y="9020175"/>
            <a:ext cx="16002000" cy="9525"/>
          </a:xfrm>
          <a:prstGeom prst="rect">
            <a:avLst/>
          </a:prstGeom>
          <a:solidFill>
            <a:srgbClr val="D5DBDF"/>
          </a:solidFill>
          <a:ln/>
        </p:spPr>
      </p:sp>
      <p:pic>
        <p:nvPicPr>
          <p:cNvPr id="21" name="Image 3" descr="preencoded.png"/>
          <p:cNvPicPr>
            <a:picLocks noChangeAspect="1"/>
          </p:cNvPicPr>
          <p:nvPr/>
        </p:nvPicPr>
        <p:blipFill>
          <a:blip r:embed="rId9"/>
          <a:stretch>
            <a:fillRect/>
          </a:stretch>
        </p:blipFill>
        <p:spPr>
          <a:xfrm>
            <a:off x="1143000" y="9239250"/>
            <a:ext cx="393204" cy="590550"/>
          </a:xfrm>
          <a:prstGeom prst="rect">
            <a:avLst/>
          </a:prstGeom>
        </p:spPr>
      </p:pic>
      <p:sp>
        <p:nvSpPr>
          <p:cNvPr id="22" name="Text 16"/>
          <p:cNvSpPr/>
          <p:nvPr/>
        </p:nvSpPr>
        <p:spPr>
          <a:xfrm>
            <a:off x="16285220" y="9396413"/>
            <a:ext cx="935980"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19 / 23</a:t>
            </a:r>
            <a:endParaRPr lang="en-US" sz="1800" dirty="0"/>
          </a:p>
        </p:txBody>
      </p:sp>
      <p:sp>
        <p:nvSpPr>
          <p:cNvPr id="25" name="Right Arrow 24"/>
          <p:cNvSpPr/>
          <p:nvPr/>
        </p:nvSpPr>
        <p:spPr>
          <a:xfrm rot="21240000">
            <a:off x="12911328" y="5532120"/>
            <a:ext cx="640080" cy="868680"/>
          </a:xfrm>
          <a:prstGeom prst="rightArrow">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4811956"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AUJOURD'HUI · OÙ EN EST-ON</a:t>
            </a:r>
            <a:endParaRPr lang="en-US" sz="1800" dirty="0"/>
          </a:p>
        </p:txBody>
      </p:sp>
      <p:sp>
        <p:nvSpPr>
          <p:cNvPr id="4" name="Text 2"/>
          <p:cNvSpPr/>
          <p:nvPr/>
        </p:nvSpPr>
        <p:spPr>
          <a:xfrm>
            <a:off x="1143000" y="13525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Aujourd'hui : usage en pause</a:t>
            </a:r>
            <a:endParaRPr lang="en-US" sz="5700" dirty="0"/>
          </a:p>
        </p:txBody>
      </p:sp>
      <p:sp>
        <p:nvSpPr>
          <p:cNvPr id="5" name="Shape 3"/>
          <p:cNvSpPr/>
          <p:nvPr/>
        </p:nvSpPr>
        <p:spPr>
          <a:xfrm>
            <a:off x="1143000" y="2486323"/>
            <a:ext cx="16002000" cy="2076450"/>
          </a:xfrm>
          <a:prstGeom prst="roundRect">
            <a:avLst>
              <a:gd name="adj" fmla="val 8257"/>
            </a:avLst>
          </a:prstGeom>
          <a:solidFill>
            <a:srgbClr val="C0623F"/>
          </a:solidFill>
          <a:ln/>
        </p:spPr>
      </p:sp>
      <p:sp>
        <p:nvSpPr>
          <p:cNvPr id="6" name="Text 4"/>
          <p:cNvSpPr/>
          <p:nvPr/>
        </p:nvSpPr>
        <p:spPr>
          <a:xfrm>
            <a:off x="1752600" y="2981623"/>
            <a:ext cx="15226284" cy="1123950"/>
          </a:xfrm>
          <a:prstGeom prst="rect">
            <a:avLst/>
          </a:prstGeom>
          <a:noFill/>
          <a:ln/>
        </p:spPr>
        <p:txBody>
          <a:bodyPr wrap="square" lIns="25400" tIns="25400" rIns="25400" bIns="25400" rtlCol="0" anchor="t">
            <a:normAutofit fontScale="92500" lnSpcReduction="20000"/>
          </a:bodyPr>
          <a:lstStyle/>
          <a:p>
            <a:pPr marL="0" indent="0" algn="l">
              <a:lnSpc>
                <a:spcPct val="114000"/>
              </a:lnSpc>
              <a:buNone/>
            </a:pPr>
            <a:r>
              <a:rPr lang="en-US" sz="3750" b="1" kern="0" spc="-37" dirty="0">
                <a:solidFill>
                  <a:srgbClr val="FFFFFF"/>
                </a:solidFill>
                <a:latin typeface="Arial" pitchFamily="34" charset="0"/>
                <a:ea typeface="Arial" pitchFamily="34" charset="-122"/>
                <a:cs typeface="Arial" pitchFamily="34" charset="-120"/>
              </a:rPr>
              <a:t>L'usage des outils d'IA dans vos activités est suspendu, le temps de bien faire.</a:t>
            </a:r>
            <a:endParaRPr lang="en-US" sz="3750" dirty="0"/>
          </a:p>
        </p:txBody>
      </p:sp>
      <p:sp>
        <p:nvSpPr>
          <p:cNvPr id="7" name="Shape 5"/>
          <p:cNvSpPr/>
          <p:nvPr/>
        </p:nvSpPr>
        <p:spPr>
          <a:xfrm>
            <a:off x="1143000" y="4943773"/>
            <a:ext cx="7858125" cy="1323975"/>
          </a:xfrm>
          <a:prstGeom prst="roundRect">
            <a:avLst>
              <a:gd name="adj" fmla="val 10072"/>
            </a:avLst>
          </a:prstGeom>
          <a:solidFill>
            <a:srgbClr val="FFFFFF"/>
          </a:solidFill>
          <a:ln w="9525">
            <a:solidFill>
              <a:srgbClr val="D5DBDF"/>
            </a:solidFill>
            <a:prstDash val="solid"/>
          </a:ln>
        </p:spPr>
      </p:sp>
      <p:sp>
        <p:nvSpPr>
          <p:cNvPr id="8" name="Text 6"/>
          <p:cNvSpPr/>
          <p:nvPr/>
        </p:nvSpPr>
        <p:spPr>
          <a:xfrm>
            <a:off x="1571625" y="5296198"/>
            <a:ext cx="372963" cy="657225"/>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14304A"/>
                </a:solidFill>
                <a:latin typeface="Arial" pitchFamily="34" charset="0"/>
                <a:ea typeface="Arial" pitchFamily="34" charset="-122"/>
                <a:cs typeface="Arial" pitchFamily="34" charset="-120"/>
              </a:rPr>
              <a:t>1</a:t>
            </a:r>
            <a:endParaRPr lang="en-US" sz="4200" dirty="0"/>
          </a:p>
        </p:txBody>
      </p:sp>
      <p:sp>
        <p:nvSpPr>
          <p:cNvPr id="9" name="Text 7"/>
          <p:cNvSpPr/>
          <p:nvPr/>
        </p:nvSpPr>
        <p:spPr>
          <a:xfrm>
            <a:off x="2154138" y="5419130"/>
            <a:ext cx="514756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Règlement / charte IA à mettre à jour.</a:t>
            </a:r>
            <a:endParaRPr lang="en-US" sz="2100" dirty="0"/>
          </a:p>
        </p:txBody>
      </p:sp>
      <p:sp>
        <p:nvSpPr>
          <p:cNvPr id="10" name="Shape 8"/>
          <p:cNvSpPr/>
          <p:nvPr/>
        </p:nvSpPr>
        <p:spPr>
          <a:xfrm>
            <a:off x="9286875" y="4943773"/>
            <a:ext cx="7858125" cy="1323975"/>
          </a:xfrm>
          <a:prstGeom prst="roundRect">
            <a:avLst>
              <a:gd name="adj" fmla="val 10072"/>
            </a:avLst>
          </a:prstGeom>
          <a:solidFill>
            <a:srgbClr val="FFFFFF"/>
          </a:solidFill>
          <a:ln w="9525">
            <a:solidFill>
              <a:srgbClr val="D5DBDF"/>
            </a:solidFill>
            <a:prstDash val="solid"/>
          </a:ln>
        </p:spPr>
      </p:sp>
      <p:sp>
        <p:nvSpPr>
          <p:cNvPr id="11" name="Text 9"/>
          <p:cNvSpPr/>
          <p:nvPr/>
        </p:nvSpPr>
        <p:spPr>
          <a:xfrm>
            <a:off x="9715500" y="5296198"/>
            <a:ext cx="372963" cy="657225"/>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14304A"/>
                </a:solidFill>
                <a:latin typeface="Arial" pitchFamily="34" charset="0"/>
                <a:ea typeface="Arial" pitchFamily="34" charset="-122"/>
                <a:cs typeface="Arial" pitchFamily="34" charset="-120"/>
              </a:rPr>
              <a:t>2</a:t>
            </a:r>
            <a:endParaRPr lang="en-US" sz="4200" dirty="0"/>
          </a:p>
        </p:txBody>
      </p:sp>
      <p:sp>
        <p:nvSpPr>
          <p:cNvPr id="12" name="Text 10"/>
          <p:cNvSpPr/>
          <p:nvPr/>
        </p:nvSpPr>
        <p:spPr>
          <a:xfrm>
            <a:off x="10298013" y="5419130"/>
            <a:ext cx="489479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E2933"/>
                </a:solidFill>
                <a:latin typeface="Arial" pitchFamily="34" charset="0"/>
                <a:ea typeface="Arial" pitchFamily="34" charset="-122"/>
                <a:cs typeface="Arial" pitchFamily="34" charset="-120"/>
              </a:rPr>
              <a:t>Formations utilisateurs à dispenser.</a:t>
            </a:r>
            <a:endParaRPr lang="en-US" sz="2100" dirty="0"/>
          </a:p>
        </p:txBody>
      </p:sp>
      <p:sp>
        <p:nvSpPr>
          <p:cNvPr id="13" name="Shape 11"/>
          <p:cNvSpPr/>
          <p:nvPr/>
        </p:nvSpPr>
        <p:spPr>
          <a:xfrm>
            <a:off x="1143000" y="6648748"/>
            <a:ext cx="38100" cy="800100"/>
          </a:xfrm>
          <a:prstGeom prst="rect">
            <a:avLst/>
          </a:prstGeom>
          <a:solidFill>
            <a:srgbClr val="D5DBDF"/>
          </a:solidFill>
          <a:ln/>
        </p:spPr>
      </p:sp>
      <p:sp>
        <p:nvSpPr>
          <p:cNvPr id="14" name="Text 12"/>
          <p:cNvSpPr/>
          <p:nvPr/>
        </p:nvSpPr>
        <p:spPr>
          <a:xfrm>
            <a:off x="1447800" y="6648748"/>
            <a:ext cx="14725269"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B6B79"/>
                </a:solidFill>
                <a:latin typeface="Arial" pitchFamily="34" charset="0"/>
                <a:ea typeface="Arial" pitchFamily="34" charset="-122"/>
                <a:cs typeface="Arial" pitchFamily="34" charset="-120"/>
              </a:rPr>
              <a:t>Ce n'est pas un frein, c'est une mise en conformité. En attendant, on réfléchit les projets, on ne les déploie pas encore.</a:t>
            </a:r>
            <a:endParaRPr lang="en-US" sz="2100" dirty="0"/>
          </a:p>
        </p:txBody>
      </p:sp>
      <p:sp>
        <p:nvSpPr>
          <p:cNvPr id="15" name="Shape 13"/>
          <p:cNvSpPr/>
          <p:nvPr/>
        </p:nvSpPr>
        <p:spPr>
          <a:xfrm>
            <a:off x="1143000" y="9020175"/>
            <a:ext cx="16002000" cy="9525"/>
          </a:xfrm>
          <a:prstGeom prst="rect">
            <a:avLst/>
          </a:prstGeom>
          <a:solidFill>
            <a:srgbClr val="D5DBDF"/>
          </a:solidFill>
          <a:ln/>
        </p:spPr>
      </p:sp>
      <p:pic>
        <p:nvPicPr>
          <p:cNvPr id="16"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17" name="Text 14"/>
          <p:cNvSpPr/>
          <p:nvPr/>
        </p:nvSpPr>
        <p:spPr>
          <a:xfrm>
            <a:off x="16236404" y="9396413"/>
            <a:ext cx="984796"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20 / 23</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981075"/>
            <a:ext cx="381000" cy="19050"/>
          </a:xfrm>
          <a:prstGeom prst="rect">
            <a:avLst/>
          </a:prstGeom>
          <a:solidFill>
            <a:srgbClr val="C0623F"/>
          </a:solidFill>
          <a:ln/>
        </p:spPr>
      </p:sp>
      <p:sp>
        <p:nvSpPr>
          <p:cNvPr id="3" name="Text 1"/>
          <p:cNvSpPr/>
          <p:nvPr/>
        </p:nvSpPr>
        <p:spPr>
          <a:xfrm>
            <a:off x="1676400" y="857250"/>
            <a:ext cx="5548655"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4 · PASSER À L'ACTION</a:t>
            </a:r>
            <a:endParaRPr lang="en-US" sz="1800" dirty="0"/>
          </a:p>
        </p:txBody>
      </p:sp>
      <p:sp>
        <p:nvSpPr>
          <p:cNvPr id="4" name="Text 2"/>
          <p:cNvSpPr/>
          <p:nvPr/>
        </p:nvSpPr>
        <p:spPr>
          <a:xfrm>
            <a:off x="1143000" y="1276350"/>
            <a:ext cx="17602200" cy="751284"/>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400" b="1" kern="0" spc="-112" dirty="0">
                <a:solidFill>
                  <a:srgbClr val="14304A"/>
                </a:solidFill>
                <a:latin typeface="Arial" pitchFamily="34" charset="0"/>
                <a:ea typeface="Arial" pitchFamily="34" charset="-122"/>
                <a:cs typeface="Arial" pitchFamily="34" charset="-120"/>
              </a:rPr>
              <a:t>Envie d'avancer ? Formons un groupe de travail</a:t>
            </a:r>
            <a:endParaRPr lang="en-US" sz="5400" dirty="0"/>
          </a:p>
        </p:txBody>
      </p:sp>
      <p:sp>
        <p:nvSpPr>
          <p:cNvPr id="5" name="Text 3"/>
          <p:cNvSpPr/>
          <p:nvPr/>
        </p:nvSpPr>
        <p:spPr>
          <a:xfrm>
            <a:off x="1143000" y="2141934"/>
            <a:ext cx="1760220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5B6B79"/>
                </a:solidFill>
                <a:latin typeface="Arial" pitchFamily="34" charset="0"/>
                <a:ea typeface="Arial" pitchFamily="34" charset="-122"/>
                <a:cs typeface="Arial" pitchFamily="34" charset="-120"/>
              </a:rPr>
              <a:t>La réflexion collective démarre maintenant — l'usage viendra, encadré.</a:t>
            </a:r>
            <a:endParaRPr lang="en-US" sz="2250" dirty="0"/>
          </a:p>
        </p:txBody>
      </p:sp>
      <p:sp>
        <p:nvSpPr>
          <p:cNvPr id="6" name="Shape 4"/>
          <p:cNvSpPr/>
          <p:nvPr/>
        </p:nvSpPr>
        <p:spPr>
          <a:xfrm>
            <a:off x="1143000" y="2843784"/>
            <a:ext cx="8229600" cy="4443984"/>
          </a:xfrm>
          <a:prstGeom prst="roundRect">
            <a:avLst>
              <a:gd name="adj" fmla="val 6335"/>
            </a:avLst>
          </a:prstGeom>
          <a:solidFill>
            <a:srgbClr val="FFFFFF"/>
          </a:solidFill>
          <a:ln w="9525">
            <a:solidFill>
              <a:srgbClr val="D5DBDF"/>
            </a:solidFill>
            <a:prstDash val="solid"/>
          </a:ln>
        </p:spPr>
      </p:sp>
      <p:sp>
        <p:nvSpPr>
          <p:cNvPr id="25" name="Oval 24"/>
          <p:cNvSpPr/>
          <p:nvPr/>
        </p:nvSpPr>
        <p:spPr>
          <a:xfrm>
            <a:off x="1466698" y="3121762"/>
            <a:ext cx="1199692" cy="1199692"/>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1640" y="3346704"/>
            <a:ext cx="749808" cy="749808"/>
          </a:xfrm>
          <a:prstGeom prst="rect">
            <a:avLst/>
          </a:prstGeom>
        </p:spPr>
      </p:pic>
      <p:sp>
        <p:nvSpPr>
          <p:cNvPr id="8" name="Text 5"/>
          <p:cNvSpPr/>
          <p:nvPr/>
        </p:nvSpPr>
        <p:spPr>
          <a:xfrm>
            <a:off x="1691640" y="4553712"/>
            <a:ext cx="7132320" cy="685800"/>
          </a:xfrm>
          <a:prstGeom prst="rect">
            <a:avLst/>
          </a:prstGeom>
          <a:noFill/>
          <a:ln/>
        </p:spPr>
        <p:txBody>
          <a:bodyPr wrap="square" lIns="25400" tIns="25400" rIns="25400" bIns="25400" rtlCol="0" anchor="t">
            <a:normAutofit/>
          </a:bodyPr>
          <a:lstStyle/>
          <a:p>
            <a:pPr marL="0" indent="0" algn="l">
              <a:buNone/>
            </a:pPr>
            <a:r>
              <a:rPr lang="en-US" sz="3200" b="1" dirty="0">
                <a:solidFill>
                  <a:srgbClr val="14304A"/>
                </a:solidFill>
                <a:latin typeface="Arial" pitchFamily="34" charset="0"/>
                <a:ea typeface="Arial" pitchFamily="34" charset="-122"/>
                <a:cs typeface="Arial" pitchFamily="34" charset="-120"/>
              </a:rPr>
              <a:t>Par processus ou par service</a:t>
            </a:r>
            <a:endParaRPr lang="en-US" sz="2100" dirty="0"/>
          </a:p>
        </p:txBody>
      </p:sp>
      <p:sp>
        <p:nvSpPr>
          <p:cNvPr id="9" name="Text 6"/>
          <p:cNvSpPr/>
          <p:nvPr/>
        </p:nvSpPr>
        <p:spPr>
          <a:xfrm>
            <a:off x="1691640" y="5376672"/>
            <a:ext cx="6949440" cy="1545335"/>
          </a:xfrm>
          <a:prstGeom prst="rect">
            <a:avLst/>
          </a:prstGeom>
          <a:noFill/>
          <a:ln/>
        </p:spPr>
        <p:txBody>
          <a:bodyPr wrap="square" lIns="25400" tIns="25400" rIns="25400" bIns="25400" rtlCol="0" anchor="t">
            <a:normAutofit/>
          </a:bodyPr>
          <a:lstStyle/>
          <a:p>
            <a:pPr marL="0" indent="0" algn="l">
              <a:lnSpc>
                <a:spcPct val="140000"/>
              </a:lnSpc>
              <a:buNone/>
            </a:pPr>
            <a:r>
              <a:rPr lang="en-US" sz="2000" dirty="0">
                <a:solidFill>
                  <a:srgbClr val="5B6B79"/>
                </a:solidFill>
                <a:latin typeface="Arial" pitchFamily="34" charset="0"/>
                <a:ea typeface="Arial" pitchFamily="34" charset="-122"/>
                <a:cs typeface="Arial" pitchFamily="34" charset="-120"/>
              </a:rPr>
              <a:t>On cible un besoin concret — pas une idée floue.</a:t>
            </a:r>
            <a:endParaRPr lang="en-US" sz="1875" dirty="0"/>
          </a:p>
        </p:txBody>
      </p:sp>
      <p:sp>
        <p:nvSpPr>
          <p:cNvPr id="10" name="Shape 7"/>
          <p:cNvSpPr/>
          <p:nvPr/>
        </p:nvSpPr>
        <p:spPr>
          <a:xfrm>
            <a:off x="9601200" y="2843784"/>
            <a:ext cx="7543800" cy="1362456"/>
          </a:xfrm>
          <a:prstGeom prst="roundRect">
            <a:avLst>
              <a:gd name="adj" fmla="val 6335"/>
            </a:avLst>
          </a:prstGeom>
          <a:solidFill>
            <a:srgbClr val="FFFFFF"/>
          </a:solidFill>
          <a:ln w="9525">
            <a:solidFill>
              <a:srgbClr val="D5DBDF"/>
            </a:solidFill>
            <a:prstDash val="solid"/>
          </a:ln>
        </p:spPr>
      </p:sp>
      <p:sp>
        <p:nvSpPr>
          <p:cNvPr id="26" name="Oval 25"/>
          <p:cNvSpPr/>
          <p:nvPr/>
        </p:nvSpPr>
        <p:spPr>
          <a:xfrm>
            <a:off x="9886493" y="3188513"/>
            <a:ext cx="672998" cy="672998"/>
          </a:xfrm>
          <a:prstGeom prst="ellipse">
            <a:avLst/>
          </a:prstGeom>
          <a:solidFill>
            <a:srgbClr val="14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12680" y="3314700"/>
            <a:ext cx="420624" cy="420624"/>
          </a:xfrm>
          <a:prstGeom prst="rect">
            <a:avLst/>
          </a:prstGeom>
        </p:spPr>
      </p:pic>
      <p:sp>
        <p:nvSpPr>
          <p:cNvPr id="12" name="Text 8"/>
          <p:cNvSpPr/>
          <p:nvPr/>
        </p:nvSpPr>
        <p:spPr>
          <a:xfrm>
            <a:off x="10799064" y="3063239"/>
            <a:ext cx="6071616" cy="457200"/>
          </a:xfrm>
          <a:prstGeom prst="rect">
            <a:avLst/>
          </a:prstGeom>
          <a:noFill/>
          <a:ln/>
        </p:spPr>
        <p:txBody>
          <a:bodyPr wrap="square" lIns="25400" tIns="25400" rIns="25400" bIns="25400" rtlCol="0" anchor="t">
            <a:normAutofit/>
          </a:bodyPr>
          <a:lstStyle/>
          <a:p>
            <a:pPr marL="0" indent="0" algn="l">
              <a:buNone/>
            </a:pPr>
            <a:r>
              <a:rPr lang="en-US" sz="1550" b="1" dirty="0">
                <a:solidFill>
                  <a:srgbClr val="14304A"/>
                </a:solidFill>
                <a:latin typeface="Arial" pitchFamily="34" charset="0"/>
                <a:ea typeface="Arial" pitchFamily="34" charset="-122"/>
                <a:cs typeface="Arial" pitchFamily="34" charset="-120"/>
              </a:rPr>
              <a:t>Accompagné d'une personne autorisée</a:t>
            </a:r>
            <a:endParaRPr lang="en-US" sz="2100" dirty="0"/>
          </a:p>
        </p:txBody>
      </p:sp>
      <p:sp>
        <p:nvSpPr>
          <p:cNvPr id="13" name="Text 9"/>
          <p:cNvSpPr/>
          <p:nvPr/>
        </p:nvSpPr>
        <p:spPr>
          <a:xfrm>
            <a:off x="10799064" y="3502151"/>
            <a:ext cx="6071616" cy="539496"/>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5B6B79"/>
                </a:solidFill>
                <a:latin typeface="Arial" pitchFamily="34" charset="0"/>
                <a:ea typeface="Arial" pitchFamily="34" charset="-122"/>
                <a:cs typeface="Arial" pitchFamily="34" charset="-120"/>
              </a:rPr>
              <a:t>À l'usage professionnel de l'IA au sein du laboratoire.</a:t>
            </a:r>
            <a:endParaRPr lang="en-US" sz="1875" dirty="0"/>
          </a:p>
        </p:txBody>
      </p:sp>
      <p:sp>
        <p:nvSpPr>
          <p:cNvPr id="14" name="Shape 10"/>
          <p:cNvSpPr/>
          <p:nvPr/>
        </p:nvSpPr>
        <p:spPr>
          <a:xfrm>
            <a:off x="9601200" y="4379976"/>
            <a:ext cx="7543800" cy="1362456"/>
          </a:xfrm>
          <a:prstGeom prst="roundRect">
            <a:avLst>
              <a:gd name="adj" fmla="val 6335"/>
            </a:avLst>
          </a:prstGeom>
          <a:solidFill>
            <a:srgbClr val="FFFFFF"/>
          </a:solidFill>
          <a:ln w="9525">
            <a:solidFill>
              <a:srgbClr val="D5DBDF"/>
            </a:solidFill>
            <a:prstDash val="solid"/>
          </a:ln>
        </p:spPr>
      </p:sp>
      <p:sp>
        <p:nvSpPr>
          <p:cNvPr id="28" name="Oval 27"/>
          <p:cNvSpPr/>
          <p:nvPr/>
        </p:nvSpPr>
        <p:spPr>
          <a:xfrm>
            <a:off x="9886493" y="4724705"/>
            <a:ext cx="672998" cy="672998"/>
          </a:xfrm>
          <a:prstGeom prst="ellipse">
            <a:avLst/>
          </a:prstGeom>
          <a:solidFill>
            <a:srgbClr val="14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12680" y="4850892"/>
            <a:ext cx="420624" cy="420624"/>
          </a:xfrm>
          <a:prstGeom prst="rect">
            <a:avLst/>
          </a:prstGeom>
        </p:spPr>
      </p:pic>
      <p:sp>
        <p:nvSpPr>
          <p:cNvPr id="16" name="Text 11"/>
          <p:cNvSpPr/>
          <p:nvPr/>
        </p:nvSpPr>
        <p:spPr>
          <a:xfrm>
            <a:off x="10799064" y="4599432"/>
            <a:ext cx="6071616" cy="457200"/>
          </a:xfrm>
          <a:prstGeom prst="rect">
            <a:avLst/>
          </a:prstGeom>
          <a:noFill/>
          <a:ln/>
        </p:spPr>
        <p:txBody>
          <a:bodyPr wrap="square" lIns="25400" tIns="25400" rIns="25400" bIns="25400" rtlCol="0" anchor="t">
            <a:normAutofit/>
          </a:bodyPr>
          <a:lstStyle/>
          <a:p>
            <a:pPr marL="0" indent="0" algn="l">
              <a:buNone/>
            </a:pPr>
            <a:r>
              <a:rPr lang="en-US" sz="1550" b="1" dirty="0">
                <a:solidFill>
                  <a:srgbClr val="14304A"/>
                </a:solidFill>
                <a:latin typeface="Arial" pitchFamily="34" charset="0"/>
                <a:ea typeface="Arial" pitchFamily="34" charset="-122"/>
                <a:cs typeface="Arial" pitchFamily="34" charset="-120"/>
              </a:rPr>
              <a:t>Objectif : résultats concrets et utiles</a:t>
            </a:r>
            <a:endParaRPr lang="en-US" sz="2100" dirty="0"/>
          </a:p>
        </p:txBody>
      </p:sp>
      <p:sp>
        <p:nvSpPr>
          <p:cNvPr id="17" name="Text 12"/>
          <p:cNvSpPr/>
          <p:nvPr/>
        </p:nvSpPr>
        <p:spPr>
          <a:xfrm>
            <a:off x="10799064" y="5038344"/>
            <a:ext cx="6071616" cy="539496"/>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5B6B79"/>
                </a:solidFill>
                <a:latin typeface="Arial" pitchFamily="34" charset="0"/>
                <a:ea typeface="Arial" pitchFamily="34" charset="-122"/>
                <a:cs typeface="Arial" pitchFamily="34" charset="-120"/>
              </a:rPr>
              <a:t>Pas un groupe de réflexion théorique.</a:t>
            </a:r>
            <a:endParaRPr lang="en-US" sz="1875" dirty="0"/>
          </a:p>
        </p:txBody>
      </p:sp>
      <p:sp>
        <p:nvSpPr>
          <p:cNvPr id="18" name="Shape 13"/>
          <p:cNvSpPr/>
          <p:nvPr/>
        </p:nvSpPr>
        <p:spPr>
          <a:xfrm>
            <a:off x="9601200" y="5916168"/>
            <a:ext cx="7543800" cy="1362456"/>
          </a:xfrm>
          <a:prstGeom prst="roundRect">
            <a:avLst>
              <a:gd name="adj" fmla="val 6335"/>
            </a:avLst>
          </a:prstGeom>
          <a:solidFill>
            <a:srgbClr val="14304A"/>
          </a:solidFill>
          <a:ln/>
        </p:spPr>
      </p:sp>
      <p:sp>
        <p:nvSpPr>
          <p:cNvPr id="27" name="Oval 26"/>
          <p:cNvSpPr/>
          <p:nvPr/>
        </p:nvSpPr>
        <p:spPr>
          <a:xfrm>
            <a:off x="9886493" y="6260896"/>
            <a:ext cx="672998" cy="672998"/>
          </a:xfrm>
          <a:prstGeom prst="ellipse">
            <a:avLst/>
          </a:prstGeom>
          <a:solidFill>
            <a:srgbClr val="C06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12680" y="6387083"/>
            <a:ext cx="420624" cy="420624"/>
          </a:xfrm>
          <a:prstGeom prst="rect">
            <a:avLst/>
          </a:prstGeom>
        </p:spPr>
      </p:pic>
      <p:sp>
        <p:nvSpPr>
          <p:cNvPr id="20" name="Text 14"/>
          <p:cNvSpPr/>
          <p:nvPr/>
        </p:nvSpPr>
        <p:spPr>
          <a:xfrm>
            <a:off x="10799064" y="6135624"/>
            <a:ext cx="6071616" cy="457200"/>
          </a:xfrm>
          <a:prstGeom prst="rect">
            <a:avLst/>
          </a:prstGeom>
          <a:noFill/>
          <a:ln/>
        </p:spPr>
        <p:txBody>
          <a:bodyPr wrap="square" lIns="25400" tIns="25400" rIns="25400" bIns="25400" rtlCol="0" anchor="t">
            <a:normAutofit/>
          </a:bodyPr>
          <a:lstStyle/>
          <a:p>
            <a:pPr marL="0" indent="0" algn="l">
              <a:buNone/>
            </a:pPr>
            <a:r>
              <a:rPr lang="en-US" sz="1550" b="1" dirty="0">
                <a:solidFill>
                  <a:srgbClr val="FFFFFF"/>
                </a:solidFill>
                <a:latin typeface="Arial" pitchFamily="34" charset="0"/>
                <a:ea typeface="Arial" pitchFamily="34" charset="-122"/>
                <a:cs typeface="Arial" pitchFamily="34" charset="-120"/>
              </a:rPr>
              <a:t>Votre regard est le point de départ</a:t>
            </a:r>
            <a:endParaRPr lang="en-US" sz="2100" dirty="0"/>
          </a:p>
        </p:txBody>
      </p:sp>
      <p:sp>
        <p:nvSpPr>
          <p:cNvPr id="21" name="Text 15"/>
          <p:cNvSpPr/>
          <p:nvPr/>
        </p:nvSpPr>
        <p:spPr>
          <a:xfrm>
            <a:off x="10799064" y="6574536"/>
            <a:ext cx="6071616" cy="539496"/>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C7D2DB"/>
                </a:solidFill>
                <a:latin typeface="Arial" pitchFamily="34" charset="0"/>
                <a:ea typeface="Arial" pitchFamily="34" charset="-122"/>
                <a:cs typeface="Arial" pitchFamily="34" charset="-120"/>
              </a:rPr>
              <a:t>Vous connaissez vos irritants mieux que personne.</a:t>
            </a:r>
            <a:endParaRPr lang="en-US" sz="1875" dirty="0"/>
          </a:p>
        </p:txBody>
      </p:sp>
      <p:sp>
        <p:nvSpPr>
          <p:cNvPr id="22" name="Shape 16"/>
          <p:cNvSpPr/>
          <p:nvPr/>
        </p:nvSpPr>
        <p:spPr>
          <a:xfrm>
            <a:off x="1143000" y="9020175"/>
            <a:ext cx="16002000" cy="9525"/>
          </a:xfrm>
          <a:prstGeom prst="rect">
            <a:avLst/>
          </a:prstGeom>
          <a:solidFill>
            <a:srgbClr val="D5DBDF"/>
          </a:solidFill>
          <a:ln/>
        </p:spPr>
      </p:sp>
      <p:pic>
        <p:nvPicPr>
          <p:cNvPr id="23" name="Image 4" descr="preencoded.png"/>
          <p:cNvPicPr>
            <a:picLocks noChangeAspect="1"/>
          </p:cNvPicPr>
          <p:nvPr/>
        </p:nvPicPr>
        <p:blipFill>
          <a:blip r:embed="rId11"/>
          <a:stretch>
            <a:fillRect/>
          </a:stretch>
        </p:blipFill>
        <p:spPr>
          <a:xfrm>
            <a:off x="1143000" y="9239250"/>
            <a:ext cx="393204" cy="590550"/>
          </a:xfrm>
          <a:prstGeom prst="rect">
            <a:avLst/>
          </a:prstGeom>
        </p:spPr>
      </p:pic>
      <p:sp>
        <p:nvSpPr>
          <p:cNvPr id="24" name="Text 17"/>
          <p:cNvSpPr/>
          <p:nvPr/>
        </p:nvSpPr>
        <p:spPr>
          <a:xfrm>
            <a:off x="16287601" y="9396413"/>
            <a:ext cx="93359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21 / 23</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143000" y="1038225"/>
            <a:ext cx="381000" cy="19050"/>
          </a:xfrm>
          <a:prstGeom prst="rect">
            <a:avLst/>
          </a:prstGeom>
          <a:solidFill>
            <a:srgbClr val="C0623F"/>
          </a:solidFill>
          <a:ln/>
        </p:spPr>
      </p:sp>
      <p:sp>
        <p:nvSpPr>
          <p:cNvPr id="3" name="Text 1"/>
          <p:cNvSpPr/>
          <p:nvPr/>
        </p:nvSpPr>
        <p:spPr>
          <a:xfrm>
            <a:off x="1676400" y="914400"/>
            <a:ext cx="3879294"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5B6B79"/>
                </a:solidFill>
                <a:latin typeface="Arial" pitchFamily="34" charset="0"/>
                <a:ea typeface="Arial" pitchFamily="34" charset="-122"/>
                <a:cs typeface="Arial" pitchFamily="34" charset="-120"/>
              </a:rPr>
              <a:t>SÉQUENCE 4 · CONTACT</a:t>
            </a:r>
            <a:endParaRPr lang="en-US" sz="1800" dirty="0"/>
          </a:p>
        </p:txBody>
      </p:sp>
      <p:sp>
        <p:nvSpPr>
          <p:cNvPr id="4" name="Text 2"/>
          <p:cNvSpPr/>
          <p:nvPr/>
        </p:nvSpPr>
        <p:spPr>
          <a:xfrm>
            <a:off x="1143000" y="1390650"/>
            <a:ext cx="17602200" cy="79087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2" dirty="0">
                <a:solidFill>
                  <a:srgbClr val="14304A"/>
                </a:solidFill>
                <a:latin typeface="Arial" pitchFamily="34" charset="0"/>
                <a:ea typeface="Arial" pitchFamily="34" charset="-122"/>
                <a:cs typeface="Arial" pitchFamily="34" charset="-120"/>
              </a:rPr>
              <a:t>Une idée ? Parlons-en.</a:t>
            </a:r>
            <a:endParaRPr lang="en-US" sz="5700" dirty="0"/>
          </a:p>
        </p:txBody>
      </p:sp>
      <p:sp>
        <p:nvSpPr>
          <p:cNvPr id="5" name="Text 3"/>
          <p:cNvSpPr/>
          <p:nvPr/>
        </p:nvSpPr>
        <p:spPr>
          <a:xfrm>
            <a:off x="1143000" y="2619673"/>
            <a:ext cx="12950190"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E2933"/>
                </a:solidFill>
                <a:latin typeface="Arial" pitchFamily="34" charset="0"/>
                <a:ea typeface="Arial" pitchFamily="34" charset="-122"/>
                <a:cs typeface="Arial" pitchFamily="34" charset="-120"/>
              </a:rPr>
              <a:t>Une tâche répétitive, un document pénible, une idée : </a:t>
            </a:r>
            <a:r>
              <a:rPr lang="en-US" sz="3000" b="1" dirty="0">
                <a:solidFill>
                  <a:srgbClr val="C0623F"/>
                </a:solidFill>
                <a:latin typeface="Arial" pitchFamily="34" charset="0"/>
                <a:ea typeface="Arial" pitchFamily="34" charset="-122"/>
                <a:cs typeface="Arial" pitchFamily="34" charset="-120"/>
              </a:rPr>
              <a:t>venez m'en parler.</a:t>
            </a:r>
            <a:endParaRPr lang="en-US" sz="3000" dirty="0"/>
          </a:p>
        </p:txBody>
      </p:sp>
      <p:sp>
        <p:nvSpPr>
          <p:cNvPr id="6" name="Shape 4"/>
          <p:cNvSpPr/>
          <p:nvPr/>
        </p:nvSpPr>
        <p:spPr>
          <a:xfrm>
            <a:off x="1143000" y="4124623"/>
            <a:ext cx="8982075" cy="2543175"/>
          </a:xfrm>
          <a:prstGeom prst="roundRect">
            <a:avLst>
              <a:gd name="adj" fmla="val 5993"/>
            </a:avLst>
          </a:prstGeom>
          <a:solidFill>
            <a:srgbClr val="14304A"/>
          </a:solidFill>
          <a:ln/>
        </p:spPr>
      </p:sp>
      <p:sp>
        <p:nvSpPr>
          <p:cNvPr id="7" name="Text 5"/>
          <p:cNvSpPr/>
          <p:nvPr/>
        </p:nvSpPr>
        <p:spPr>
          <a:xfrm>
            <a:off x="1600200" y="4581823"/>
            <a:ext cx="8874443"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225" dirty="0">
                <a:solidFill>
                  <a:srgbClr val="D7A24A"/>
                </a:solidFill>
                <a:latin typeface="Arial" pitchFamily="34" charset="0"/>
                <a:ea typeface="Arial" pitchFamily="34" charset="-122"/>
                <a:cs typeface="Arial" pitchFamily="34" charset="-120"/>
              </a:rPr>
              <a:t>RÉFÉRENT IA · COMMISSION IA</a:t>
            </a:r>
            <a:endParaRPr lang="en-US" sz="1800" dirty="0"/>
          </a:p>
        </p:txBody>
      </p:sp>
      <p:sp>
        <p:nvSpPr>
          <p:cNvPr id="8" name="Text 6"/>
          <p:cNvSpPr/>
          <p:nvPr/>
        </p:nvSpPr>
        <p:spPr>
          <a:xfrm>
            <a:off x="1600200" y="5058073"/>
            <a:ext cx="169515" cy="42862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FFFFFF"/>
                </a:solidFill>
                <a:latin typeface="Arial" pitchFamily="34" charset="0"/>
                <a:ea typeface="Arial" pitchFamily="34" charset="-122"/>
                <a:cs typeface="Arial" pitchFamily="34" charset="-120"/>
              </a:rPr>
              <a:t>·</a:t>
            </a:r>
            <a:endParaRPr lang="en-US" sz="2550" dirty="0"/>
          </a:p>
        </p:txBody>
      </p:sp>
      <p:sp>
        <p:nvSpPr>
          <p:cNvPr id="9" name="Text 7"/>
          <p:cNvSpPr/>
          <p:nvPr/>
        </p:nvSpPr>
        <p:spPr>
          <a:xfrm>
            <a:off x="1864965" y="5077123"/>
            <a:ext cx="3092991"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FFFFF"/>
                </a:solidFill>
                <a:latin typeface="Arial" pitchFamily="34" charset="0"/>
                <a:ea typeface="Arial" pitchFamily="34" charset="-122"/>
                <a:cs typeface="Arial" pitchFamily="34" charset="-120"/>
              </a:rPr>
              <a:t>Romain BARBACHE</a:t>
            </a:r>
            <a:endParaRPr lang="en-US" sz="2400" dirty="0"/>
          </a:p>
        </p:txBody>
      </p:sp>
      <p:sp>
        <p:nvSpPr>
          <p:cNvPr id="10" name="Text 8"/>
          <p:cNvSpPr/>
          <p:nvPr/>
        </p:nvSpPr>
        <p:spPr>
          <a:xfrm>
            <a:off x="1600200" y="5739110"/>
            <a:ext cx="169515" cy="42862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FFFFFF"/>
                </a:solidFill>
                <a:latin typeface="Arial" pitchFamily="34" charset="0"/>
                <a:ea typeface="Arial" pitchFamily="34" charset="-122"/>
                <a:cs typeface="Arial" pitchFamily="34" charset="-120"/>
              </a:rPr>
              <a:t>·</a:t>
            </a:r>
            <a:endParaRPr lang="en-US" sz="2550" dirty="0"/>
          </a:p>
        </p:txBody>
      </p:sp>
      <p:sp>
        <p:nvSpPr>
          <p:cNvPr id="11" name="Shape 9"/>
          <p:cNvSpPr/>
          <p:nvPr/>
        </p:nvSpPr>
        <p:spPr>
          <a:xfrm>
            <a:off x="1864965" y="5658148"/>
            <a:ext cx="2858393" cy="552450"/>
          </a:xfrm>
          <a:prstGeom prst="roundRect">
            <a:avLst>
              <a:gd name="adj" fmla="val 13793"/>
            </a:avLst>
          </a:prstGeom>
          <a:ln w="9525">
            <a:solidFill>
              <a:srgbClr val="C7D2DB">
                <a:alpha val="50000"/>
              </a:srgbClr>
            </a:solidFill>
            <a:prstDash val="dash"/>
          </a:ln>
        </p:spPr>
      </p:sp>
      <p:sp>
        <p:nvSpPr>
          <p:cNvPr id="12" name="Text 10"/>
          <p:cNvSpPr/>
          <p:nvPr/>
        </p:nvSpPr>
        <p:spPr>
          <a:xfrm>
            <a:off x="2084040" y="5762923"/>
            <a:ext cx="250599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C7D2DB"/>
                </a:solidFill>
                <a:latin typeface="Arial" pitchFamily="34" charset="0"/>
                <a:ea typeface="Arial" pitchFamily="34" charset="-122"/>
                <a:cs typeface="Arial" pitchFamily="34" charset="-120"/>
              </a:rPr>
              <a:t>[COORDONNÉES]</a:t>
            </a:r>
            <a:endParaRPr lang="en-US" sz="2250" dirty="0"/>
          </a:p>
        </p:txBody>
      </p:sp>
      <p:sp>
        <p:nvSpPr>
          <p:cNvPr id="13" name="Shape 11"/>
          <p:cNvSpPr/>
          <p:nvPr/>
        </p:nvSpPr>
        <p:spPr>
          <a:xfrm>
            <a:off x="10448925" y="4124623"/>
            <a:ext cx="6696075" cy="2543175"/>
          </a:xfrm>
          <a:prstGeom prst="roundRect">
            <a:avLst>
              <a:gd name="adj" fmla="val 5993"/>
            </a:avLst>
          </a:prstGeom>
          <a:solidFill>
            <a:srgbClr val="FFFFFF"/>
          </a:solidFill>
          <a:ln w="9525">
            <a:solidFill>
              <a:srgbClr val="D5DBDF"/>
            </a:solidFill>
            <a:prstDash val="solid"/>
          </a:ln>
        </p:spPr>
      </p:sp>
      <p:sp>
        <p:nvSpPr>
          <p:cNvPr id="14" name="Text 12"/>
          <p:cNvSpPr/>
          <p:nvPr/>
        </p:nvSpPr>
        <p:spPr>
          <a:xfrm>
            <a:off x="10915650" y="4591348"/>
            <a:ext cx="6338887"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225" dirty="0">
                <a:solidFill>
                  <a:srgbClr val="5B6B79"/>
                </a:solidFill>
                <a:latin typeface="Arial" pitchFamily="34" charset="0"/>
                <a:ea typeface="Arial" pitchFamily="34" charset="-122"/>
                <a:cs typeface="Arial" pitchFamily="34" charset="-120"/>
              </a:rPr>
              <a:t>CIRCUIT QUALITÉ </a:t>
            </a:r>
            <a:r>
              <a:rPr lang="en-US" sz="1800" kern="0" spc="225" dirty="0">
                <a:solidFill>
                  <a:srgbClr val="8A9097"/>
                </a:solidFill>
                <a:latin typeface="Arial" pitchFamily="34" charset="0"/>
                <a:ea typeface="Arial" pitchFamily="34" charset="-122"/>
                <a:cs typeface="Arial" pitchFamily="34" charset="-120"/>
              </a:rPr>
              <a:t>(OPTIONNEL)</a:t>
            </a:r>
            <a:endParaRPr lang="en-US" sz="1800" dirty="0"/>
          </a:p>
        </p:txBody>
      </p:sp>
      <p:sp>
        <p:nvSpPr>
          <p:cNvPr id="15" name="Shape 13"/>
          <p:cNvSpPr/>
          <p:nvPr/>
        </p:nvSpPr>
        <p:spPr>
          <a:xfrm>
            <a:off x="10915650" y="5077123"/>
            <a:ext cx="3349972" cy="552450"/>
          </a:xfrm>
          <a:prstGeom prst="roundRect">
            <a:avLst>
              <a:gd name="adj" fmla="val 13793"/>
            </a:avLst>
          </a:prstGeom>
          <a:ln w="9525">
            <a:solidFill>
              <a:srgbClr val="B7BEC4"/>
            </a:solidFill>
            <a:prstDash val="dash"/>
          </a:ln>
        </p:spPr>
      </p:sp>
      <p:sp>
        <p:nvSpPr>
          <p:cNvPr id="16" name="Text 14"/>
          <p:cNvSpPr/>
          <p:nvPr/>
        </p:nvSpPr>
        <p:spPr>
          <a:xfrm>
            <a:off x="11134725" y="5181898"/>
            <a:ext cx="301232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8A9097"/>
                </a:solidFill>
                <a:latin typeface="Arial" pitchFamily="34" charset="0"/>
                <a:ea typeface="Arial" pitchFamily="34" charset="-122"/>
                <a:cs typeface="Arial" pitchFamily="34" charset="-120"/>
              </a:rPr>
              <a:t>[CONTACT_QUALITE]</a:t>
            </a:r>
            <a:endParaRPr lang="en-US" sz="2250" dirty="0"/>
          </a:p>
        </p:txBody>
      </p:sp>
      <p:sp>
        <p:nvSpPr>
          <p:cNvPr id="17" name="Shape 15"/>
          <p:cNvSpPr/>
          <p:nvPr/>
        </p:nvSpPr>
        <p:spPr>
          <a:xfrm>
            <a:off x="1143000" y="9020175"/>
            <a:ext cx="16002000" cy="9525"/>
          </a:xfrm>
          <a:prstGeom prst="rect">
            <a:avLst/>
          </a:prstGeom>
          <a:solidFill>
            <a:srgbClr val="D5DBDF"/>
          </a:solidFill>
          <a:ln/>
        </p:spPr>
      </p:sp>
      <p:pic>
        <p:nvPicPr>
          <p:cNvPr id="18"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19" name="Text 16"/>
          <p:cNvSpPr/>
          <p:nvPr/>
        </p:nvSpPr>
        <p:spPr>
          <a:xfrm>
            <a:off x="16241167" y="9396413"/>
            <a:ext cx="980033"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A9097"/>
                </a:solidFill>
                <a:latin typeface="Arial" pitchFamily="34" charset="0"/>
                <a:ea typeface="Arial" pitchFamily="34" charset="-122"/>
                <a:cs typeface="Arial" pitchFamily="34" charset="-120"/>
              </a:rPr>
              <a:t>22 / 23</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304A"/>
        </a:solidFill>
        <a:effectLst/>
      </p:bgPr>
    </p:bg>
    <p:spTree>
      <p:nvGrpSpPr>
        <p:cNvPr id="1" name=""/>
        <p:cNvGrpSpPr/>
        <p:nvPr/>
      </p:nvGrpSpPr>
      <p:grpSpPr>
        <a:xfrm>
          <a:off x="0" y="0"/>
          <a:ext cx="0" cy="0"/>
          <a:chOff x="0" y="0"/>
          <a:chExt cx="0" cy="0"/>
        </a:xfrm>
      </p:grpSpPr>
      <p:sp>
        <p:nvSpPr>
          <p:cNvPr id="2" name="Shape 0"/>
          <p:cNvSpPr/>
          <p:nvPr/>
        </p:nvSpPr>
        <p:spPr>
          <a:xfrm>
            <a:off x="1143000" y="3422303"/>
            <a:ext cx="438150" cy="19050"/>
          </a:xfrm>
          <a:prstGeom prst="rect">
            <a:avLst/>
          </a:prstGeom>
          <a:solidFill>
            <a:srgbClr val="D7A24A"/>
          </a:solidFill>
          <a:ln/>
        </p:spPr>
      </p:sp>
      <p:sp>
        <p:nvSpPr>
          <p:cNvPr id="3" name="Text 1"/>
          <p:cNvSpPr/>
          <p:nvPr/>
        </p:nvSpPr>
        <p:spPr>
          <a:xfrm>
            <a:off x="1733550" y="3298478"/>
            <a:ext cx="1536918"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D7A24A"/>
                </a:solidFill>
                <a:latin typeface="Arial" pitchFamily="34" charset="0"/>
                <a:ea typeface="Arial" pitchFamily="34" charset="-122"/>
                <a:cs typeface="Arial" pitchFamily="34" charset="-120"/>
              </a:rPr>
              <a:t>ÉCHANGE</a:t>
            </a:r>
            <a:endParaRPr lang="en-US" sz="1800" dirty="0"/>
          </a:p>
        </p:txBody>
      </p:sp>
      <p:sp>
        <p:nvSpPr>
          <p:cNvPr id="4" name="Text 2"/>
          <p:cNvSpPr/>
          <p:nvPr/>
        </p:nvSpPr>
        <p:spPr>
          <a:xfrm>
            <a:off x="1143000" y="3965228"/>
            <a:ext cx="8271004" cy="12954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9900" b="1" kern="0" spc="-187" dirty="0">
                <a:solidFill>
                  <a:srgbClr val="FFFFFF"/>
                </a:solidFill>
                <a:latin typeface="Arial" pitchFamily="34" charset="0"/>
                <a:ea typeface="Arial" pitchFamily="34" charset="-122"/>
                <a:cs typeface="Arial" pitchFamily="34" charset="-120"/>
              </a:rPr>
              <a:t>Vos questions</a:t>
            </a:r>
            <a:endParaRPr lang="en-US" sz="9900" dirty="0"/>
          </a:p>
        </p:txBody>
      </p:sp>
      <p:sp>
        <p:nvSpPr>
          <p:cNvPr id="5" name="Text 3"/>
          <p:cNvSpPr/>
          <p:nvPr/>
        </p:nvSpPr>
        <p:spPr>
          <a:xfrm>
            <a:off x="1143000" y="5622578"/>
            <a:ext cx="12159139"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dirty="0">
                <a:solidFill>
                  <a:srgbClr val="C7D2DB"/>
                </a:solidFill>
                <a:latin typeface="Arial" pitchFamily="34" charset="0"/>
                <a:ea typeface="Arial" pitchFamily="34" charset="-122"/>
                <a:cs typeface="Arial" pitchFamily="34" charset="-120"/>
              </a:rPr>
              <a:t>Qu'est-ce qui vous prend le plus de temps aujourd'hui ?</a:t>
            </a:r>
            <a:endParaRPr lang="en-US" sz="3300" dirty="0"/>
          </a:p>
        </p:txBody>
      </p:sp>
      <p:sp>
        <p:nvSpPr>
          <p:cNvPr id="6" name="Text 4"/>
          <p:cNvSpPr/>
          <p:nvPr/>
        </p:nvSpPr>
        <p:spPr>
          <a:xfrm>
            <a:off x="1143000" y="6645473"/>
            <a:ext cx="362701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8FA2B2"/>
                </a:solidFill>
                <a:latin typeface="Arial" pitchFamily="34" charset="0"/>
                <a:ea typeface="Arial" pitchFamily="34" charset="-122"/>
                <a:cs typeface="Arial" pitchFamily="34" charset="-120"/>
              </a:rPr>
              <a:t>Merci de votre attention.</a:t>
            </a:r>
            <a:endParaRPr lang="en-US" sz="2250" dirty="0"/>
          </a:p>
        </p:txBody>
      </p:sp>
      <p:sp>
        <p:nvSpPr>
          <p:cNvPr id="7" name="Shape 5"/>
          <p:cNvSpPr/>
          <p:nvPr/>
        </p:nvSpPr>
        <p:spPr>
          <a:xfrm>
            <a:off x="1143000" y="9020175"/>
            <a:ext cx="16002000" cy="9525"/>
          </a:xfrm>
          <a:prstGeom prst="rect">
            <a:avLst/>
          </a:prstGeom>
          <a:solidFill>
            <a:srgbClr val="F7F2EA">
              <a:alpha val="22000"/>
            </a:srgbClr>
          </a:solidFill>
          <a:ln/>
        </p:spPr>
      </p:sp>
      <p:pic>
        <p:nvPicPr>
          <p:cNvPr id="8" name="Image 0" descr="preencoded.png"/>
          <p:cNvPicPr>
            <a:picLocks noChangeAspect="1"/>
          </p:cNvPicPr>
          <p:nvPr/>
        </p:nvPicPr>
        <p:blipFill>
          <a:blip r:embed="rId3"/>
          <a:stretch>
            <a:fillRect/>
          </a:stretch>
        </p:blipFill>
        <p:spPr>
          <a:xfrm>
            <a:off x="1143000" y="9239250"/>
            <a:ext cx="393204" cy="590550"/>
          </a:xfrm>
          <a:prstGeom prst="rect">
            <a:avLst/>
          </a:prstGeom>
        </p:spPr>
      </p:pic>
      <p:sp>
        <p:nvSpPr>
          <p:cNvPr id="9" name="Text 6"/>
          <p:cNvSpPr/>
          <p:nvPr/>
        </p:nvSpPr>
        <p:spPr>
          <a:xfrm>
            <a:off x="16239381" y="9396413"/>
            <a:ext cx="981819" cy="314325"/>
          </a:xfrm>
          <a:prstGeom prst="rect">
            <a:avLst/>
          </a:prstGeom>
          <a:noFill/>
          <a:ln/>
        </p:spPr>
        <p:txBody>
          <a:bodyPr wrap="square" lIns="25400" tIns="25400" rIns="25400" bIns="25400" rtlCol="0" anchor="t">
            <a:normAutofit lnSpcReduction="10000"/>
          </a:bodyPr>
          <a:lstStyle/>
          <a:p>
            <a:pPr marL="0" indent="0" algn="l">
              <a:buNone/>
            </a:pPr>
            <a:r>
              <a:rPr lang="en-US" sz="1800" kern="0" spc="150" dirty="0">
                <a:solidFill>
                  <a:srgbClr val="8FA2B2"/>
                </a:solidFill>
                <a:latin typeface="Arial" pitchFamily="34" charset="0"/>
                <a:ea typeface="Arial" pitchFamily="34" charset="-122"/>
                <a:cs typeface="Arial" pitchFamily="34" charset="-120"/>
              </a:rPr>
              <a:t>23 / 23</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2246</Words>
  <Application>Microsoft Office PowerPoint</Application>
  <PresentationFormat>Personnalisé</PresentationFormat>
  <Paragraphs>288</Paragraphs>
  <Slides>23</Slides>
  <Notes>23</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23</vt:i4>
      </vt:variant>
    </vt:vector>
  </HeadingPairs>
  <TitlesOfParts>
    <vt:vector size="25" baseType="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Romain BARBACHE</cp:lastModifiedBy>
  <cp:revision>2</cp:revision>
  <dcterms:created xsi:type="dcterms:W3CDTF">2026-06-19T07:43:31Z</dcterms:created>
  <dcterms:modified xsi:type="dcterms:W3CDTF">2026-06-19T07:45:09Z</dcterms:modified>
</cp:coreProperties>
</file>